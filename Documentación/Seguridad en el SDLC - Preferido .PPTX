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Lst>
  <p:notesMasterIdLst>
    <p:notesMasterId r:id="rId35"/>
  </p:notesMasterIdLst>
  <p:sldIdLst>
    <p:sldId id="256" r:id="rId2"/>
    <p:sldId id="257" r:id="rId3"/>
    <p:sldId id="258" r:id="rId4"/>
    <p:sldId id="276" r:id="rId5"/>
    <p:sldId id="259" r:id="rId6"/>
    <p:sldId id="260" r:id="rId7"/>
    <p:sldId id="261" r:id="rId8"/>
    <p:sldId id="263" r:id="rId9"/>
    <p:sldId id="262"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61556" autoAdjust="0"/>
  </p:normalViewPr>
  <p:slideViewPr>
    <p:cSldViewPr>
      <p:cViewPr varScale="1">
        <p:scale>
          <a:sx n="90" d="100"/>
          <a:sy n="90" d="100"/>
        </p:scale>
        <p:origin x="1002"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F840737-0505-4806-8AAC-546240287DE1}" type="doc">
      <dgm:prSet loTypeId="urn:microsoft.com/office/officeart/2005/8/layout/hierarchy3" loCatId="list" qsTypeId="urn:microsoft.com/office/officeart/2005/8/quickstyle/simple1" qsCatId="simple" csTypeId="urn:microsoft.com/office/officeart/2005/8/colors/accent2_5" csCatId="accent2" phldr="1"/>
      <dgm:spPr/>
      <dgm:t>
        <a:bodyPr/>
        <a:lstStyle/>
        <a:p>
          <a:endParaRPr lang="en-US"/>
        </a:p>
      </dgm:t>
    </dgm:pt>
    <dgm:pt modelId="{061A8CE3-8C57-49C1-85D2-880A969FBF7A}">
      <dgm:prSet phldrT="[Text]"/>
      <dgm:spPr/>
      <dgm:t>
        <a:bodyPr/>
        <a:lstStyle/>
        <a:p>
          <a:r>
            <a:rPr lang="en-US" dirty="0"/>
            <a:t>Every Sprint</a:t>
          </a:r>
        </a:p>
      </dgm:t>
    </dgm:pt>
    <dgm:pt modelId="{93C9F4FB-BCCF-4BBB-9886-3E6CB95BF2D9}" type="parTrans" cxnId="{5F2FABF4-1FAA-43B6-BAF9-3C6F5E64D22E}">
      <dgm:prSet/>
      <dgm:spPr/>
      <dgm:t>
        <a:bodyPr/>
        <a:lstStyle/>
        <a:p>
          <a:endParaRPr lang="en-US"/>
        </a:p>
      </dgm:t>
    </dgm:pt>
    <dgm:pt modelId="{99A57495-56B8-4DA0-8F20-C12AAEBACA2E}" type="sibTrans" cxnId="{5F2FABF4-1FAA-43B6-BAF9-3C6F5E64D22E}">
      <dgm:prSet/>
      <dgm:spPr/>
      <dgm:t>
        <a:bodyPr/>
        <a:lstStyle/>
        <a:p>
          <a:endParaRPr lang="en-US"/>
        </a:p>
      </dgm:t>
    </dgm:pt>
    <dgm:pt modelId="{AFA0E914-93F2-40BD-94B6-E37A3026E1C2}">
      <dgm:prSet phldrT="[Text]"/>
      <dgm:spPr/>
      <dgm:t>
        <a:bodyPr/>
        <a:lstStyle/>
        <a:p>
          <a:r>
            <a:rPr lang="en-US" dirty="0"/>
            <a:t>One-Time Only</a:t>
          </a:r>
        </a:p>
      </dgm:t>
    </dgm:pt>
    <dgm:pt modelId="{1010DE01-0D8F-4BCE-9924-4B058C1B0844}" type="parTrans" cxnId="{F7890E7C-3315-4AE9-B2BE-E03BF0E0E3DB}">
      <dgm:prSet/>
      <dgm:spPr/>
      <dgm:t>
        <a:bodyPr/>
        <a:lstStyle/>
        <a:p>
          <a:endParaRPr lang="en-US"/>
        </a:p>
      </dgm:t>
    </dgm:pt>
    <dgm:pt modelId="{9CD60508-B6D9-442B-B7D1-2E11048AC7EB}" type="sibTrans" cxnId="{F7890E7C-3315-4AE9-B2BE-E03BF0E0E3DB}">
      <dgm:prSet/>
      <dgm:spPr/>
      <dgm:t>
        <a:bodyPr/>
        <a:lstStyle/>
        <a:p>
          <a:endParaRPr lang="en-US"/>
        </a:p>
      </dgm:t>
    </dgm:pt>
    <dgm:pt modelId="{4357EBFD-51C6-49A0-A4B4-EAB45B73D9E8}">
      <dgm:prSet phldrT="[Text]"/>
      <dgm:spPr/>
      <dgm:t>
        <a:bodyPr/>
        <a:lstStyle/>
        <a:p>
          <a:r>
            <a:rPr lang="en-US" dirty="0"/>
            <a:t>Bucket</a:t>
          </a:r>
        </a:p>
      </dgm:t>
    </dgm:pt>
    <dgm:pt modelId="{EFB5D32D-444A-4AE6-B0A7-3A1D40F34BE2}" type="parTrans" cxnId="{FB6CFF06-7F85-484F-838B-760C49357C10}">
      <dgm:prSet/>
      <dgm:spPr/>
      <dgm:t>
        <a:bodyPr/>
        <a:lstStyle/>
        <a:p>
          <a:endParaRPr lang="en-US"/>
        </a:p>
      </dgm:t>
    </dgm:pt>
    <dgm:pt modelId="{B4C6A2E7-6A12-405D-A6EE-2FB5F31F8899}" type="sibTrans" cxnId="{FB6CFF06-7F85-484F-838B-760C49357C10}">
      <dgm:prSet/>
      <dgm:spPr/>
      <dgm:t>
        <a:bodyPr/>
        <a:lstStyle/>
        <a:p>
          <a:endParaRPr lang="en-US"/>
        </a:p>
      </dgm:t>
    </dgm:pt>
    <dgm:pt modelId="{51F4DFBF-DC93-4BBD-9753-A4AE7A75EE58}">
      <dgm:prSet phldrT="[Text]"/>
      <dgm:spPr/>
      <dgm:t>
        <a:bodyPr/>
        <a:lstStyle/>
        <a:p>
          <a:r>
            <a:rPr lang="en-US" dirty="0"/>
            <a:t>Training</a:t>
          </a:r>
        </a:p>
      </dgm:t>
    </dgm:pt>
    <dgm:pt modelId="{73D54843-9206-4E2B-B85D-B2BA6EE22657}" type="parTrans" cxnId="{4896D8B8-A2B0-4ABB-9079-0F7B390E4764}">
      <dgm:prSet/>
      <dgm:spPr/>
      <dgm:t>
        <a:bodyPr/>
        <a:lstStyle/>
        <a:p>
          <a:endParaRPr lang="en-US"/>
        </a:p>
      </dgm:t>
    </dgm:pt>
    <dgm:pt modelId="{E6CB42EA-5B14-4799-88BE-B0623262438C}" type="sibTrans" cxnId="{4896D8B8-A2B0-4ABB-9079-0F7B390E4764}">
      <dgm:prSet/>
      <dgm:spPr/>
      <dgm:t>
        <a:bodyPr/>
        <a:lstStyle/>
        <a:p>
          <a:endParaRPr lang="en-US"/>
        </a:p>
      </dgm:t>
    </dgm:pt>
    <dgm:pt modelId="{72FA5FFD-F3A3-427A-BBB3-65BDC0482550}">
      <dgm:prSet phldrT="[Text]"/>
      <dgm:spPr/>
      <dgm:t>
        <a:bodyPr/>
        <a:lstStyle/>
        <a:p>
          <a:r>
            <a:rPr lang="en-US" dirty="0"/>
            <a:t>Threat modeling</a:t>
          </a:r>
        </a:p>
      </dgm:t>
    </dgm:pt>
    <dgm:pt modelId="{99F6162A-D8C7-45BA-A181-01E03850B79B}" type="parTrans" cxnId="{5477081D-EE41-4B79-8649-CE727D1A5ED3}">
      <dgm:prSet/>
      <dgm:spPr/>
      <dgm:t>
        <a:bodyPr/>
        <a:lstStyle/>
        <a:p>
          <a:endParaRPr lang="en-US"/>
        </a:p>
      </dgm:t>
    </dgm:pt>
    <dgm:pt modelId="{CE8A2834-73AE-46F1-9305-A34EAB55CBB9}" type="sibTrans" cxnId="{5477081D-EE41-4B79-8649-CE727D1A5ED3}">
      <dgm:prSet/>
      <dgm:spPr/>
      <dgm:t>
        <a:bodyPr/>
        <a:lstStyle/>
        <a:p>
          <a:endParaRPr lang="en-US"/>
        </a:p>
      </dgm:t>
    </dgm:pt>
    <dgm:pt modelId="{691243CE-866E-49E2-B073-CADCBE06246E}">
      <dgm:prSet phldrT="[Text]"/>
      <dgm:spPr/>
      <dgm:t>
        <a:bodyPr/>
        <a:lstStyle/>
        <a:p>
          <a:r>
            <a:rPr lang="en-US" dirty="0"/>
            <a:t>etc...</a:t>
          </a:r>
        </a:p>
      </dgm:t>
    </dgm:pt>
    <dgm:pt modelId="{56F4DF1B-1F68-4919-8212-AEFDE61470C1}" type="parTrans" cxnId="{E9DF50E9-F5B3-4557-A958-5EBD2244E65A}">
      <dgm:prSet/>
      <dgm:spPr/>
      <dgm:t>
        <a:bodyPr/>
        <a:lstStyle/>
        <a:p>
          <a:endParaRPr lang="en-US"/>
        </a:p>
      </dgm:t>
    </dgm:pt>
    <dgm:pt modelId="{801A3B04-A4A4-4AAA-A55E-A752E4CDA4E5}" type="sibTrans" cxnId="{E9DF50E9-F5B3-4557-A958-5EBD2244E65A}">
      <dgm:prSet/>
      <dgm:spPr/>
      <dgm:t>
        <a:bodyPr/>
        <a:lstStyle/>
        <a:p>
          <a:endParaRPr lang="en-US"/>
        </a:p>
      </dgm:t>
    </dgm:pt>
    <dgm:pt modelId="{1E4A352F-A6D1-4B4C-A60E-30B4EEC6CC0E}">
      <dgm:prSet phldrT="[Text]"/>
      <dgm:spPr/>
      <dgm:t>
        <a:bodyPr/>
        <a:lstStyle/>
        <a:p>
          <a:r>
            <a:rPr lang="en-US" dirty="0"/>
            <a:t>Set up tracking</a:t>
          </a:r>
        </a:p>
      </dgm:t>
    </dgm:pt>
    <dgm:pt modelId="{6F6C1D53-2AAE-4751-A488-D5CA02EE74F9}" type="parTrans" cxnId="{1A971E75-FCC0-4FC2-8CC2-0FED81F159B2}">
      <dgm:prSet/>
      <dgm:spPr/>
      <dgm:t>
        <a:bodyPr/>
        <a:lstStyle/>
        <a:p>
          <a:endParaRPr lang="en-US"/>
        </a:p>
      </dgm:t>
    </dgm:pt>
    <dgm:pt modelId="{95E4D81A-24AD-438B-A16C-8C6E3915CA13}" type="sibTrans" cxnId="{1A971E75-FCC0-4FC2-8CC2-0FED81F159B2}">
      <dgm:prSet/>
      <dgm:spPr/>
      <dgm:t>
        <a:bodyPr/>
        <a:lstStyle/>
        <a:p>
          <a:endParaRPr lang="en-US"/>
        </a:p>
      </dgm:t>
    </dgm:pt>
    <dgm:pt modelId="{E07EA14D-C8E6-4A63-B1B3-AA64E964E8CF}">
      <dgm:prSet phldrT="[Text]"/>
      <dgm:spPr/>
      <dgm:t>
        <a:bodyPr/>
        <a:lstStyle/>
        <a:p>
          <a:r>
            <a:rPr lang="en-US" dirty="0"/>
            <a:t>Upgrade compilers</a:t>
          </a:r>
        </a:p>
      </dgm:t>
    </dgm:pt>
    <dgm:pt modelId="{C7944045-D5C6-4673-B5F7-22D3C7700E3B}" type="parTrans" cxnId="{BCADCFFC-0E7F-4783-8DC5-4D1591302A97}">
      <dgm:prSet/>
      <dgm:spPr/>
      <dgm:t>
        <a:bodyPr/>
        <a:lstStyle/>
        <a:p>
          <a:endParaRPr lang="en-US"/>
        </a:p>
      </dgm:t>
    </dgm:pt>
    <dgm:pt modelId="{7E573C7D-56FD-4891-A897-138DA0E8FD8B}" type="sibTrans" cxnId="{BCADCFFC-0E7F-4783-8DC5-4D1591302A97}">
      <dgm:prSet/>
      <dgm:spPr/>
      <dgm:t>
        <a:bodyPr/>
        <a:lstStyle/>
        <a:p>
          <a:endParaRPr lang="en-US"/>
        </a:p>
      </dgm:t>
    </dgm:pt>
    <dgm:pt modelId="{2AFC048C-EE2E-4A19-8A18-CF81EE6E9655}">
      <dgm:prSet phldrT="[Text]"/>
      <dgm:spPr/>
      <dgm:t>
        <a:bodyPr/>
        <a:lstStyle/>
        <a:p>
          <a:r>
            <a:rPr lang="en-US" dirty="0"/>
            <a:t>etc...</a:t>
          </a:r>
        </a:p>
      </dgm:t>
    </dgm:pt>
    <dgm:pt modelId="{FD79C250-14C6-42BE-9F89-32A8A99001C9}" type="parTrans" cxnId="{2F5C9391-8656-4E8D-BF7D-980745FD5DB2}">
      <dgm:prSet/>
      <dgm:spPr/>
      <dgm:t>
        <a:bodyPr/>
        <a:lstStyle/>
        <a:p>
          <a:endParaRPr lang="en-US"/>
        </a:p>
      </dgm:t>
    </dgm:pt>
    <dgm:pt modelId="{B3985F97-D966-4822-BF5C-BC219040A6EE}" type="sibTrans" cxnId="{2F5C9391-8656-4E8D-BF7D-980745FD5DB2}">
      <dgm:prSet/>
      <dgm:spPr/>
      <dgm:t>
        <a:bodyPr/>
        <a:lstStyle/>
        <a:p>
          <a:endParaRPr lang="en-US"/>
        </a:p>
      </dgm:t>
    </dgm:pt>
    <dgm:pt modelId="{459C3555-D189-4B80-AF7E-462F8E69C2F9}">
      <dgm:prSet phldrT="[Text]"/>
      <dgm:spPr/>
      <dgm:t>
        <a:bodyPr/>
        <a:lstStyle/>
        <a:p>
          <a:r>
            <a:rPr lang="en-US" dirty="0"/>
            <a:t>Fuzz parsers</a:t>
          </a:r>
        </a:p>
      </dgm:t>
    </dgm:pt>
    <dgm:pt modelId="{2DC77D30-0A36-4D70-BB28-3A074488F244}" type="parTrans" cxnId="{09854A30-BF3F-4653-AAC3-5EB963313880}">
      <dgm:prSet/>
      <dgm:spPr/>
      <dgm:t>
        <a:bodyPr/>
        <a:lstStyle/>
        <a:p>
          <a:endParaRPr lang="es-ES"/>
        </a:p>
      </dgm:t>
    </dgm:pt>
    <dgm:pt modelId="{829E9A36-CF02-4F19-BD6A-73BB91585391}" type="sibTrans" cxnId="{09854A30-BF3F-4653-AAC3-5EB963313880}">
      <dgm:prSet/>
      <dgm:spPr/>
      <dgm:t>
        <a:bodyPr/>
        <a:lstStyle/>
        <a:p>
          <a:endParaRPr lang="es-ES"/>
        </a:p>
      </dgm:t>
    </dgm:pt>
    <dgm:pt modelId="{601E74E2-9C6A-4F26-846A-04A4A2A79B93}">
      <dgm:prSet phldrT="[Text]"/>
      <dgm:spPr/>
      <dgm:t>
        <a:bodyPr/>
        <a:lstStyle/>
        <a:p>
          <a:r>
            <a:rPr lang="en-US" dirty="0"/>
            <a:t>Create response plan</a:t>
          </a:r>
        </a:p>
      </dgm:t>
    </dgm:pt>
    <dgm:pt modelId="{B5C7193E-7289-4809-8763-A9E88B9AC604}" type="parTrans" cxnId="{084D4842-0C27-494B-9036-24A840686ABA}">
      <dgm:prSet/>
      <dgm:spPr/>
      <dgm:t>
        <a:bodyPr/>
        <a:lstStyle/>
        <a:p>
          <a:endParaRPr lang="es-ES"/>
        </a:p>
      </dgm:t>
    </dgm:pt>
    <dgm:pt modelId="{29ED3A1B-7EBB-42B6-9565-C745B4A3434A}" type="sibTrans" cxnId="{084D4842-0C27-494B-9036-24A840686ABA}">
      <dgm:prSet/>
      <dgm:spPr/>
      <dgm:t>
        <a:bodyPr/>
        <a:lstStyle/>
        <a:p>
          <a:endParaRPr lang="es-ES"/>
        </a:p>
      </dgm:t>
    </dgm:pt>
    <dgm:pt modelId="{057C5B73-251D-49CC-82D7-675239EC09C7}">
      <dgm:prSet phldrT="[Text]"/>
      <dgm:spPr/>
      <dgm:t>
        <a:bodyPr/>
        <a:lstStyle/>
        <a:p>
          <a:r>
            <a:rPr lang="en-US" dirty="0"/>
            <a:t>etc…</a:t>
          </a:r>
        </a:p>
      </dgm:t>
    </dgm:pt>
    <dgm:pt modelId="{861447AF-5ED8-4359-8953-6C36A1AC8267}" type="parTrans" cxnId="{50AE147C-DE33-49F5-A945-1C5137C8EC1D}">
      <dgm:prSet/>
      <dgm:spPr/>
      <dgm:t>
        <a:bodyPr/>
        <a:lstStyle/>
        <a:p>
          <a:endParaRPr lang="es-ES"/>
        </a:p>
      </dgm:t>
    </dgm:pt>
    <dgm:pt modelId="{6AA56883-F7E9-4B9D-A79E-6CFEDF10ED51}" type="sibTrans" cxnId="{50AE147C-DE33-49F5-A945-1C5137C8EC1D}">
      <dgm:prSet/>
      <dgm:spPr/>
      <dgm:t>
        <a:bodyPr/>
        <a:lstStyle/>
        <a:p>
          <a:endParaRPr lang="es-ES"/>
        </a:p>
      </dgm:t>
    </dgm:pt>
    <dgm:pt modelId="{14CCA7DB-4E3C-402D-A002-3F3AB65A1D84}" type="pres">
      <dgm:prSet presAssocID="{8F840737-0505-4806-8AAC-546240287DE1}" presName="diagram" presStyleCnt="0">
        <dgm:presLayoutVars>
          <dgm:chPref val="1"/>
          <dgm:dir/>
          <dgm:animOne val="branch"/>
          <dgm:animLvl val="lvl"/>
          <dgm:resizeHandles/>
        </dgm:presLayoutVars>
      </dgm:prSet>
      <dgm:spPr/>
    </dgm:pt>
    <dgm:pt modelId="{094C2EDD-E7D9-4E12-A690-CFD4E554A473}" type="pres">
      <dgm:prSet presAssocID="{061A8CE3-8C57-49C1-85D2-880A969FBF7A}" presName="root" presStyleCnt="0"/>
      <dgm:spPr/>
    </dgm:pt>
    <dgm:pt modelId="{BEF9EC61-16AA-4531-856B-C062F4AECA9D}" type="pres">
      <dgm:prSet presAssocID="{061A8CE3-8C57-49C1-85D2-880A969FBF7A}" presName="rootComposite" presStyleCnt="0"/>
      <dgm:spPr/>
    </dgm:pt>
    <dgm:pt modelId="{35BFDC8D-9BEB-4D81-90AD-749C81A26DBD}" type="pres">
      <dgm:prSet presAssocID="{061A8CE3-8C57-49C1-85D2-880A969FBF7A}" presName="rootText" presStyleLbl="node1" presStyleIdx="0" presStyleCnt="3"/>
      <dgm:spPr/>
    </dgm:pt>
    <dgm:pt modelId="{0489D118-11A1-48B3-A203-0FEAD31F4852}" type="pres">
      <dgm:prSet presAssocID="{061A8CE3-8C57-49C1-85D2-880A969FBF7A}" presName="rootConnector" presStyleLbl="node1" presStyleIdx="0" presStyleCnt="3"/>
      <dgm:spPr/>
    </dgm:pt>
    <dgm:pt modelId="{ED4B9254-5A8C-48C4-ABD6-6B59AEEADC01}" type="pres">
      <dgm:prSet presAssocID="{061A8CE3-8C57-49C1-85D2-880A969FBF7A}" presName="childShape" presStyleCnt="0"/>
      <dgm:spPr/>
    </dgm:pt>
    <dgm:pt modelId="{559A6EC9-B87F-4AA6-8483-170CC6DD64FF}" type="pres">
      <dgm:prSet presAssocID="{73D54843-9206-4E2B-B85D-B2BA6EE22657}" presName="Name13" presStyleLbl="parChTrans1D2" presStyleIdx="0" presStyleCnt="9"/>
      <dgm:spPr/>
    </dgm:pt>
    <dgm:pt modelId="{3DB770CD-5B82-4C97-B910-E5F591991DAE}" type="pres">
      <dgm:prSet presAssocID="{51F4DFBF-DC93-4BBD-9753-A4AE7A75EE58}" presName="childText" presStyleLbl="bgAcc1" presStyleIdx="0" presStyleCnt="9">
        <dgm:presLayoutVars>
          <dgm:bulletEnabled val="1"/>
        </dgm:presLayoutVars>
      </dgm:prSet>
      <dgm:spPr/>
    </dgm:pt>
    <dgm:pt modelId="{B2671BC8-1BC3-4072-813E-9B6EE29E0C40}" type="pres">
      <dgm:prSet presAssocID="{99F6162A-D8C7-45BA-A181-01E03850B79B}" presName="Name13" presStyleLbl="parChTrans1D2" presStyleIdx="1" presStyleCnt="9"/>
      <dgm:spPr/>
    </dgm:pt>
    <dgm:pt modelId="{A65B65D9-F678-41C3-B56B-17BBAACE412E}" type="pres">
      <dgm:prSet presAssocID="{72FA5FFD-F3A3-427A-BBB3-65BDC0482550}" presName="childText" presStyleLbl="bgAcc1" presStyleIdx="1" presStyleCnt="9">
        <dgm:presLayoutVars>
          <dgm:bulletEnabled val="1"/>
        </dgm:presLayoutVars>
      </dgm:prSet>
      <dgm:spPr/>
    </dgm:pt>
    <dgm:pt modelId="{092C365C-805C-4A50-AAFB-575053D5127C}" type="pres">
      <dgm:prSet presAssocID="{56F4DF1B-1F68-4919-8212-AEFDE61470C1}" presName="Name13" presStyleLbl="parChTrans1D2" presStyleIdx="2" presStyleCnt="9"/>
      <dgm:spPr/>
    </dgm:pt>
    <dgm:pt modelId="{423AC899-27DD-4C32-BB79-D4060B72642F}" type="pres">
      <dgm:prSet presAssocID="{691243CE-866E-49E2-B073-CADCBE06246E}" presName="childText" presStyleLbl="bgAcc1" presStyleIdx="2" presStyleCnt="9">
        <dgm:presLayoutVars>
          <dgm:bulletEnabled val="1"/>
        </dgm:presLayoutVars>
      </dgm:prSet>
      <dgm:spPr/>
    </dgm:pt>
    <dgm:pt modelId="{2D329845-2F46-4437-9C36-E148BE01DD57}" type="pres">
      <dgm:prSet presAssocID="{AFA0E914-93F2-40BD-94B6-E37A3026E1C2}" presName="root" presStyleCnt="0"/>
      <dgm:spPr/>
    </dgm:pt>
    <dgm:pt modelId="{BBCC0B47-696C-4A13-AAE4-0FF34902BA41}" type="pres">
      <dgm:prSet presAssocID="{AFA0E914-93F2-40BD-94B6-E37A3026E1C2}" presName="rootComposite" presStyleCnt="0"/>
      <dgm:spPr/>
    </dgm:pt>
    <dgm:pt modelId="{DC061295-CA8F-493C-A7AC-7C79F80D13CC}" type="pres">
      <dgm:prSet presAssocID="{AFA0E914-93F2-40BD-94B6-E37A3026E1C2}" presName="rootText" presStyleLbl="node1" presStyleIdx="1" presStyleCnt="3"/>
      <dgm:spPr/>
    </dgm:pt>
    <dgm:pt modelId="{3CC502C4-EAC7-40D8-81F8-93C8FB524674}" type="pres">
      <dgm:prSet presAssocID="{AFA0E914-93F2-40BD-94B6-E37A3026E1C2}" presName="rootConnector" presStyleLbl="node1" presStyleIdx="1" presStyleCnt="3"/>
      <dgm:spPr/>
    </dgm:pt>
    <dgm:pt modelId="{8ADCB0F6-51C2-470B-BF65-9D670DFCE66E}" type="pres">
      <dgm:prSet presAssocID="{AFA0E914-93F2-40BD-94B6-E37A3026E1C2}" presName="childShape" presStyleCnt="0"/>
      <dgm:spPr/>
    </dgm:pt>
    <dgm:pt modelId="{B03FA7A4-ABD6-4CCF-8BD0-0EF1BD4A7DFC}" type="pres">
      <dgm:prSet presAssocID="{6F6C1D53-2AAE-4751-A488-D5CA02EE74F9}" presName="Name13" presStyleLbl="parChTrans1D2" presStyleIdx="3" presStyleCnt="9"/>
      <dgm:spPr/>
    </dgm:pt>
    <dgm:pt modelId="{0C2826FC-F7E1-4596-9993-64D4C9C80721}" type="pres">
      <dgm:prSet presAssocID="{1E4A352F-A6D1-4B4C-A60E-30B4EEC6CC0E}" presName="childText" presStyleLbl="bgAcc1" presStyleIdx="3" presStyleCnt="9">
        <dgm:presLayoutVars>
          <dgm:bulletEnabled val="1"/>
        </dgm:presLayoutVars>
      </dgm:prSet>
      <dgm:spPr/>
    </dgm:pt>
    <dgm:pt modelId="{3BA44247-F4E9-4AC4-8964-38CA4F3A8220}" type="pres">
      <dgm:prSet presAssocID="{C7944045-D5C6-4673-B5F7-22D3C7700E3B}" presName="Name13" presStyleLbl="parChTrans1D2" presStyleIdx="4" presStyleCnt="9"/>
      <dgm:spPr/>
    </dgm:pt>
    <dgm:pt modelId="{AE7A5EDD-FF34-4A16-B03B-6A99BDA09758}" type="pres">
      <dgm:prSet presAssocID="{E07EA14D-C8E6-4A63-B1B3-AA64E964E8CF}" presName="childText" presStyleLbl="bgAcc1" presStyleIdx="4" presStyleCnt="9">
        <dgm:presLayoutVars>
          <dgm:bulletEnabled val="1"/>
        </dgm:presLayoutVars>
      </dgm:prSet>
      <dgm:spPr/>
    </dgm:pt>
    <dgm:pt modelId="{19411D1D-DFF5-4A27-B992-FE9CB6A6844C}" type="pres">
      <dgm:prSet presAssocID="{FD79C250-14C6-42BE-9F89-32A8A99001C9}" presName="Name13" presStyleLbl="parChTrans1D2" presStyleIdx="5" presStyleCnt="9"/>
      <dgm:spPr/>
    </dgm:pt>
    <dgm:pt modelId="{FA2331DD-F5B5-415E-9BC8-92DDE145D6B9}" type="pres">
      <dgm:prSet presAssocID="{2AFC048C-EE2E-4A19-8A18-CF81EE6E9655}" presName="childText" presStyleLbl="bgAcc1" presStyleIdx="5" presStyleCnt="9">
        <dgm:presLayoutVars>
          <dgm:bulletEnabled val="1"/>
        </dgm:presLayoutVars>
      </dgm:prSet>
      <dgm:spPr/>
    </dgm:pt>
    <dgm:pt modelId="{81B491EC-60F3-42A1-9B2F-56D37571BE70}" type="pres">
      <dgm:prSet presAssocID="{4357EBFD-51C6-49A0-A4B4-EAB45B73D9E8}" presName="root" presStyleCnt="0"/>
      <dgm:spPr/>
    </dgm:pt>
    <dgm:pt modelId="{E4E3D1E3-957D-4F64-8ACF-CBC637FCF4C0}" type="pres">
      <dgm:prSet presAssocID="{4357EBFD-51C6-49A0-A4B4-EAB45B73D9E8}" presName="rootComposite" presStyleCnt="0"/>
      <dgm:spPr/>
    </dgm:pt>
    <dgm:pt modelId="{D7ADADC1-BBD0-45D9-A616-1065DA431FA6}" type="pres">
      <dgm:prSet presAssocID="{4357EBFD-51C6-49A0-A4B4-EAB45B73D9E8}" presName="rootText" presStyleLbl="node1" presStyleIdx="2" presStyleCnt="3"/>
      <dgm:spPr/>
    </dgm:pt>
    <dgm:pt modelId="{557E170C-1CE6-48E9-A8E7-ABDE022FD540}" type="pres">
      <dgm:prSet presAssocID="{4357EBFD-51C6-49A0-A4B4-EAB45B73D9E8}" presName="rootConnector" presStyleLbl="node1" presStyleIdx="2" presStyleCnt="3"/>
      <dgm:spPr/>
    </dgm:pt>
    <dgm:pt modelId="{BA16D67F-17DD-4F68-95AC-44786F3E51DF}" type="pres">
      <dgm:prSet presAssocID="{4357EBFD-51C6-49A0-A4B4-EAB45B73D9E8}" presName="childShape" presStyleCnt="0"/>
      <dgm:spPr/>
    </dgm:pt>
    <dgm:pt modelId="{91516C30-96DD-4B64-B44A-48DAC6979AB7}" type="pres">
      <dgm:prSet presAssocID="{2DC77D30-0A36-4D70-BB28-3A074488F244}" presName="Name13" presStyleLbl="parChTrans1D2" presStyleIdx="6" presStyleCnt="9"/>
      <dgm:spPr/>
    </dgm:pt>
    <dgm:pt modelId="{E8DC12AE-603F-4AC6-8A93-D3148FD67410}" type="pres">
      <dgm:prSet presAssocID="{459C3555-D189-4B80-AF7E-462F8E69C2F9}" presName="childText" presStyleLbl="bgAcc1" presStyleIdx="6" presStyleCnt="9">
        <dgm:presLayoutVars>
          <dgm:bulletEnabled val="1"/>
        </dgm:presLayoutVars>
      </dgm:prSet>
      <dgm:spPr/>
    </dgm:pt>
    <dgm:pt modelId="{2DE2173B-8D24-4246-803B-E695F034FE8C}" type="pres">
      <dgm:prSet presAssocID="{B5C7193E-7289-4809-8763-A9E88B9AC604}" presName="Name13" presStyleLbl="parChTrans1D2" presStyleIdx="7" presStyleCnt="9"/>
      <dgm:spPr/>
    </dgm:pt>
    <dgm:pt modelId="{242CF637-22A3-415E-9835-F1DC790740EA}" type="pres">
      <dgm:prSet presAssocID="{601E74E2-9C6A-4F26-846A-04A4A2A79B93}" presName="childText" presStyleLbl="bgAcc1" presStyleIdx="7" presStyleCnt="9">
        <dgm:presLayoutVars>
          <dgm:bulletEnabled val="1"/>
        </dgm:presLayoutVars>
      </dgm:prSet>
      <dgm:spPr/>
    </dgm:pt>
    <dgm:pt modelId="{03C1A4EF-C450-4D1C-B681-E6EB9D040F49}" type="pres">
      <dgm:prSet presAssocID="{861447AF-5ED8-4359-8953-6C36A1AC8267}" presName="Name13" presStyleLbl="parChTrans1D2" presStyleIdx="8" presStyleCnt="9"/>
      <dgm:spPr/>
    </dgm:pt>
    <dgm:pt modelId="{A0CA1EEC-8131-4B2F-AAED-196D529F7999}" type="pres">
      <dgm:prSet presAssocID="{057C5B73-251D-49CC-82D7-675239EC09C7}" presName="childText" presStyleLbl="bgAcc1" presStyleIdx="8" presStyleCnt="9">
        <dgm:presLayoutVars>
          <dgm:bulletEnabled val="1"/>
        </dgm:presLayoutVars>
      </dgm:prSet>
      <dgm:spPr/>
    </dgm:pt>
  </dgm:ptLst>
  <dgm:cxnLst>
    <dgm:cxn modelId="{4896D8B8-A2B0-4ABB-9079-0F7B390E4764}" srcId="{061A8CE3-8C57-49C1-85D2-880A969FBF7A}" destId="{51F4DFBF-DC93-4BBD-9753-A4AE7A75EE58}" srcOrd="0" destOrd="0" parTransId="{73D54843-9206-4E2B-B85D-B2BA6EE22657}" sibTransId="{E6CB42EA-5B14-4799-88BE-B0623262438C}"/>
    <dgm:cxn modelId="{25D5CF73-C710-4D05-B06F-CEABB3F7B0D9}" type="presOf" srcId="{56F4DF1B-1F68-4919-8212-AEFDE61470C1}" destId="{092C365C-805C-4A50-AAFB-575053D5127C}" srcOrd="0" destOrd="0" presId="urn:microsoft.com/office/officeart/2005/8/layout/hierarchy3"/>
    <dgm:cxn modelId="{2F5C9391-8656-4E8D-BF7D-980745FD5DB2}" srcId="{AFA0E914-93F2-40BD-94B6-E37A3026E1C2}" destId="{2AFC048C-EE2E-4A19-8A18-CF81EE6E9655}" srcOrd="2" destOrd="0" parTransId="{FD79C250-14C6-42BE-9F89-32A8A99001C9}" sibTransId="{B3985F97-D966-4822-BF5C-BC219040A6EE}"/>
    <dgm:cxn modelId="{17A23870-B7A5-4519-B775-2233892C8A02}" type="presOf" srcId="{51F4DFBF-DC93-4BBD-9753-A4AE7A75EE58}" destId="{3DB770CD-5B82-4C97-B910-E5F591991DAE}" srcOrd="0" destOrd="0" presId="urn:microsoft.com/office/officeart/2005/8/layout/hierarchy3"/>
    <dgm:cxn modelId="{4B3EE37C-A327-476E-91D0-08BBAC5B50C8}" type="presOf" srcId="{057C5B73-251D-49CC-82D7-675239EC09C7}" destId="{A0CA1EEC-8131-4B2F-AAED-196D529F7999}" srcOrd="0" destOrd="0" presId="urn:microsoft.com/office/officeart/2005/8/layout/hierarchy3"/>
    <dgm:cxn modelId="{A1FD12D8-96EC-4327-B14D-8D4F68ADFE57}" type="presOf" srcId="{FD79C250-14C6-42BE-9F89-32A8A99001C9}" destId="{19411D1D-DFF5-4A27-B992-FE9CB6A6844C}" srcOrd="0" destOrd="0" presId="urn:microsoft.com/office/officeart/2005/8/layout/hierarchy3"/>
    <dgm:cxn modelId="{283B961D-CD2D-48F9-9F42-21947F5616DE}" type="presOf" srcId="{061A8CE3-8C57-49C1-85D2-880A969FBF7A}" destId="{0489D118-11A1-48B3-A203-0FEAD31F4852}" srcOrd="1" destOrd="0" presId="urn:microsoft.com/office/officeart/2005/8/layout/hierarchy3"/>
    <dgm:cxn modelId="{5F2FABF4-1FAA-43B6-BAF9-3C6F5E64D22E}" srcId="{8F840737-0505-4806-8AAC-546240287DE1}" destId="{061A8CE3-8C57-49C1-85D2-880A969FBF7A}" srcOrd="0" destOrd="0" parTransId="{93C9F4FB-BCCF-4BBB-9886-3E6CB95BF2D9}" sibTransId="{99A57495-56B8-4DA0-8F20-C12AAEBACA2E}"/>
    <dgm:cxn modelId="{9A15896F-08F8-4D17-87BE-5037C663191C}" type="presOf" srcId="{E07EA14D-C8E6-4A63-B1B3-AA64E964E8CF}" destId="{AE7A5EDD-FF34-4A16-B03B-6A99BDA09758}" srcOrd="0" destOrd="0" presId="urn:microsoft.com/office/officeart/2005/8/layout/hierarchy3"/>
    <dgm:cxn modelId="{4860EC9C-88FC-452C-BFA8-1E288CA785CD}" type="presOf" srcId="{8F840737-0505-4806-8AAC-546240287DE1}" destId="{14CCA7DB-4E3C-402D-A002-3F3AB65A1D84}" srcOrd="0" destOrd="0" presId="urn:microsoft.com/office/officeart/2005/8/layout/hierarchy3"/>
    <dgm:cxn modelId="{2B51A10C-E2B8-4E9B-BCC2-5310304BA5D5}" type="presOf" srcId="{4357EBFD-51C6-49A0-A4B4-EAB45B73D9E8}" destId="{557E170C-1CE6-48E9-A8E7-ABDE022FD540}" srcOrd="1" destOrd="0" presId="urn:microsoft.com/office/officeart/2005/8/layout/hierarchy3"/>
    <dgm:cxn modelId="{9812FE98-57BD-42AC-BC94-E324004719C7}" type="presOf" srcId="{72FA5FFD-F3A3-427A-BBB3-65BDC0482550}" destId="{A65B65D9-F678-41C3-B56B-17BBAACE412E}" srcOrd="0" destOrd="0" presId="urn:microsoft.com/office/officeart/2005/8/layout/hierarchy3"/>
    <dgm:cxn modelId="{12066383-10DD-4860-8E8B-7DABCD0EFA20}" type="presOf" srcId="{1E4A352F-A6D1-4B4C-A60E-30B4EEC6CC0E}" destId="{0C2826FC-F7E1-4596-9993-64D4C9C80721}" srcOrd="0" destOrd="0" presId="urn:microsoft.com/office/officeart/2005/8/layout/hierarchy3"/>
    <dgm:cxn modelId="{B6D53809-E3D1-4363-BD2A-32550CCEF089}" type="presOf" srcId="{861447AF-5ED8-4359-8953-6C36A1AC8267}" destId="{03C1A4EF-C450-4D1C-B681-E6EB9D040F49}" srcOrd="0" destOrd="0" presId="urn:microsoft.com/office/officeart/2005/8/layout/hierarchy3"/>
    <dgm:cxn modelId="{55CE8F83-90D0-49D4-A8DF-84F55ED13AC2}" type="presOf" srcId="{99F6162A-D8C7-45BA-A181-01E03850B79B}" destId="{B2671BC8-1BC3-4072-813E-9B6EE29E0C40}" srcOrd="0" destOrd="0" presId="urn:microsoft.com/office/officeart/2005/8/layout/hierarchy3"/>
    <dgm:cxn modelId="{50AE147C-DE33-49F5-A945-1C5137C8EC1D}" srcId="{4357EBFD-51C6-49A0-A4B4-EAB45B73D9E8}" destId="{057C5B73-251D-49CC-82D7-675239EC09C7}" srcOrd="2" destOrd="0" parTransId="{861447AF-5ED8-4359-8953-6C36A1AC8267}" sibTransId="{6AA56883-F7E9-4B9D-A79E-6CFEDF10ED51}"/>
    <dgm:cxn modelId="{4640EA4F-BA17-4C8D-A08E-21A836572EEB}" type="presOf" srcId="{AFA0E914-93F2-40BD-94B6-E37A3026E1C2}" destId="{DC061295-CA8F-493C-A7AC-7C79F80D13CC}" srcOrd="0" destOrd="0" presId="urn:microsoft.com/office/officeart/2005/8/layout/hierarchy3"/>
    <dgm:cxn modelId="{292DF90A-5288-49B2-9885-22EF65EC075A}" type="presOf" srcId="{C7944045-D5C6-4673-B5F7-22D3C7700E3B}" destId="{3BA44247-F4E9-4AC4-8964-38CA4F3A8220}" srcOrd="0" destOrd="0" presId="urn:microsoft.com/office/officeart/2005/8/layout/hierarchy3"/>
    <dgm:cxn modelId="{084D4842-0C27-494B-9036-24A840686ABA}" srcId="{4357EBFD-51C6-49A0-A4B4-EAB45B73D9E8}" destId="{601E74E2-9C6A-4F26-846A-04A4A2A79B93}" srcOrd="1" destOrd="0" parTransId="{B5C7193E-7289-4809-8763-A9E88B9AC604}" sibTransId="{29ED3A1B-7EBB-42B6-9565-C745B4A3434A}"/>
    <dgm:cxn modelId="{24272950-DFA6-41CA-8FCF-69BCD1E87DD2}" type="presOf" srcId="{2AFC048C-EE2E-4A19-8A18-CF81EE6E9655}" destId="{FA2331DD-F5B5-415E-9BC8-92DDE145D6B9}" srcOrd="0" destOrd="0" presId="urn:microsoft.com/office/officeart/2005/8/layout/hierarchy3"/>
    <dgm:cxn modelId="{DCFBD896-101A-43C1-8A7E-173BF9480F29}" type="presOf" srcId="{6F6C1D53-2AAE-4751-A488-D5CA02EE74F9}" destId="{B03FA7A4-ABD6-4CCF-8BD0-0EF1BD4A7DFC}" srcOrd="0" destOrd="0" presId="urn:microsoft.com/office/officeart/2005/8/layout/hierarchy3"/>
    <dgm:cxn modelId="{A97E6E50-E062-4913-BE95-E03D5027C127}" type="presOf" srcId="{AFA0E914-93F2-40BD-94B6-E37A3026E1C2}" destId="{3CC502C4-EAC7-40D8-81F8-93C8FB524674}" srcOrd="1" destOrd="0" presId="urn:microsoft.com/office/officeart/2005/8/layout/hierarchy3"/>
    <dgm:cxn modelId="{CDD98620-ABA8-4ACF-8D7D-6B32627BE4F4}" type="presOf" srcId="{601E74E2-9C6A-4F26-846A-04A4A2A79B93}" destId="{242CF637-22A3-415E-9835-F1DC790740EA}" srcOrd="0" destOrd="0" presId="urn:microsoft.com/office/officeart/2005/8/layout/hierarchy3"/>
    <dgm:cxn modelId="{8BBAE870-9602-4145-BFC3-F4EA20447ECD}" type="presOf" srcId="{73D54843-9206-4E2B-B85D-B2BA6EE22657}" destId="{559A6EC9-B87F-4AA6-8483-170CC6DD64FF}" srcOrd="0" destOrd="0" presId="urn:microsoft.com/office/officeart/2005/8/layout/hierarchy3"/>
    <dgm:cxn modelId="{036B5004-7227-4121-8D40-800C92C764F2}" type="presOf" srcId="{691243CE-866E-49E2-B073-CADCBE06246E}" destId="{423AC899-27DD-4C32-BB79-D4060B72642F}" srcOrd="0" destOrd="0" presId="urn:microsoft.com/office/officeart/2005/8/layout/hierarchy3"/>
    <dgm:cxn modelId="{6D161FD5-2D33-480E-BD96-E78123770720}" type="presOf" srcId="{2DC77D30-0A36-4D70-BB28-3A074488F244}" destId="{91516C30-96DD-4B64-B44A-48DAC6979AB7}" srcOrd="0" destOrd="0" presId="urn:microsoft.com/office/officeart/2005/8/layout/hierarchy3"/>
    <dgm:cxn modelId="{51A85C46-2A0D-4B60-B7EA-152F588773B4}" type="presOf" srcId="{B5C7193E-7289-4809-8763-A9E88B9AC604}" destId="{2DE2173B-8D24-4246-803B-E695F034FE8C}" srcOrd="0" destOrd="0" presId="urn:microsoft.com/office/officeart/2005/8/layout/hierarchy3"/>
    <dgm:cxn modelId="{78A97DEC-542B-4DFA-993D-316F74D2655E}" type="presOf" srcId="{4357EBFD-51C6-49A0-A4B4-EAB45B73D9E8}" destId="{D7ADADC1-BBD0-45D9-A616-1065DA431FA6}" srcOrd="0" destOrd="0" presId="urn:microsoft.com/office/officeart/2005/8/layout/hierarchy3"/>
    <dgm:cxn modelId="{E9DF50E9-F5B3-4557-A958-5EBD2244E65A}" srcId="{061A8CE3-8C57-49C1-85D2-880A969FBF7A}" destId="{691243CE-866E-49E2-B073-CADCBE06246E}" srcOrd="2" destOrd="0" parTransId="{56F4DF1B-1F68-4919-8212-AEFDE61470C1}" sibTransId="{801A3B04-A4A4-4AAA-A55E-A752E4CDA4E5}"/>
    <dgm:cxn modelId="{5477081D-EE41-4B79-8649-CE727D1A5ED3}" srcId="{061A8CE3-8C57-49C1-85D2-880A969FBF7A}" destId="{72FA5FFD-F3A3-427A-BBB3-65BDC0482550}" srcOrd="1" destOrd="0" parTransId="{99F6162A-D8C7-45BA-A181-01E03850B79B}" sibTransId="{CE8A2834-73AE-46F1-9305-A34EAB55CBB9}"/>
    <dgm:cxn modelId="{F7890E7C-3315-4AE9-B2BE-E03BF0E0E3DB}" srcId="{8F840737-0505-4806-8AAC-546240287DE1}" destId="{AFA0E914-93F2-40BD-94B6-E37A3026E1C2}" srcOrd="1" destOrd="0" parTransId="{1010DE01-0D8F-4BCE-9924-4B058C1B0844}" sibTransId="{9CD60508-B6D9-442B-B7D1-2E11048AC7EB}"/>
    <dgm:cxn modelId="{09854A30-BF3F-4653-AAC3-5EB963313880}" srcId="{4357EBFD-51C6-49A0-A4B4-EAB45B73D9E8}" destId="{459C3555-D189-4B80-AF7E-462F8E69C2F9}" srcOrd="0" destOrd="0" parTransId="{2DC77D30-0A36-4D70-BB28-3A074488F244}" sibTransId="{829E9A36-CF02-4F19-BD6A-73BB91585391}"/>
    <dgm:cxn modelId="{FB6CFF06-7F85-484F-838B-760C49357C10}" srcId="{8F840737-0505-4806-8AAC-546240287DE1}" destId="{4357EBFD-51C6-49A0-A4B4-EAB45B73D9E8}" srcOrd="2" destOrd="0" parTransId="{EFB5D32D-444A-4AE6-B0A7-3A1D40F34BE2}" sibTransId="{B4C6A2E7-6A12-405D-A6EE-2FB5F31F8899}"/>
    <dgm:cxn modelId="{1A971E75-FCC0-4FC2-8CC2-0FED81F159B2}" srcId="{AFA0E914-93F2-40BD-94B6-E37A3026E1C2}" destId="{1E4A352F-A6D1-4B4C-A60E-30B4EEC6CC0E}" srcOrd="0" destOrd="0" parTransId="{6F6C1D53-2AAE-4751-A488-D5CA02EE74F9}" sibTransId="{95E4D81A-24AD-438B-A16C-8C6E3915CA13}"/>
    <dgm:cxn modelId="{19FA1850-846B-470C-9BAD-41845DB1C6D6}" type="presOf" srcId="{061A8CE3-8C57-49C1-85D2-880A969FBF7A}" destId="{35BFDC8D-9BEB-4D81-90AD-749C81A26DBD}" srcOrd="0" destOrd="0" presId="urn:microsoft.com/office/officeart/2005/8/layout/hierarchy3"/>
    <dgm:cxn modelId="{9909783D-13A6-47B0-A984-7A15E8371DFE}" type="presOf" srcId="{459C3555-D189-4B80-AF7E-462F8E69C2F9}" destId="{E8DC12AE-603F-4AC6-8A93-D3148FD67410}" srcOrd="0" destOrd="0" presId="urn:microsoft.com/office/officeart/2005/8/layout/hierarchy3"/>
    <dgm:cxn modelId="{BCADCFFC-0E7F-4783-8DC5-4D1591302A97}" srcId="{AFA0E914-93F2-40BD-94B6-E37A3026E1C2}" destId="{E07EA14D-C8E6-4A63-B1B3-AA64E964E8CF}" srcOrd="1" destOrd="0" parTransId="{C7944045-D5C6-4673-B5F7-22D3C7700E3B}" sibTransId="{7E573C7D-56FD-4891-A897-138DA0E8FD8B}"/>
    <dgm:cxn modelId="{70D0D7AD-B338-40B8-8257-4B04252E7207}" type="presParOf" srcId="{14CCA7DB-4E3C-402D-A002-3F3AB65A1D84}" destId="{094C2EDD-E7D9-4E12-A690-CFD4E554A473}" srcOrd="0" destOrd="0" presId="urn:microsoft.com/office/officeart/2005/8/layout/hierarchy3"/>
    <dgm:cxn modelId="{46B61CC4-3D0C-47D6-BACC-89CCAED59D42}" type="presParOf" srcId="{094C2EDD-E7D9-4E12-A690-CFD4E554A473}" destId="{BEF9EC61-16AA-4531-856B-C062F4AECA9D}" srcOrd="0" destOrd="0" presId="urn:microsoft.com/office/officeart/2005/8/layout/hierarchy3"/>
    <dgm:cxn modelId="{C0E5B92C-B52B-4A2F-9678-5930053E62E5}" type="presParOf" srcId="{BEF9EC61-16AA-4531-856B-C062F4AECA9D}" destId="{35BFDC8D-9BEB-4D81-90AD-749C81A26DBD}" srcOrd="0" destOrd="0" presId="urn:microsoft.com/office/officeart/2005/8/layout/hierarchy3"/>
    <dgm:cxn modelId="{56FA29A7-D824-4401-9DA4-9D42FB0E2171}" type="presParOf" srcId="{BEF9EC61-16AA-4531-856B-C062F4AECA9D}" destId="{0489D118-11A1-48B3-A203-0FEAD31F4852}" srcOrd="1" destOrd="0" presId="urn:microsoft.com/office/officeart/2005/8/layout/hierarchy3"/>
    <dgm:cxn modelId="{3475CF63-D890-43E4-9E84-732C0E2069E4}" type="presParOf" srcId="{094C2EDD-E7D9-4E12-A690-CFD4E554A473}" destId="{ED4B9254-5A8C-48C4-ABD6-6B59AEEADC01}" srcOrd="1" destOrd="0" presId="urn:microsoft.com/office/officeart/2005/8/layout/hierarchy3"/>
    <dgm:cxn modelId="{146AF82B-85C9-4160-9FD0-B193D8B5255C}" type="presParOf" srcId="{ED4B9254-5A8C-48C4-ABD6-6B59AEEADC01}" destId="{559A6EC9-B87F-4AA6-8483-170CC6DD64FF}" srcOrd="0" destOrd="0" presId="urn:microsoft.com/office/officeart/2005/8/layout/hierarchy3"/>
    <dgm:cxn modelId="{1CD57C24-2727-41CC-9651-8CD3707CF07B}" type="presParOf" srcId="{ED4B9254-5A8C-48C4-ABD6-6B59AEEADC01}" destId="{3DB770CD-5B82-4C97-B910-E5F591991DAE}" srcOrd="1" destOrd="0" presId="urn:microsoft.com/office/officeart/2005/8/layout/hierarchy3"/>
    <dgm:cxn modelId="{8824F8C0-E6D9-40BA-9F49-54E6ED47C7F2}" type="presParOf" srcId="{ED4B9254-5A8C-48C4-ABD6-6B59AEEADC01}" destId="{B2671BC8-1BC3-4072-813E-9B6EE29E0C40}" srcOrd="2" destOrd="0" presId="urn:microsoft.com/office/officeart/2005/8/layout/hierarchy3"/>
    <dgm:cxn modelId="{F5E17AD0-FE4C-43A3-BFC5-367210D03284}" type="presParOf" srcId="{ED4B9254-5A8C-48C4-ABD6-6B59AEEADC01}" destId="{A65B65D9-F678-41C3-B56B-17BBAACE412E}" srcOrd="3" destOrd="0" presId="urn:microsoft.com/office/officeart/2005/8/layout/hierarchy3"/>
    <dgm:cxn modelId="{815125A6-805F-4183-A522-545F7B1E32FC}" type="presParOf" srcId="{ED4B9254-5A8C-48C4-ABD6-6B59AEEADC01}" destId="{092C365C-805C-4A50-AAFB-575053D5127C}" srcOrd="4" destOrd="0" presId="urn:microsoft.com/office/officeart/2005/8/layout/hierarchy3"/>
    <dgm:cxn modelId="{81613876-F6AC-46B7-9BD6-11554700EA02}" type="presParOf" srcId="{ED4B9254-5A8C-48C4-ABD6-6B59AEEADC01}" destId="{423AC899-27DD-4C32-BB79-D4060B72642F}" srcOrd="5" destOrd="0" presId="urn:microsoft.com/office/officeart/2005/8/layout/hierarchy3"/>
    <dgm:cxn modelId="{819F1240-3B41-4D51-ACFA-8FBE34D9A869}" type="presParOf" srcId="{14CCA7DB-4E3C-402D-A002-3F3AB65A1D84}" destId="{2D329845-2F46-4437-9C36-E148BE01DD57}" srcOrd="1" destOrd="0" presId="urn:microsoft.com/office/officeart/2005/8/layout/hierarchy3"/>
    <dgm:cxn modelId="{6DC67ADD-7943-4371-B674-D5843A84F44C}" type="presParOf" srcId="{2D329845-2F46-4437-9C36-E148BE01DD57}" destId="{BBCC0B47-696C-4A13-AAE4-0FF34902BA41}" srcOrd="0" destOrd="0" presId="urn:microsoft.com/office/officeart/2005/8/layout/hierarchy3"/>
    <dgm:cxn modelId="{98AA7119-504E-42AB-92BF-944F1F299342}" type="presParOf" srcId="{BBCC0B47-696C-4A13-AAE4-0FF34902BA41}" destId="{DC061295-CA8F-493C-A7AC-7C79F80D13CC}" srcOrd="0" destOrd="0" presId="urn:microsoft.com/office/officeart/2005/8/layout/hierarchy3"/>
    <dgm:cxn modelId="{5E273597-28CB-466E-9394-11C6CB5EFB5E}" type="presParOf" srcId="{BBCC0B47-696C-4A13-AAE4-0FF34902BA41}" destId="{3CC502C4-EAC7-40D8-81F8-93C8FB524674}" srcOrd="1" destOrd="0" presId="urn:microsoft.com/office/officeart/2005/8/layout/hierarchy3"/>
    <dgm:cxn modelId="{AB808223-D6FF-4485-9070-C0D84CDAB5A0}" type="presParOf" srcId="{2D329845-2F46-4437-9C36-E148BE01DD57}" destId="{8ADCB0F6-51C2-470B-BF65-9D670DFCE66E}" srcOrd="1" destOrd="0" presId="urn:microsoft.com/office/officeart/2005/8/layout/hierarchy3"/>
    <dgm:cxn modelId="{1677718C-19EC-4806-8A06-0C8BEF509631}" type="presParOf" srcId="{8ADCB0F6-51C2-470B-BF65-9D670DFCE66E}" destId="{B03FA7A4-ABD6-4CCF-8BD0-0EF1BD4A7DFC}" srcOrd="0" destOrd="0" presId="urn:microsoft.com/office/officeart/2005/8/layout/hierarchy3"/>
    <dgm:cxn modelId="{20411AF5-0596-4964-980E-077D0E1D8575}" type="presParOf" srcId="{8ADCB0F6-51C2-470B-BF65-9D670DFCE66E}" destId="{0C2826FC-F7E1-4596-9993-64D4C9C80721}" srcOrd="1" destOrd="0" presId="urn:microsoft.com/office/officeart/2005/8/layout/hierarchy3"/>
    <dgm:cxn modelId="{81A023F1-2649-4E0C-A5FC-956E760DE6EA}" type="presParOf" srcId="{8ADCB0F6-51C2-470B-BF65-9D670DFCE66E}" destId="{3BA44247-F4E9-4AC4-8964-38CA4F3A8220}" srcOrd="2" destOrd="0" presId="urn:microsoft.com/office/officeart/2005/8/layout/hierarchy3"/>
    <dgm:cxn modelId="{9B064F94-7CFE-4518-B0F4-C2684D6E6B21}" type="presParOf" srcId="{8ADCB0F6-51C2-470B-BF65-9D670DFCE66E}" destId="{AE7A5EDD-FF34-4A16-B03B-6A99BDA09758}" srcOrd="3" destOrd="0" presId="urn:microsoft.com/office/officeart/2005/8/layout/hierarchy3"/>
    <dgm:cxn modelId="{C4E3ACEC-5975-4692-A344-2D23AA2B37DB}" type="presParOf" srcId="{8ADCB0F6-51C2-470B-BF65-9D670DFCE66E}" destId="{19411D1D-DFF5-4A27-B992-FE9CB6A6844C}" srcOrd="4" destOrd="0" presId="urn:microsoft.com/office/officeart/2005/8/layout/hierarchy3"/>
    <dgm:cxn modelId="{DD0F1ACE-8630-41D0-B9B2-20E8087EDF31}" type="presParOf" srcId="{8ADCB0F6-51C2-470B-BF65-9D670DFCE66E}" destId="{FA2331DD-F5B5-415E-9BC8-92DDE145D6B9}" srcOrd="5" destOrd="0" presId="urn:microsoft.com/office/officeart/2005/8/layout/hierarchy3"/>
    <dgm:cxn modelId="{67EE8AE2-C013-4670-A894-7C4DD8560AE7}" type="presParOf" srcId="{14CCA7DB-4E3C-402D-A002-3F3AB65A1D84}" destId="{81B491EC-60F3-42A1-9B2F-56D37571BE70}" srcOrd="2" destOrd="0" presId="urn:microsoft.com/office/officeart/2005/8/layout/hierarchy3"/>
    <dgm:cxn modelId="{2DFBDD3A-9367-4EFB-BB9D-48C09135EFF6}" type="presParOf" srcId="{81B491EC-60F3-42A1-9B2F-56D37571BE70}" destId="{E4E3D1E3-957D-4F64-8ACF-CBC637FCF4C0}" srcOrd="0" destOrd="0" presId="urn:microsoft.com/office/officeart/2005/8/layout/hierarchy3"/>
    <dgm:cxn modelId="{895A309B-AB7A-4156-B87E-07240680C8A9}" type="presParOf" srcId="{E4E3D1E3-957D-4F64-8ACF-CBC637FCF4C0}" destId="{D7ADADC1-BBD0-45D9-A616-1065DA431FA6}" srcOrd="0" destOrd="0" presId="urn:microsoft.com/office/officeart/2005/8/layout/hierarchy3"/>
    <dgm:cxn modelId="{EB1DB26B-5433-4930-ACCD-3422EE6FD11B}" type="presParOf" srcId="{E4E3D1E3-957D-4F64-8ACF-CBC637FCF4C0}" destId="{557E170C-1CE6-48E9-A8E7-ABDE022FD540}" srcOrd="1" destOrd="0" presId="urn:microsoft.com/office/officeart/2005/8/layout/hierarchy3"/>
    <dgm:cxn modelId="{61F04679-F537-4FE3-BB49-47A034DB3267}" type="presParOf" srcId="{81B491EC-60F3-42A1-9B2F-56D37571BE70}" destId="{BA16D67F-17DD-4F68-95AC-44786F3E51DF}" srcOrd="1" destOrd="0" presId="urn:microsoft.com/office/officeart/2005/8/layout/hierarchy3"/>
    <dgm:cxn modelId="{B0959A9B-9634-4C08-B5A6-86A7EEDB9358}" type="presParOf" srcId="{BA16D67F-17DD-4F68-95AC-44786F3E51DF}" destId="{91516C30-96DD-4B64-B44A-48DAC6979AB7}" srcOrd="0" destOrd="0" presId="urn:microsoft.com/office/officeart/2005/8/layout/hierarchy3"/>
    <dgm:cxn modelId="{8003559B-6FCC-4BEB-BDC2-3B3A79645AEA}" type="presParOf" srcId="{BA16D67F-17DD-4F68-95AC-44786F3E51DF}" destId="{E8DC12AE-603F-4AC6-8A93-D3148FD67410}" srcOrd="1" destOrd="0" presId="urn:microsoft.com/office/officeart/2005/8/layout/hierarchy3"/>
    <dgm:cxn modelId="{FCC9304D-73D1-4891-9F22-407B335E5688}" type="presParOf" srcId="{BA16D67F-17DD-4F68-95AC-44786F3E51DF}" destId="{2DE2173B-8D24-4246-803B-E695F034FE8C}" srcOrd="2" destOrd="0" presId="urn:microsoft.com/office/officeart/2005/8/layout/hierarchy3"/>
    <dgm:cxn modelId="{658B9D36-8640-4C1A-B2CB-3058012DA6D8}" type="presParOf" srcId="{BA16D67F-17DD-4F68-95AC-44786F3E51DF}" destId="{242CF637-22A3-415E-9835-F1DC790740EA}" srcOrd="3" destOrd="0" presId="urn:microsoft.com/office/officeart/2005/8/layout/hierarchy3"/>
    <dgm:cxn modelId="{65A12383-B346-45CF-9339-5C561AE2BF12}" type="presParOf" srcId="{BA16D67F-17DD-4F68-95AC-44786F3E51DF}" destId="{03C1A4EF-C450-4D1C-B681-E6EB9D040F49}" srcOrd="4" destOrd="0" presId="urn:microsoft.com/office/officeart/2005/8/layout/hierarchy3"/>
    <dgm:cxn modelId="{63045CA8-1F6B-46EF-852E-336282576253}" type="presParOf" srcId="{BA16D67F-17DD-4F68-95AC-44786F3E51DF}" destId="{A0CA1EEC-8131-4B2F-AAED-196D529F7999}" srcOrd="5"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BFDC8D-9BEB-4D81-90AD-749C81A26DBD}">
      <dsp:nvSpPr>
        <dsp:cNvPr id="0" name=""/>
        <dsp:cNvSpPr/>
      </dsp:nvSpPr>
      <dsp:spPr>
        <a:xfrm>
          <a:off x="402914" y="2738"/>
          <a:ext cx="1903362" cy="951681"/>
        </a:xfrm>
        <a:prstGeom prst="roundRect">
          <a:avLst>
            <a:gd name="adj" fmla="val 10000"/>
          </a:avLst>
        </a:prstGeom>
        <a:solidFill>
          <a:schemeClr val="accent2">
            <a:alpha val="9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245" tIns="36830" rIns="55245" bIns="36830" numCol="1" spcCol="1270" anchor="ctr" anchorCtr="0">
          <a:noAutofit/>
        </a:bodyPr>
        <a:lstStyle/>
        <a:p>
          <a:pPr marL="0" lvl="0" indent="0" algn="ctr" defTabSz="1289050">
            <a:lnSpc>
              <a:spcPct val="90000"/>
            </a:lnSpc>
            <a:spcBef>
              <a:spcPct val="0"/>
            </a:spcBef>
            <a:spcAft>
              <a:spcPct val="35000"/>
            </a:spcAft>
            <a:buNone/>
          </a:pPr>
          <a:r>
            <a:rPr lang="en-US" sz="2900" kern="1200" dirty="0"/>
            <a:t>Every Sprint</a:t>
          </a:r>
        </a:p>
      </dsp:txBody>
      <dsp:txXfrm>
        <a:off x="430788" y="30612"/>
        <a:ext cx="1847614" cy="895933"/>
      </dsp:txXfrm>
    </dsp:sp>
    <dsp:sp modelId="{559A6EC9-B87F-4AA6-8483-170CC6DD64FF}">
      <dsp:nvSpPr>
        <dsp:cNvPr id="0" name=""/>
        <dsp:cNvSpPr/>
      </dsp:nvSpPr>
      <dsp:spPr>
        <a:xfrm>
          <a:off x="593251" y="954419"/>
          <a:ext cx="190336" cy="713761"/>
        </a:xfrm>
        <a:custGeom>
          <a:avLst/>
          <a:gdLst/>
          <a:ahLst/>
          <a:cxnLst/>
          <a:rect l="0" t="0" r="0" b="0"/>
          <a:pathLst>
            <a:path>
              <a:moveTo>
                <a:pt x="0" y="0"/>
              </a:moveTo>
              <a:lnTo>
                <a:pt x="0" y="713761"/>
              </a:lnTo>
              <a:lnTo>
                <a:pt x="190336" y="713761"/>
              </a:lnTo>
            </a:path>
          </a:pathLst>
        </a:custGeom>
        <a:noFill/>
        <a:ln w="25400" cap="flat"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DB770CD-5B82-4C97-B910-E5F591991DAE}">
      <dsp:nvSpPr>
        <dsp:cNvPr id="0" name=""/>
        <dsp:cNvSpPr/>
      </dsp:nvSpPr>
      <dsp:spPr>
        <a:xfrm>
          <a:off x="783587" y="1192339"/>
          <a:ext cx="1522690" cy="951681"/>
        </a:xfrm>
        <a:prstGeom prst="roundRect">
          <a:avLst>
            <a:gd name="adj" fmla="val 10000"/>
          </a:avLst>
        </a:prstGeom>
        <a:solidFill>
          <a:schemeClr val="lt1">
            <a:alpha val="90000"/>
            <a:hueOff val="0"/>
            <a:satOff val="0"/>
            <a:lumOff val="0"/>
            <a:alphaOff val="0"/>
          </a:schemeClr>
        </a:solidFill>
        <a:ln w="25400" cap="flat" cmpd="sng" algn="ctr">
          <a:solidFill>
            <a:schemeClr val="accent2">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Training</a:t>
          </a:r>
        </a:p>
      </dsp:txBody>
      <dsp:txXfrm>
        <a:off x="811461" y="1220213"/>
        <a:ext cx="1466942" cy="895933"/>
      </dsp:txXfrm>
    </dsp:sp>
    <dsp:sp modelId="{B2671BC8-1BC3-4072-813E-9B6EE29E0C40}">
      <dsp:nvSpPr>
        <dsp:cNvPr id="0" name=""/>
        <dsp:cNvSpPr/>
      </dsp:nvSpPr>
      <dsp:spPr>
        <a:xfrm>
          <a:off x="593251" y="954419"/>
          <a:ext cx="190336" cy="1903362"/>
        </a:xfrm>
        <a:custGeom>
          <a:avLst/>
          <a:gdLst/>
          <a:ahLst/>
          <a:cxnLst/>
          <a:rect l="0" t="0" r="0" b="0"/>
          <a:pathLst>
            <a:path>
              <a:moveTo>
                <a:pt x="0" y="0"/>
              </a:moveTo>
              <a:lnTo>
                <a:pt x="0" y="1903362"/>
              </a:lnTo>
              <a:lnTo>
                <a:pt x="190336" y="1903362"/>
              </a:lnTo>
            </a:path>
          </a:pathLst>
        </a:custGeom>
        <a:noFill/>
        <a:ln w="25400" cap="flat"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65B65D9-F678-41C3-B56B-17BBAACE412E}">
      <dsp:nvSpPr>
        <dsp:cNvPr id="0" name=""/>
        <dsp:cNvSpPr/>
      </dsp:nvSpPr>
      <dsp:spPr>
        <a:xfrm>
          <a:off x="783587" y="2381941"/>
          <a:ext cx="1522690" cy="951681"/>
        </a:xfrm>
        <a:prstGeom prst="roundRect">
          <a:avLst>
            <a:gd name="adj" fmla="val 10000"/>
          </a:avLst>
        </a:prstGeom>
        <a:solidFill>
          <a:schemeClr val="lt1">
            <a:alpha val="90000"/>
            <a:hueOff val="0"/>
            <a:satOff val="0"/>
            <a:lumOff val="0"/>
            <a:alphaOff val="0"/>
          </a:schemeClr>
        </a:solidFill>
        <a:ln w="25400" cap="flat" cmpd="sng" algn="ctr">
          <a:solidFill>
            <a:schemeClr val="accent2">
              <a:alpha val="90000"/>
              <a:hueOff val="0"/>
              <a:satOff val="0"/>
              <a:lumOff val="0"/>
              <a:alphaOff val="-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Threat modeling</a:t>
          </a:r>
        </a:p>
      </dsp:txBody>
      <dsp:txXfrm>
        <a:off x="811461" y="2409815"/>
        <a:ext cx="1466942" cy="895933"/>
      </dsp:txXfrm>
    </dsp:sp>
    <dsp:sp modelId="{092C365C-805C-4A50-AAFB-575053D5127C}">
      <dsp:nvSpPr>
        <dsp:cNvPr id="0" name=""/>
        <dsp:cNvSpPr/>
      </dsp:nvSpPr>
      <dsp:spPr>
        <a:xfrm>
          <a:off x="593251" y="954419"/>
          <a:ext cx="190336" cy="3092964"/>
        </a:xfrm>
        <a:custGeom>
          <a:avLst/>
          <a:gdLst/>
          <a:ahLst/>
          <a:cxnLst/>
          <a:rect l="0" t="0" r="0" b="0"/>
          <a:pathLst>
            <a:path>
              <a:moveTo>
                <a:pt x="0" y="0"/>
              </a:moveTo>
              <a:lnTo>
                <a:pt x="0" y="3092964"/>
              </a:lnTo>
              <a:lnTo>
                <a:pt x="190336" y="3092964"/>
              </a:lnTo>
            </a:path>
          </a:pathLst>
        </a:custGeom>
        <a:noFill/>
        <a:ln w="25400" cap="flat"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23AC899-27DD-4C32-BB79-D4060B72642F}">
      <dsp:nvSpPr>
        <dsp:cNvPr id="0" name=""/>
        <dsp:cNvSpPr/>
      </dsp:nvSpPr>
      <dsp:spPr>
        <a:xfrm>
          <a:off x="783587" y="3571543"/>
          <a:ext cx="1522690" cy="951681"/>
        </a:xfrm>
        <a:prstGeom prst="roundRect">
          <a:avLst>
            <a:gd name="adj" fmla="val 10000"/>
          </a:avLst>
        </a:prstGeom>
        <a:solidFill>
          <a:schemeClr val="lt1">
            <a:alpha val="90000"/>
            <a:hueOff val="0"/>
            <a:satOff val="0"/>
            <a:lumOff val="0"/>
            <a:alphaOff val="0"/>
          </a:schemeClr>
        </a:solidFill>
        <a:ln w="25400" cap="flat" cmpd="sng" algn="ctr">
          <a:solidFill>
            <a:schemeClr val="accent2">
              <a:alpha val="90000"/>
              <a:hueOff val="0"/>
              <a:satOff val="0"/>
              <a:lumOff val="0"/>
              <a:alphaOff val="-1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etc...</a:t>
          </a:r>
        </a:p>
      </dsp:txBody>
      <dsp:txXfrm>
        <a:off x="811461" y="3599417"/>
        <a:ext cx="1466942" cy="895933"/>
      </dsp:txXfrm>
    </dsp:sp>
    <dsp:sp modelId="{DC061295-CA8F-493C-A7AC-7C79F80D13CC}">
      <dsp:nvSpPr>
        <dsp:cNvPr id="0" name=""/>
        <dsp:cNvSpPr/>
      </dsp:nvSpPr>
      <dsp:spPr>
        <a:xfrm>
          <a:off x="2782118" y="2738"/>
          <a:ext cx="1903362" cy="951681"/>
        </a:xfrm>
        <a:prstGeom prst="roundRect">
          <a:avLst>
            <a:gd name="adj" fmla="val 10000"/>
          </a:avLst>
        </a:prstGeom>
        <a:solidFill>
          <a:schemeClr val="accent2">
            <a:alpha val="90000"/>
            <a:hueOff val="0"/>
            <a:satOff val="0"/>
            <a:lumOff val="0"/>
            <a:alphaOff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245" tIns="36830" rIns="55245" bIns="36830" numCol="1" spcCol="1270" anchor="ctr" anchorCtr="0">
          <a:noAutofit/>
        </a:bodyPr>
        <a:lstStyle/>
        <a:p>
          <a:pPr marL="0" lvl="0" indent="0" algn="ctr" defTabSz="1289050">
            <a:lnSpc>
              <a:spcPct val="90000"/>
            </a:lnSpc>
            <a:spcBef>
              <a:spcPct val="0"/>
            </a:spcBef>
            <a:spcAft>
              <a:spcPct val="35000"/>
            </a:spcAft>
            <a:buNone/>
          </a:pPr>
          <a:r>
            <a:rPr lang="en-US" sz="2900" kern="1200" dirty="0"/>
            <a:t>One-Time Only</a:t>
          </a:r>
        </a:p>
      </dsp:txBody>
      <dsp:txXfrm>
        <a:off x="2809992" y="30612"/>
        <a:ext cx="1847614" cy="895933"/>
      </dsp:txXfrm>
    </dsp:sp>
    <dsp:sp modelId="{B03FA7A4-ABD6-4CCF-8BD0-0EF1BD4A7DFC}">
      <dsp:nvSpPr>
        <dsp:cNvPr id="0" name=""/>
        <dsp:cNvSpPr/>
      </dsp:nvSpPr>
      <dsp:spPr>
        <a:xfrm>
          <a:off x="2972454" y="954419"/>
          <a:ext cx="190336" cy="713761"/>
        </a:xfrm>
        <a:custGeom>
          <a:avLst/>
          <a:gdLst/>
          <a:ahLst/>
          <a:cxnLst/>
          <a:rect l="0" t="0" r="0" b="0"/>
          <a:pathLst>
            <a:path>
              <a:moveTo>
                <a:pt x="0" y="0"/>
              </a:moveTo>
              <a:lnTo>
                <a:pt x="0" y="713761"/>
              </a:lnTo>
              <a:lnTo>
                <a:pt x="190336" y="713761"/>
              </a:lnTo>
            </a:path>
          </a:pathLst>
        </a:custGeom>
        <a:noFill/>
        <a:ln w="25400" cap="flat"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C2826FC-F7E1-4596-9993-64D4C9C80721}">
      <dsp:nvSpPr>
        <dsp:cNvPr id="0" name=""/>
        <dsp:cNvSpPr/>
      </dsp:nvSpPr>
      <dsp:spPr>
        <a:xfrm>
          <a:off x="3162791" y="1192339"/>
          <a:ext cx="1522690" cy="951681"/>
        </a:xfrm>
        <a:prstGeom prst="roundRect">
          <a:avLst>
            <a:gd name="adj" fmla="val 10000"/>
          </a:avLst>
        </a:prstGeom>
        <a:solidFill>
          <a:schemeClr val="lt1">
            <a:alpha val="90000"/>
            <a:hueOff val="0"/>
            <a:satOff val="0"/>
            <a:lumOff val="0"/>
            <a:alphaOff val="0"/>
          </a:schemeClr>
        </a:solidFill>
        <a:ln w="25400" cap="flat" cmpd="sng" algn="ctr">
          <a:solidFill>
            <a:schemeClr val="accent2">
              <a:alpha val="90000"/>
              <a:hueOff val="0"/>
              <a:satOff val="0"/>
              <a:lumOff val="0"/>
              <a:alphaOff val="-1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Set up tracking</a:t>
          </a:r>
        </a:p>
      </dsp:txBody>
      <dsp:txXfrm>
        <a:off x="3190665" y="1220213"/>
        <a:ext cx="1466942" cy="895933"/>
      </dsp:txXfrm>
    </dsp:sp>
    <dsp:sp modelId="{3BA44247-F4E9-4AC4-8964-38CA4F3A8220}">
      <dsp:nvSpPr>
        <dsp:cNvPr id="0" name=""/>
        <dsp:cNvSpPr/>
      </dsp:nvSpPr>
      <dsp:spPr>
        <a:xfrm>
          <a:off x="2972454" y="954419"/>
          <a:ext cx="190336" cy="1903362"/>
        </a:xfrm>
        <a:custGeom>
          <a:avLst/>
          <a:gdLst/>
          <a:ahLst/>
          <a:cxnLst/>
          <a:rect l="0" t="0" r="0" b="0"/>
          <a:pathLst>
            <a:path>
              <a:moveTo>
                <a:pt x="0" y="0"/>
              </a:moveTo>
              <a:lnTo>
                <a:pt x="0" y="1903362"/>
              </a:lnTo>
              <a:lnTo>
                <a:pt x="190336" y="1903362"/>
              </a:lnTo>
            </a:path>
          </a:pathLst>
        </a:custGeom>
        <a:noFill/>
        <a:ln w="25400" cap="flat"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E7A5EDD-FF34-4A16-B03B-6A99BDA09758}">
      <dsp:nvSpPr>
        <dsp:cNvPr id="0" name=""/>
        <dsp:cNvSpPr/>
      </dsp:nvSpPr>
      <dsp:spPr>
        <a:xfrm>
          <a:off x="3162791" y="2381941"/>
          <a:ext cx="1522690" cy="951681"/>
        </a:xfrm>
        <a:prstGeom prst="roundRect">
          <a:avLst>
            <a:gd name="adj" fmla="val 10000"/>
          </a:avLst>
        </a:prstGeom>
        <a:solidFill>
          <a:schemeClr val="lt1">
            <a:alpha val="90000"/>
            <a:hueOff val="0"/>
            <a:satOff val="0"/>
            <a:lumOff val="0"/>
            <a:alphaOff val="0"/>
          </a:schemeClr>
        </a:solidFill>
        <a:ln w="25400" cap="flat" cmpd="sng" algn="ctr">
          <a:solidFill>
            <a:schemeClr val="accent2">
              <a:alpha val="90000"/>
              <a:hueOff val="0"/>
              <a:satOff val="0"/>
              <a:lumOff val="0"/>
              <a:alphaOff val="-2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Upgrade compilers</a:t>
          </a:r>
        </a:p>
      </dsp:txBody>
      <dsp:txXfrm>
        <a:off x="3190665" y="2409815"/>
        <a:ext cx="1466942" cy="895933"/>
      </dsp:txXfrm>
    </dsp:sp>
    <dsp:sp modelId="{19411D1D-DFF5-4A27-B992-FE9CB6A6844C}">
      <dsp:nvSpPr>
        <dsp:cNvPr id="0" name=""/>
        <dsp:cNvSpPr/>
      </dsp:nvSpPr>
      <dsp:spPr>
        <a:xfrm>
          <a:off x="2972454" y="954419"/>
          <a:ext cx="190336" cy="3092964"/>
        </a:xfrm>
        <a:custGeom>
          <a:avLst/>
          <a:gdLst/>
          <a:ahLst/>
          <a:cxnLst/>
          <a:rect l="0" t="0" r="0" b="0"/>
          <a:pathLst>
            <a:path>
              <a:moveTo>
                <a:pt x="0" y="0"/>
              </a:moveTo>
              <a:lnTo>
                <a:pt x="0" y="3092964"/>
              </a:lnTo>
              <a:lnTo>
                <a:pt x="190336" y="3092964"/>
              </a:lnTo>
            </a:path>
          </a:pathLst>
        </a:custGeom>
        <a:noFill/>
        <a:ln w="25400" cap="flat"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A2331DD-F5B5-415E-9BC8-92DDE145D6B9}">
      <dsp:nvSpPr>
        <dsp:cNvPr id="0" name=""/>
        <dsp:cNvSpPr/>
      </dsp:nvSpPr>
      <dsp:spPr>
        <a:xfrm>
          <a:off x="3162791" y="3571543"/>
          <a:ext cx="1522690" cy="951681"/>
        </a:xfrm>
        <a:prstGeom prst="roundRect">
          <a:avLst>
            <a:gd name="adj" fmla="val 10000"/>
          </a:avLst>
        </a:prstGeom>
        <a:solidFill>
          <a:schemeClr val="lt1">
            <a:alpha val="90000"/>
            <a:hueOff val="0"/>
            <a:satOff val="0"/>
            <a:lumOff val="0"/>
            <a:alphaOff val="0"/>
          </a:schemeClr>
        </a:solidFill>
        <a:ln w="25400" cap="flat" cmpd="sng" algn="ctr">
          <a:solidFill>
            <a:schemeClr val="accent2">
              <a:alpha val="90000"/>
              <a:hueOff val="0"/>
              <a:satOff val="0"/>
              <a:lumOff val="0"/>
              <a:alphaOff val="-2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etc...</a:t>
          </a:r>
        </a:p>
      </dsp:txBody>
      <dsp:txXfrm>
        <a:off x="3190665" y="3599417"/>
        <a:ext cx="1466942" cy="895933"/>
      </dsp:txXfrm>
    </dsp:sp>
    <dsp:sp modelId="{D7ADADC1-BBD0-45D9-A616-1065DA431FA6}">
      <dsp:nvSpPr>
        <dsp:cNvPr id="0" name=""/>
        <dsp:cNvSpPr/>
      </dsp:nvSpPr>
      <dsp:spPr>
        <a:xfrm>
          <a:off x="5161322" y="2738"/>
          <a:ext cx="1903362" cy="951681"/>
        </a:xfrm>
        <a:prstGeom prst="roundRect">
          <a:avLst>
            <a:gd name="adj" fmla="val 10000"/>
          </a:avLst>
        </a:prstGeom>
        <a:solidFill>
          <a:schemeClr val="accent2">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245" tIns="36830" rIns="55245" bIns="36830" numCol="1" spcCol="1270" anchor="ctr" anchorCtr="0">
          <a:noAutofit/>
        </a:bodyPr>
        <a:lstStyle/>
        <a:p>
          <a:pPr marL="0" lvl="0" indent="0" algn="ctr" defTabSz="1289050">
            <a:lnSpc>
              <a:spcPct val="90000"/>
            </a:lnSpc>
            <a:spcBef>
              <a:spcPct val="0"/>
            </a:spcBef>
            <a:spcAft>
              <a:spcPct val="35000"/>
            </a:spcAft>
            <a:buNone/>
          </a:pPr>
          <a:r>
            <a:rPr lang="en-US" sz="2900" kern="1200" dirty="0"/>
            <a:t>Bucket</a:t>
          </a:r>
        </a:p>
      </dsp:txBody>
      <dsp:txXfrm>
        <a:off x="5189196" y="30612"/>
        <a:ext cx="1847614" cy="895933"/>
      </dsp:txXfrm>
    </dsp:sp>
    <dsp:sp modelId="{91516C30-96DD-4B64-B44A-48DAC6979AB7}">
      <dsp:nvSpPr>
        <dsp:cNvPr id="0" name=""/>
        <dsp:cNvSpPr/>
      </dsp:nvSpPr>
      <dsp:spPr>
        <a:xfrm>
          <a:off x="5351658" y="954419"/>
          <a:ext cx="190336" cy="713761"/>
        </a:xfrm>
        <a:custGeom>
          <a:avLst/>
          <a:gdLst/>
          <a:ahLst/>
          <a:cxnLst/>
          <a:rect l="0" t="0" r="0" b="0"/>
          <a:pathLst>
            <a:path>
              <a:moveTo>
                <a:pt x="0" y="0"/>
              </a:moveTo>
              <a:lnTo>
                <a:pt x="0" y="713761"/>
              </a:lnTo>
              <a:lnTo>
                <a:pt x="190336" y="713761"/>
              </a:lnTo>
            </a:path>
          </a:pathLst>
        </a:custGeom>
        <a:noFill/>
        <a:ln w="25400" cap="flat"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8DC12AE-603F-4AC6-8A93-D3148FD67410}">
      <dsp:nvSpPr>
        <dsp:cNvPr id="0" name=""/>
        <dsp:cNvSpPr/>
      </dsp:nvSpPr>
      <dsp:spPr>
        <a:xfrm>
          <a:off x="5541994" y="1192339"/>
          <a:ext cx="1522690" cy="951681"/>
        </a:xfrm>
        <a:prstGeom prst="roundRect">
          <a:avLst>
            <a:gd name="adj" fmla="val 10000"/>
          </a:avLst>
        </a:prstGeom>
        <a:solidFill>
          <a:schemeClr val="lt1">
            <a:alpha val="90000"/>
            <a:hueOff val="0"/>
            <a:satOff val="0"/>
            <a:lumOff val="0"/>
            <a:alphaOff val="0"/>
          </a:schemeClr>
        </a:solidFill>
        <a:ln w="25400" cap="flat" cmpd="sng" algn="ctr">
          <a:solidFill>
            <a:schemeClr val="accent2">
              <a:alpha val="90000"/>
              <a:hueOff val="0"/>
              <a:satOff val="0"/>
              <a:lumOff val="0"/>
              <a:alphaOff val="-3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Fuzz parsers</a:t>
          </a:r>
        </a:p>
      </dsp:txBody>
      <dsp:txXfrm>
        <a:off x="5569868" y="1220213"/>
        <a:ext cx="1466942" cy="895933"/>
      </dsp:txXfrm>
    </dsp:sp>
    <dsp:sp modelId="{2DE2173B-8D24-4246-803B-E695F034FE8C}">
      <dsp:nvSpPr>
        <dsp:cNvPr id="0" name=""/>
        <dsp:cNvSpPr/>
      </dsp:nvSpPr>
      <dsp:spPr>
        <a:xfrm>
          <a:off x="5351658" y="954419"/>
          <a:ext cx="190336" cy="1903362"/>
        </a:xfrm>
        <a:custGeom>
          <a:avLst/>
          <a:gdLst/>
          <a:ahLst/>
          <a:cxnLst/>
          <a:rect l="0" t="0" r="0" b="0"/>
          <a:pathLst>
            <a:path>
              <a:moveTo>
                <a:pt x="0" y="0"/>
              </a:moveTo>
              <a:lnTo>
                <a:pt x="0" y="1903362"/>
              </a:lnTo>
              <a:lnTo>
                <a:pt x="190336" y="1903362"/>
              </a:lnTo>
            </a:path>
          </a:pathLst>
        </a:custGeom>
        <a:noFill/>
        <a:ln w="25400" cap="flat"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42CF637-22A3-415E-9835-F1DC790740EA}">
      <dsp:nvSpPr>
        <dsp:cNvPr id="0" name=""/>
        <dsp:cNvSpPr/>
      </dsp:nvSpPr>
      <dsp:spPr>
        <a:xfrm>
          <a:off x="5541994" y="2381941"/>
          <a:ext cx="1522690" cy="951681"/>
        </a:xfrm>
        <a:prstGeom prst="roundRect">
          <a:avLst>
            <a:gd name="adj" fmla="val 10000"/>
          </a:avLst>
        </a:prstGeom>
        <a:solidFill>
          <a:schemeClr val="lt1">
            <a:alpha val="90000"/>
            <a:hueOff val="0"/>
            <a:satOff val="0"/>
            <a:lumOff val="0"/>
            <a:alphaOff val="0"/>
          </a:schemeClr>
        </a:solidFill>
        <a:ln w="25400" cap="flat" cmpd="sng" algn="ctr">
          <a:solidFill>
            <a:schemeClr val="accent2">
              <a:alpha val="90000"/>
              <a:hueOff val="0"/>
              <a:satOff val="0"/>
              <a:lumOff val="0"/>
              <a:alphaOff val="-3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Create response plan</a:t>
          </a:r>
        </a:p>
      </dsp:txBody>
      <dsp:txXfrm>
        <a:off x="5569868" y="2409815"/>
        <a:ext cx="1466942" cy="895933"/>
      </dsp:txXfrm>
    </dsp:sp>
    <dsp:sp modelId="{03C1A4EF-C450-4D1C-B681-E6EB9D040F49}">
      <dsp:nvSpPr>
        <dsp:cNvPr id="0" name=""/>
        <dsp:cNvSpPr/>
      </dsp:nvSpPr>
      <dsp:spPr>
        <a:xfrm>
          <a:off x="5351658" y="954419"/>
          <a:ext cx="190336" cy="3092964"/>
        </a:xfrm>
        <a:custGeom>
          <a:avLst/>
          <a:gdLst/>
          <a:ahLst/>
          <a:cxnLst/>
          <a:rect l="0" t="0" r="0" b="0"/>
          <a:pathLst>
            <a:path>
              <a:moveTo>
                <a:pt x="0" y="0"/>
              </a:moveTo>
              <a:lnTo>
                <a:pt x="0" y="3092964"/>
              </a:lnTo>
              <a:lnTo>
                <a:pt x="190336" y="3092964"/>
              </a:lnTo>
            </a:path>
          </a:pathLst>
        </a:custGeom>
        <a:noFill/>
        <a:ln w="25400" cap="flat"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0CA1EEC-8131-4B2F-AAED-196D529F7999}">
      <dsp:nvSpPr>
        <dsp:cNvPr id="0" name=""/>
        <dsp:cNvSpPr/>
      </dsp:nvSpPr>
      <dsp:spPr>
        <a:xfrm>
          <a:off x="5541994" y="3571543"/>
          <a:ext cx="1522690" cy="951681"/>
        </a:xfrm>
        <a:prstGeom prst="roundRect">
          <a:avLst>
            <a:gd name="adj" fmla="val 10000"/>
          </a:avLst>
        </a:prstGeom>
        <a:solidFill>
          <a:schemeClr val="lt1">
            <a:alpha val="90000"/>
            <a:hueOff val="0"/>
            <a:satOff val="0"/>
            <a:lumOff val="0"/>
            <a:alphaOff val="0"/>
          </a:schemeClr>
        </a:solidFill>
        <a:ln w="25400" cap="flat" cmpd="sng" algn="ctr">
          <a:solidFill>
            <a:schemeClr val="accent2">
              <a:alpha val="90000"/>
              <a:hueOff val="0"/>
              <a:satOff val="0"/>
              <a:lumOff val="0"/>
              <a:alphaOff val="-4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etc…</a:t>
          </a:r>
        </a:p>
      </dsp:txBody>
      <dsp:txXfrm>
        <a:off x="5569868" y="3599417"/>
        <a:ext cx="1466942" cy="89593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455C04-194A-4A71-8822-7F82560AF3D0}" type="datetimeFigureOut">
              <a:rPr lang="es-ES" smtClean="0"/>
              <a:t>17/02/2017</a:t>
            </a:fld>
            <a:endParaRPr lang="es-E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64AA158-4D4D-427B-8540-6E8BBC9EB3DF}" type="slidenum">
              <a:rPr lang="es-ES" smtClean="0"/>
              <a:t>‹Nº›</a:t>
            </a:fld>
            <a:endParaRPr lang="es-ES"/>
          </a:p>
        </p:txBody>
      </p:sp>
    </p:spTree>
    <p:extLst>
      <p:ext uri="{BB962C8B-B14F-4D97-AF65-F5344CB8AC3E}">
        <p14:creationId xmlns:p14="http://schemas.microsoft.com/office/powerpoint/2010/main" val="4101064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_Procedimiento_15_de"/><Relationship Id="rId2" Type="http://schemas.openxmlformats.org/officeDocument/2006/relationships/slide" Target="../slides/slide8.xml"/><Relationship Id="rId1" Type="http://schemas.openxmlformats.org/officeDocument/2006/relationships/notesMaster" Target="../notesMasters/notesMaster1.xml"/><Relationship Id="rId5" Type="http://schemas.openxmlformats.org/officeDocument/2006/relationships/hyperlink" Target="#_Procedimiento_12_de"/><Relationship Id="rId4" Type="http://schemas.openxmlformats.org/officeDocument/2006/relationships/hyperlink" Target="#_Procedimiento_7_de"/></Relationships>
</file>

<file path=ppt/notesSlides/_rels/notesSlide4.xml.rels><?xml version="1.0" encoding="UTF-8" standalone="yes"?>
<Relationships xmlns="http://schemas.openxmlformats.org/package/2006/relationships"><Relationship Id="rId3" Type="http://schemas.openxmlformats.org/officeDocument/2006/relationships/hyperlink" Target="#_Procedimiento_15_de"/><Relationship Id="rId2" Type="http://schemas.openxmlformats.org/officeDocument/2006/relationships/slide" Target="../slides/slide9.xml"/><Relationship Id="rId1" Type="http://schemas.openxmlformats.org/officeDocument/2006/relationships/notesMaster" Target="../notesMasters/notesMaster1.xml"/><Relationship Id="rId5" Type="http://schemas.openxmlformats.org/officeDocument/2006/relationships/hyperlink" Target="#_Procedimiento_12_de"/><Relationship Id="rId4" Type="http://schemas.openxmlformats.org/officeDocument/2006/relationships/hyperlink" Target="#_Procedimiento_7_de"/></Relationships>
</file>

<file path=ppt/notesSlides/_rels/notesSlide5.xml.rels><?xml version="1.0" encoding="UTF-8" standalone="yes"?>
<Relationships xmlns="http://schemas.openxmlformats.org/package/2006/relationships"><Relationship Id="rId3" Type="http://schemas.openxmlformats.org/officeDocument/2006/relationships/hyperlink" Target="#_Procedimiento_15_de"/><Relationship Id="rId2" Type="http://schemas.openxmlformats.org/officeDocument/2006/relationships/slide" Target="../slides/slide10.xml"/><Relationship Id="rId1" Type="http://schemas.openxmlformats.org/officeDocument/2006/relationships/notesMaster" Target="../notesMasters/notesMaster1.xml"/><Relationship Id="rId5" Type="http://schemas.openxmlformats.org/officeDocument/2006/relationships/hyperlink" Target="#_Procedimiento_12_de"/><Relationship Id="rId4" Type="http://schemas.openxmlformats.org/officeDocument/2006/relationships/hyperlink" Target="#_Procedimiento_7_de"/></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_Procedimiento_15_de"/><Relationship Id="rId2" Type="http://schemas.openxmlformats.org/officeDocument/2006/relationships/slide" Target="../slides/slide12.xml"/><Relationship Id="rId1" Type="http://schemas.openxmlformats.org/officeDocument/2006/relationships/notesMaster" Target="../notesMasters/notesMaster1.xml"/><Relationship Id="rId5" Type="http://schemas.openxmlformats.org/officeDocument/2006/relationships/hyperlink" Target="#_Procedimiento_12_de"/><Relationship Id="rId4" Type="http://schemas.openxmlformats.org/officeDocument/2006/relationships/hyperlink" Target="#_Procedimiento_7_de"/></Relationships>
</file>

<file path=ppt/notesSlides/_rels/notesSlide8.xml.rels><?xml version="1.0" encoding="UTF-8" standalone="yes"?>
<Relationships xmlns="http://schemas.openxmlformats.org/package/2006/relationships"><Relationship Id="rId3" Type="http://schemas.openxmlformats.org/officeDocument/2006/relationships/hyperlink" Target="#_Procedimiento_15_de"/><Relationship Id="rId2" Type="http://schemas.openxmlformats.org/officeDocument/2006/relationships/slide" Target="../slides/slide13.xml"/><Relationship Id="rId1" Type="http://schemas.openxmlformats.org/officeDocument/2006/relationships/notesMaster" Target="../notesMasters/notesMaster1.xml"/><Relationship Id="rId5" Type="http://schemas.openxmlformats.org/officeDocument/2006/relationships/hyperlink" Target="#_Procedimiento_12_de"/><Relationship Id="rId4" Type="http://schemas.openxmlformats.org/officeDocument/2006/relationships/hyperlink" Target="#_Procedimiento_7_de"/></Relationships>
</file>

<file path=ppt/notesSlides/_rels/notesSlide9.xml.rels><?xml version="1.0" encoding="UTF-8" standalone="yes"?>
<Relationships xmlns="http://schemas.openxmlformats.org/package/2006/relationships"><Relationship Id="rId3" Type="http://schemas.openxmlformats.org/officeDocument/2006/relationships/hyperlink" Target="#_Procedimiento_15_de"/><Relationship Id="rId2" Type="http://schemas.openxmlformats.org/officeDocument/2006/relationships/slide" Target="../slides/slide14.xml"/><Relationship Id="rId1" Type="http://schemas.openxmlformats.org/officeDocument/2006/relationships/notesMaster" Target="../notesMasters/notesMaster1.xml"/><Relationship Id="rId5" Type="http://schemas.openxmlformats.org/officeDocument/2006/relationships/hyperlink" Target="#_Procedimiento_12_de"/><Relationship Id="rId4" Type="http://schemas.openxmlformats.org/officeDocument/2006/relationships/hyperlink" Target="#_Procedimiento_7_de"/></Relationships>
</file>

<file path=ppt/notesSlides/_rels/notesSlide10.xml.rels><?xml version="1.0" encoding="UTF-8" standalone="yes"?>
<Relationships xmlns="http://schemas.openxmlformats.org/package/2006/relationships"><Relationship Id="rId3" Type="http://schemas.openxmlformats.org/officeDocument/2006/relationships/hyperlink" Target="#_Procedimiento_15_de"/><Relationship Id="rId2" Type="http://schemas.openxmlformats.org/officeDocument/2006/relationships/slide" Target="../slides/slide15.xml"/><Relationship Id="rId1" Type="http://schemas.openxmlformats.org/officeDocument/2006/relationships/notesMaster" Target="../notesMasters/notesMaster1.xml"/><Relationship Id="rId5" Type="http://schemas.openxmlformats.org/officeDocument/2006/relationships/hyperlink" Target="#_Procedimiento_12_de"/><Relationship Id="rId4" Type="http://schemas.openxmlformats.org/officeDocument/2006/relationships/hyperlink" Target="#_Procedimiento_7_de"/></Relationships>
</file>

<file path=ppt/notesSlides/_rels/notesSlide11.xml.rels><?xml version="1.0" encoding="UTF-8" standalone="yes"?>
<Relationships xmlns="http://schemas.openxmlformats.org/package/2006/relationships"><Relationship Id="rId3" Type="http://schemas.openxmlformats.org/officeDocument/2006/relationships/hyperlink" Target="#_Procedimiento_15_de"/><Relationship Id="rId2" Type="http://schemas.openxmlformats.org/officeDocument/2006/relationships/slide" Target="../slides/slide16.xml"/><Relationship Id="rId1" Type="http://schemas.openxmlformats.org/officeDocument/2006/relationships/notesMaster" Target="../notesMasters/notesMaster1.xml"/><Relationship Id="rId5" Type="http://schemas.openxmlformats.org/officeDocument/2006/relationships/hyperlink" Target="#_Procedimiento_12_de"/><Relationship Id="rId4" Type="http://schemas.openxmlformats.org/officeDocument/2006/relationships/hyperlink" Target="#_Procedimiento_7_de"/></Relationships>
</file>

<file path=ppt/notesSlides/_rels/notesSlide12.xml.rels><?xml version="1.0" encoding="UTF-8" standalone="yes"?>
<Relationships xmlns="http://schemas.openxmlformats.org/package/2006/relationships"><Relationship Id="rId3" Type="http://schemas.openxmlformats.org/officeDocument/2006/relationships/hyperlink" Target="#_Procedimiento_15_de"/><Relationship Id="rId2" Type="http://schemas.openxmlformats.org/officeDocument/2006/relationships/slide" Target="../slides/slide17.xml"/><Relationship Id="rId1" Type="http://schemas.openxmlformats.org/officeDocument/2006/relationships/notesMaster" Target="../notesMasters/notesMaster1.xml"/><Relationship Id="rId5" Type="http://schemas.openxmlformats.org/officeDocument/2006/relationships/hyperlink" Target="#_Procedimiento_12_de"/><Relationship Id="rId4" Type="http://schemas.openxmlformats.org/officeDocument/2006/relationships/hyperlink" Target="#_Procedimiento_7_de"/></Relationships>
</file>

<file path=ppt/notesSlides/_rels/notesSlide13.xml.rels><?xml version="1.0" encoding="UTF-8" standalone="yes"?>
<Relationships xmlns="http://schemas.openxmlformats.org/package/2006/relationships"><Relationship Id="rId3" Type="http://schemas.openxmlformats.org/officeDocument/2006/relationships/hyperlink" Target="#_Procedimiento_15_de"/><Relationship Id="rId2" Type="http://schemas.openxmlformats.org/officeDocument/2006/relationships/slide" Target="../slides/slide18.xml"/><Relationship Id="rId1" Type="http://schemas.openxmlformats.org/officeDocument/2006/relationships/notesMaster" Target="../notesMasters/notesMaster1.xml"/><Relationship Id="rId5" Type="http://schemas.openxmlformats.org/officeDocument/2006/relationships/hyperlink" Target="#_Procedimiento_12_de"/><Relationship Id="rId4" Type="http://schemas.openxmlformats.org/officeDocument/2006/relationships/hyperlink" Target="#_Procedimiento_7_de"/></Relationships>
</file>

<file path=ppt/notesSlides/_rels/notesSlide14.xml.rels><?xml version="1.0" encoding="UTF-8" standalone="yes"?>
<Relationships xmlns="http://schemas.openxmlformats.org/package/2006/relationships"><Relationship Id="rId3" Type="http://schemas.openxmlformats.org/officeDocument/2006/relationships/hyperlink" Target="#_Procedimiento_15_de"/><Relationship Id="rId2" Type="http://schemas.openxmlformats.org/officeDocument/2006/relationships/slide" Target="../slides/slide19.xml"/><Relationship Id="rId1" Type="http://schemas.openxmlformats.org/officeDocument/2006/relationships/notesMaster" Target="../notesMasters/notesMaster1.xml"/><Relationship Id="rId5" Type="http://schemas.openxmlformats.org/officeDocument/2006/relationships/hyperlink" Target="#_Procedimiento_12_de"/><Relationship Id="rId4" Type="http://schemas.openxmlformats.org/officeDocument/2006/relationships/hyperlink" Target="#_Procedimiento_7_de"/></Relationships>
</file>

<file path=ppt/notesSlides/_rels/notesSlide15.xml.rels><?xml version="1.0" encoding="UTF-8" standalone="yes"?>
<Relationships xmlns="http://schemas.openxmlformats.org/package/2006/relationships"><Relationship Id="rId3" Type="http://schemas.openxmlformats.org/officeDocument/2006/relationships/hyperlink" Target="#_Procedimiento_15_de"/><Relationship Id="rId2" Type="http://schemas.openxmlformats.org/officeDocument/2006/relationships/slide" Target="../slides/slide20.xml"/><Relationship Id="rId1" Type="http://schemas.openxmlformats.org/officeDocument/2006/relationships/notesMaster" Target="../notesMasters/notesMaster1.xml"/><Relationship Id="rId5" Type="http://schemas.openxmlformats.org/officeDocument/2006/relationships/hyperlink" Target="#_Procedimiento_12_de"/><Relationship Id="rId4" Type="http://schemas.openxmlformats.org/officeDocument/2006/relationships/hyperlink" Target="#_Procedimiento_7_de"/></Relationships>
</file>

<file path=ppt/notesSlides/_rels/notesSlide16.xml.rels><?xml version="1.0" encoding="UTF-8" standalone="yes"?>
<Relationships xmlns="http://schemas.openxmlformats.org/package/2006/relationships"><Relationship Id="rId3" Type="http://schemas.openxmlformats.org/officeDocument/2006/relationships/hyperlink" Target="#_Procedimiento_15_de"/><Relationship Id="rId2" Type="http://schemas.openxmlformats.org/officeDocument/2006/relationships/slide" Target="../slides/slide21.xml"/><Relationship Id="rId1" Type="http://schemas.openxmlformats.org/officeDocument/2006/relationships/notesMaster" Target="../notesMasters/notesMaster1.xml"/><Relationship Id="rId5" Type="http://schemas.openxmlformats.org/officeDocument/2006/relationships/hyperlink" Target="#_Procedimiento_12_de"/><Relationship Id="rId4" Type="http://schemas.openxmlformats.org/officeDocument/2006/relationships/hyperlink" Target="#_Procedimiento_7_de"/></Relationships>
</file>

<file path=ppt/notesSlides/_rels/notesSlide17.xml.rels><?xml version="1.0" encoding="UTF-8" standalone="yes"?>
<Relationships xmlns="http://schemas.openxmlformats.org/package/2006/relationships"><Relationship Id="rId3" Type="http://schemas.openxmlformats.org/officeDocument/2006/relationships/hyperlink" Target="#_Procedimiento_15_de"/><Relationship Id="rId2" Type="http://schemas.openxmlformats.org/officeDocument/2006/relationships/slide" Target="../slides/slide22.xml"/><Relationship Id="rId1" Type="http://schemas.openxmlformats.org/officeDocument/2006/relationships/notesMaster" Target="../notesMasters/notesMaster1.xml"/><Relationship Id="rId5" Type="http://schemas.openxmlformats.org/officeDocument/2006/relationships/hyperlink" Target="#_Procedimiento_12_de"/><Relationship Id="rId4" Type="http://schemas.openxmlformats.org/officeDocument/2006/relationships/hyperlink" Target="#_Procedimiento_7_de"/></Relationships>
</file>

<file path=ppt/notesSlides/_rels/notesSlide18.xml.rels><?xml version="1.0" encoding="UTF-8" standalone="yes"?>
<Relationships xmlns="http://schemas.openxmlformats.org/package/2006/relationships"><Relationship Id="rId3" Type="http://schemas.openxmlformats.org/officeDocument/2006/relationships/hyperlink" Target="#_Procedimiento_15_de"/><Relationship Id="rId2" Type="http://schemas.openxmlformats.org/officeDocument/2006/relationships/slide" Target="../slides/slide23.xml"/><Relationship Id="rId1" Type="http://schemas.openxmlformats.org/officeDocument/2006/relationships/notesMaster" Target="../notesMasters/notesMaster1.xml"/><Relationship Id="rId5" Type="http://schemas.openxmlformats.org/officeDocument/2006/relationships/hyperlink" Target="#_Procedimiento_12_de"/><Relationship Id="rId4" Type="http://schemas.openxmlformats.org/officeDocument/2006/relationships/hyperlink" Target="#_Procedimiento_7_de"/></Relationships>
</file>

<file path=ppt/notesSlides/_rels/notesSlide19.xml.rels><?xml version="1.0" encoding="UTF-8" standalone="yes"?>
<Relationships xmlns="http://schemas.openxmlformats.org/package/2006/relationships"><Relationship Id="rId3" Type="http://schemas.openxmlformats.org/officeDocument/2006/relationships/hyperlink" Target="#_Procedimiento_15_de"/><Relationship Id="rId2" Type="http://schemas.openxmlformats.org/officeDocument/2006/relationships/slide" Target="../slides/slide24.xml"/><Relationship Id="rId1" Type="http://schemas.openxmlformats.org/officeDocument/2006/relationships/notesMaster" Target="../notesMasters/notesMaster1.xml"/><Relationship Id="rId5" Type="http://schemas.openxmlformats.org/officeDocument/2006/relationships/hyperlink" Target="#_Procedimiento_12_de"/><Relationship Id="rId4" Type="http://schemas.openxmlformats.org/officeDocument/2006/relationships/hyperlink" Target="#_Procedimiento_7_de"/></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_Procedimiento_15_de"/><Relationship Id="rId2" Type="http://schemas.openxmlformats.org/officeDocument/2006/relationships/slide" Target="../slides/slide29.xml"/><Relationship Id="rId1" Type="http://schemas.openxmlformats.org/officeDocument/2006/relationships/notesMaster" Target="../notesMasters/notesMaster1.xml"/><Relationship Id="rId5" Type="http://schemas.openxmlformats.org/officeDocument/2006/relationships/hyperlink" Target="#_Procedimiento_12_de"/><Relationship Id="rId4" Type="http://schemas.openxmlformats.org/officeDocument/2006/relationships/hyperlink" Target="#_Procedimiento_7_de"/></Relationships>
</file>

<file path=ppt/notesSlides/_rels/notesSlide23.xml.rels><?xml version="1.0" encoding="UTF-8" standalone="yes"?>
<Relationships xmlns="http://schemas.openxmlformats.org/package/2006/relationships"><Relationship Id="rId3" Type="http://schemas.openxmlformats.org/officeDocument/2006/relationships/hyperlink" Target="#_Procedimiento_15_de"/><Relationship Id="rId2" Type="http://schemas.openxmlformats.org/officeDocument/2006/relationships/slide" Target="../slides/slide30.xml"/><Relationship Id="rId1" Type="http://schemas.openxmlformats.org/officeDocument/2006/relationships/notesMaster" Target="../notesMasters/notesMaster1.xml"/><Relationship Id="rId5" Type="http://schemas.openxmlformats.org/officeDocument/2006/relationships/hyperlink" Target="#_Procedimiento_12_de"/><Relationship Id="rId4" Type="http://schemas.openxmlformats.org/officeDocument/2006/relationships/hyperlink" Target="#_Procedimiento_7_de"/></Relationships>
</file>

<file path=ppt/notesSlides/_rels/notesSlide24.xml.rels><?xml version="1.0" encoding="UTF-8" standalone="yes"?>
<Relationships xmlns="http://schemas.openxmlformats.org/package/2006/relationships"><Relationship Id="rId3" Type="http://schemas.openxmlformats.org/officeDocument/2006/relationships/hyperlink" Target="#_Procedimiento_15_de"/><Relationship Id="rId2" Type="http://schemas.openxmlformats.org/officeDocument/2006/relationships/slide" Target="../slides/slide31.xml"/><Relationship Id="rId1" Type="http://schemas.openxmlformats.org/officeDocument/2006/relationships/notesMaster" Target="../notesMasters/notesMaster1.xml"/><Relationship Id="rId5" Type="http://schemas.openxmlformats.org/officeDocument/2006/relationships/hyperlink" Target="#_Procedimiento_12_de"/><Relationship Id="rId4" Type="http://schemas.openxmlformats.org/officeDocument/2006/relationships/hyperlink" Target="#_Procedimiento_7_de"/></Relationships>
</file>

<file path=ppt/notesSlides/_rels/notesSlide25.xml.rels><?xml version="1.0" encoding="UTF-8" standalone="yes"?>
<Relationships xmlns="http://schemas.openxmlformats.org/package/2006/relationships"><Relationship Id="rId3" Type="http://schemas.openxmlformats.org/officeDocument/2006/relationships/hyperlink" Target="#_Procedimiento_15_de"/><Relationship Id="rId2" Type="http://schemas.openxmlformats.org/officeDocument/2006/relationships/slide" Target="../slides/slide32.xml"/><Relationship Id="rId1" Type="http://schemas.openxmlformats.org/officeDocument/2006/relationships/notesMaster" Target="../notesMasters/notesMaster1.xml"/><Relationship Id="rId5" Type="http://schemas.openxmlformats.org/officeDocument/2006/relationships/hyperlink" Target="#_Procedimiento_12_de"/><Relationship Id="rId4" Type="http://schemas.openxmlformats.org/officeDocument/2006/relationships/hyperlink" Target="#_Procedimiento_7_de"/></Relationships>
</file>

<file path=ppt/notesSlides/_rels/notesSlide26.xml.rels><?xml version="1.0" encoding="UTF-8" standalone="yes"?>
<Relationships xmlns="http://schemas.openxmlformats.org/package/2006/relationships"><Relationship Id="rId3" Type="http://schemas.openxmlformats.org/officeDocument/2006/relationships/hyperlink" Target="#_Procedimiento_15_de"/><Relationship Id="rId2" Type="http://schemas.openxmlformats.org/officeDocument/2006/relationships/slide" Target="../slides/slide33.xml"/><Relationship Id="rId1" Type="http://schemas.openxmlformats.org/officeDocument/2006/relationships/notesMaster" Target="../notesMasters/notesMaster1.xml"/><Relationship Id="rId5" Type="http://schemas.openxmlformats.org/officeDocument/2006/relationships/hyperlink" Target="#_Procedimiento_12_de"/><Relationship Id="rId4" Type="http://schemas.openxmlformats.org/officeDocument/2006/relationships/hyperlink" Target="#_Procedimiento_7_de"/></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lvl="0"/>
            <a:r>
              <a:rPr lang="es-ES" sz="1200" kern="1200" dirty="0">
                <a:solidFill>
                  <a:schemeClr val="tx1"/>
                </a:solidFill>
                <a:effectLst/>
                <a:latin typeface="+mn-lt"/>
                <a:ea typeface="+mn-ea"/>
                <a:cs typeface="+mn-cs"/>
              </a:rPr>
              <a:t>Diseño seguro, incluidos los siguientes temas:</a:t>
            </a:r>
          </a:p>
          <a:p>
            <a:pPr lvl="1"/>
            <a:r>
              <a:rPr lang="es-ES" sz="1200" kern="1200" dirty="0">
                <a:solidFill>
                  <a:schemeClr val="tx1"/>
                </a:solidFill>
                <a:effectLst/>
                <a:latin typeface="+mn-lt"/>
                <a:ea typeface="+mn-ea"/>
                <a:cs typeface="+mn-cs"/>
              </a:rPr>
              <a:t>Reducción de la superficie de ataques</a:t>
            </a:r>
          </a:p>
          <a:p>
            <a:pPr lvl="1"/>
            <a:r>
              <a:rPr lang="en-US" sz="1200" kern="1200" dirty="0" err="1">
                <a:solidFill>
                  <a:schemeClr val="tx1"/>
                </a:solidFill>
                <a:effectLst/>
                <a:latin typeface="+mn-lt"/>
                <a:ea typeface="+mn-ea"/>
                <a:cs typeface="+mn-cs"/>
              </a:rPr>
              <a:t>Defensa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profundidad</a:t>
            </a:r>
            <a:endParaRPr lang="es-E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Principio de </a:t>
            </a:r>
            <a:r>
              <a:rPr lang="en-US" sz="1200" kern="1200" dirty="0" err="1">
                <a:solidFill>
                  <a:schemeClr val="tx1"/>
                </a:solidFill>
                <a:effectLst/>
                <a:latin typeface="+mn-lt"/>
                <a:ea typeface="+mn-ea"/>
                <a:cs typeface="+mn-cs"/>
              </a:rPr>
              <a:t>privilegios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mínimos</a:t>
            </a:r>
            <a:endParaRPr lang="es-ES" sz="1200" kern="1200" dirty="0">
              <a:solidFill>
                <a:schemeClr val="tx1"/>
              </a:solidFill>
              <a:effectLst/>
              <a:latin typeface="+mn-lt"/>
              <a:ea typeface="+mn-ea"/>
              <a:cs typeface="+mn-cs"/>
            </a:endParaRPr>
          </a:p>
          <a:p>
            <a:pPr lvl="1"/>
            <a:r>
              <a:rPr lang="en-US" sz="1200" kern="1200" dirty="0" err="1">
                <a:solidFill>
                  <a:schemeClr val="tx1"/>
                </a:solidFill>
                <a:effectLst/>
                <a:latin typeface="+mn-lt"/>
                <a:ea typeface="+mn-ea"/>
                <a:cs typeface="+mn-cs"/>
              </a:rPr>
              <a:t>Configuraciones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predeterminadas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seguras</a:t>
            </a:r>
            <a:endParaRPr lang="es-ES"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Modelos de riesgos, incluidos los siguientes temas:</a:t>
            </a:r>
          </a:p>
          <a:p>
            <a:pPr lvl="1"/>
            <a:r>
              <a:rPr lang="es-ES" sz="1200" kern="1200" dirty="0">
                <a:solidFill>
                  <a:schemeClr val="tx1"/>
                </a:solidFill>
                <a:effectLst/>
                <a:latin typeface="+mn-lt"/>
                <a:ea typeface="+mn-ea"/>
                <a:cs typeface="+mn-cs"/>
              </a:rPr>
              <a:t>Información general sobre los modelos de riesgos</a:t>
            </a:r>
          </a:p>
          <a:p>
            <a:pPr lvl="1"/>
            <a:r>
              <a:rPr lang="es-ES" sz="1200" kern="1200" dirty="0">
                <a:solidFill>
                  <a:schemeClr val="tx1"/>
                </a:solidFill>
                <a:effectLst/>
                <a:latin typeface="+mn-lt"/>
                <a:ea typeface="+mn-ea"/>
                <a:cs typeface="+mn-cs"/>
              </a:rPr>
              <a:t>Implicaciones de diseño de un modelo de riesgos</a:t>
            </a:r>
          </a:p>
          <a:p>
            <a:pPr lvl="1"/>
            <a:r>
              <a:rPr lang="es-ES" sz="1200" kern="1200" dirty="0">
                <a:solidFill>
                  <a:schemeClr val="tx1"/>
                </a:solidFill>
                <a:effectLst/>
                <a:latin typeface="+mn-lt"/>
                <a:ea typeface="+mn-ea"/>
                <a:cs typeface="+mn-cs"/>
              </a:rPr>
              <a:t>Restricciones de codificación basadas en un modelo de riesgos</a:t>
            </a:r>
          </a:p>
          <a:p>
            <a:pPr lvl="0"/>
            <a:r>
              <a:rPr lang="es-ES" sz="1200" kern="1200" dirty="0">
                <a:solidFill>
                  <a:schemeClr val="tx1"/>
                </a:solidFill>
                <a:effectLst/>
                <a:latin typeface="+mn-lt"/>
                <a:ea typeface="+mn-ea"/>
                <a:cs typeface="+mn-cs"/>
              </a:rPr>
              <a:t>Codificación segura, incluidos los siguientes temas:</a:t>
            </a:r>
          </a:p>
          <a:p>
            <a:pPr lvl="1"/>
            <a:r>
              <a:rPr lang="es-ES" sz="1200" kern="1200" dirty="0">
                <a:solidFill>
                  <a:schemeClr val="tx1"/>
                </a:solidFill>
                <a:effectLst/>
                <a:latin typeface="+mn-lt"/>
                <a:ea typeface="+mn-ea"/>
                <a:cs typeface="+mn-cs"/>
              </a:rPr>
              <a:t>Saturaciones de búfer (para aplicaciones que usen C y C++)</a:t>
            </a:r>
          </a:p>
          <a:p>
            <a:pPr lvl="1"/>
            <a:r>
              <a:rPr lang="es-ES" sz="1200" kern="1200" dirty="0">
                <a:solidFill>
                  <a:schemeClr val="tx1"/>
                </a:solidFill>
                <a:effectLst/>
                <a:latin typeface="+mn-lt"/>
                <a:ea typeface="+mn-ea"/>
                <a:cs typeface="+mn-cs"/>
              </a:rPr>
              <a:t>Errores aritméticos de enteros (para aplicaciones que usen C y C++)</a:t>
            </a:r>
          </a:p>
          <a:p>
            <a:pPr lvl="1"/>
            <a:r>
              <a:rPr lang="es-ES" sz="1200" kern="1200" dirty="0">
                <a:solidFill>
                  <a:schemeClr val="tx1"/>
                </a:solidFill>
                <a:effectLst/>
                <a:latin typeface="+mn-lt"/>
                <a:ea typeface="+mn-ea"/>
                <a:cs typeface="+mn-cs"/>
              </a:rPr>
              <a:t>XSS (para código administrado y aplicaciones web)</a:t>
            </a:r>
          </a:p>
          <a:p>
            <a:pPr lvl="1"/>
            <a:r>
              <a:rPr lang="es-ES" sz="1200" kern="1200" dirty="0">
                <a:solidFill>
                  <a:schemeClr val="tx1"/>
                </a:solidFill>
                <a:effectLst/>
                <a:latin typeface="+mn-lt"/>
                <a:ea typeface="+mn-ea"/>
                <a:cs typeface="+mn-cs"/>
              </a:rPr>
              <a:t>Inyección de código SQL (para código administrado y aplicaciones web)</a:t>
            </a:r>
          </a:p>
          <a:p>
            <a:pPr lvl="1"/>
            <a:r>
              <a:rPr lang="en-US" sz="1200" kern="1200" dirty="0" err="1">
                <a:solidFill>
                  <a:schemeClr val="tx1"/>
                </a:solidFill>
                <a:effectLst/>
                <a:latin typeface="+mn-lt"/>
                <a:ea typeface="+mn-ea"/>
                <a:cs typeface="+mn-cs"/>
              </a:rPr>
              <a:t>Criptografía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débil</a:t>
            </a:r>
            <a:endParaRPr lang="es-ES"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Pruebas de seguridad, incluidos los siguientes temas:</a:t>
            </a:r>
          </a:p>
          <a:p>
            <a:pPr lvl="1"/>
            <a:r>
              <a:rPr lang="es-ES" sz="1200" kern="1200" dirty="0">
                <a:solidFill>
                  <a:schemeClr val="tx1"/>
                </a:solidFill>
                <a:effectLst/>
                <a:latin typeface="+mn-lt"/>
                <a:ea typeface="+mn-ea"/>
                <a:cs typeface="+mn-cs"/>
              </a:rPr>
              <a:t>Diferencias entre pruebas de seguridad y pruebas funcionales</a:t>
            </a:r>
          </a:p>
          <a:p>
            <a:pPr lvl="1"/>
            <a:r>
              <a:rPr lang="en-US" sz="1200" kern="1200" dirty="0" err="1">
                <a:solidFill>
                  <a:schemeClr val="tx1"/>
                </a:solidFill>
                <a:effectLst/>
                <a:latin typeface="+mn-lt"/>
                <a:ea typeface="+mn-ea"/>
                <a:cs typeface="+mn-cs"/>
              </a:rPr>
              <a:t>Evaluación</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riesgos</a:t>
            </a:r>
            <a:endParaRPr lang="es-ES" sz="1200" kern="1200" dirty="0">
              <a:solidFill>
                <a:schemeClr val="tx1"/>
              </a:solidFill>
              <a:effectLst/>
              <a:latin typeface="+mn-lt"/>
              <a:ea typeface="+mn-ea"/>
              <a:cs typeface="+mn-cs"/>
            </a:endParaRPr>
          </a:p>
          <a:p>
            <a:pPr lvl="1"/>
            <a:r>
              <a:rPr lang="es-ES" sz="1200" kern="1200" dirty="0">
                <a:solidFill>
                  <a:schemeClr val="tx1"/>
                </a:solidFill>
                <a:effectLst/>
                <a:latin typeface="+mn-lt"/>
                <a:ea typeface="+mn-ea"/>
                <a:cs typeface="+mn-cs"/>
              </a:rPr>
              <a:t>Métodos para poner a prueba la seguridad</a:t>
            </a:r>
          </a:p>
          <a:p>
            <a:pPr lvl="0"/>
            <a:r>
              <a:rPr lang="es-ES" sz="1200" kern="1200" dirty="0">
                <a:solidFill>
                  <a:schemeClr val="tx1"/>
                </a:solidFill>
                <a:effectLst/>
                <a:latin typeface="+mn-lt"/>
                <a:ea typeface="+mn-ea"/>
                <a:cs typeface="+mn-cs"/>
              </a:rPr>
              <a:t>Privacidad, incluidos los siguientes temas:</a:t>
            </a:r>
          </a:p>
          <a:p>
            <a:pPr lvl="1"/>
            <a:r>
              <a:rPr lang="en-US" sz="1200" kern="1200" dirty="0" err="1">
                <a:solidFill>
                  <a:schemeClr val="tx1"/>
                </a:solidFill>
                <a:effectLst/>
                <a:latin typeface="+mn-lt"/>
                <a:ea typeface="+mn-ea"/>
                <a:cs typeface="+mn-cs"/>
              </a:rPr>
              <a:t>Tipos</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datos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confidenciales</a:t>
            </a:r>
            <a:endParaRPr lang="es-ES" sz="1200" kern="1200" dirty="0">
              <a:solidFill>
                <a:schemeClr val="tx1"/>
              </a:solidFill>
              <a:effectLst/>
              <a:latin typeface="+mn-lt"/>
              <a:ea typeface="+mn-ea"/>
              <a:cs typeface="+mn-cs"/>
            </a:endParaRPr>
          </a:p>
          <a:p>
            <a:pPr lvl="1"/>
            <a:r>
              <a:rPr lang="es-ES" sz="1200" kern="1200" dirty="0">
                <a:solidFill>
                  <a:schemeClr val="tx1"/>
                </a:solidFill>
                <a:effectLst/>
                <a:latin typeface="+mn-lt"/>
                <a:ea typeface="+mn-ea"/>
                <a:cs typeface="+mn-cs"/>
              </a:rPr>
              <a:t>Procedimientos recomendados de diseño de privacidad</a:t>
            </a:r>
          </a:p>
          <a:p>
            <a:pPr lvl="1"/>
            <a:r>
              <a:rPr lang="en-US" sz="1200" kern="1200" dirty="0" err="1">
                <a:solidFill>
                  <a:schemeClr val="tx1"/>
                </a:solidFill>
                <a:effectLst/>
                <a:latin typeface="+mn-lt"/>
                <a:ea typeface="+mn-ea"/>
                <a:cs typeface="+mn-cs"/>
              </a:rPr>
              <a:t>Evaluación</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riesgos</a:t>
            </a:r>
            <a:endParaRPr lang="es-ES" sz="1200" kern="1200" dirty="0">
              <a:solidFill>
                <a:schemeClr val="tx1"/>
              </a:solidFill>
              <a:effectLst/>
              <a:latin typeface="+mn-lt"/>
              <a:ea typeface="+mn-ea"/>
              <a:cs typeface="+mn-cs"/>
            </a:endParaRPr>
          </a:p>
          <a:p>
            <a:pPr lvl="1"/>
            <a:r>
              <a:rPr lang="es-ES" sz="1200" kern="1200" dirty="0">
                <a:solidFill>
                  <a:schemeClr val="tx1"/>
                </a:solidFill>
                <a:effectLst/>
                <a:latin typeface="+mn-lt"/>
                <a:ea typeface="+mn-ea"/>
                <a:cs typeface="+mn-cs"/>
              </a:rPr>
              <a:t>Procedimientos recomendados de desarrollo de privacidad</a:t>
            </a:r>
          </a:p>
          <a:p>
            <a:pPr lvl="1"/>
            <a:r>
              <a:rPr lang="es-ES" sz="1200" kern="1200" dirty="0">
                <a:solidFill>
                  <a:schemeClr val="tx1"/>
                </a:solidFill>
                <a:effectLst/>
                <a:latin typeface="+mn-lt"/>
                <a:ea typeface="+mn-ea"/>
                <a:cs typeface="+mn-cs"/>
              </a:rPr>
              <a:t>Procedimientos recomendados de pruebas de privacidad</a:t>
            </a:r>
          </a:p>
          <a:p>
            <a:endParaRPr lang="es-ES" dirty="0"/>
          </a:p>
        </p:txBody>
      </p:sp>
      <p:sp>
        <p:nvSpPr>
          <p:cNvPr id="4" name="3 Marcador de número de diapositiva"/>
          <p:cNvSpPr>
            <a:spLocks noGrp="1"/>
          </p:cNvSpPr>
          <p:nvPr>
            <p:ph type="sldNum" sz="quarter" idx="10"/>
          </p:nvPr>
        </p:nvSpPr>
        <p:spPr/>
        <p:txBody>
          <a:bodyPr/>
          <a:lstStyle/>
          <a:p>
            <a:fld id="{064AA158-4D4D-427B-8540-6E8BBC9EB3DF}" type="slidenum">
              <a:rPr lang="es-ES" smtClean="0"/>
              <a:t>6</a:t>
            </a:fld>
            <a:endParaRPr lang="es-ES"/>
          </a:p>
        </p:txBody>
      </p:sp>
    </p:spTree>
    <p:extLst>
      <p:ext uri="{BB962C8B-B14F-4D97-AF65-F5344CB8AC3E}">
        <p14:creationId xmlns:p14="http://schemas.microsoft.com/office/powerpoint/2010/main" val="945691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lvl="0"/>
            <a:r>
              <a:rPr lang="es-ES" sz="1200" kern="1200" dirty="0">
                <a:solidFill>
                  <a:schemeClr val="tx1"/>
                </a:solidFill>
                <a:effectLst/>
                <a:latin typeface="+mn-lt"/>
                <a:ea typeface="+mn-ea"/>
                <a:cs typeface="+mn-cs"/>
              </a:rPr>
              <a:t>Diseño seguro, incluidos los siguientes temas:</a:t>
            </a:r>
          </a:p>
          <a:p>
            <a:pPr lvl="1"/>
            <a:r>
              <a:rPr lang="es-ES" sz="1200" kern="1200" dirty="0">
                <a:solidFill>
                  <a:schemeClr val="tx1"/>
                </a:solidFill>
                <a:effectLst/>
                <a:latin typeface="+mn-lt"/>
                <a:ea typeface="+mn-ea"/>
                <a:cs typeface="+mn-cs"/>
              </a:rPr>
              <a:t>Reducción de la superficie de ataques</a:t>
            </a:r>
          </a:p>
          <a:p>
            <a:pPr lvl="1"/>
            <a:r>
              <a:rPr lang="en-US" sz="1200" kern="1200" dirty="0" err="1">
                <a:solidFill>
                  <a:schemeClr val="tx1"/>
                </a:solidFill>
                <a:effectLst/>
                <a:latin typeface="+mn-lt"/>
                <a:ea typeface="+mn-ea"/>
                <a:cs typeface="+mn-cs"/>
              </a:rPr>
              <a:t>Defensa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profundidad</a:t>
            </a:r>
            <a:endParaRPr lang="es-E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Principio de </a:t>
            </a:r>
            <a:r>
              <a:rPr lang="en-US" sz="1200" kern="1200" dirty="0" err="1">
                <a:solidFill>
                  <a:schemeClr val="tx1"/>
                </a:solidFill>
                <a:effectLst/>
                <a:latin typeface="+mn-lt"/>
                <a:ea typeface="+mn-ea"/>
                <a:cs typeface="+mn-cs"/>
              </a:rPr>
              <a:t>privilegios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mínimos</a:t>
            </a:r>
            <a:endParaRPr lang="es-ES" sz="1200" kern="1200" dirty="0">
              <a:solidFill>
                <a:schemeClr val="tx1"/>
              </a:solidFill>
              <a:effectLst/>
              <a:latin typeface="+mn-lt"/>
              <a:ea typeface="+mn-ea"/>
              <a:cs typeface="+mn-cs"/>
            </a:endParaRPr>
          </a:p>
          <a:p>
            <a:pPr lvl="1"/>
            <a:r>
              <a:rPr lang="en-US" sz="1200" kern="1200" dirty="0" err="1">
                <a:solidFill>
                  <a:schemeClr val="tx1"/>
                </a:solidFill>
                <a:effectLst/>
                <a:latin typeface="+mn-lt"/>
                <a:ea typeface="+mn-ea"/>
                <a:cs typeface="+mn-cs"/>
              </a:rPr>
              <a:t>Configuraciones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predeterminadas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seguras</a:t>
            </a:r>
            <a:endParaRPr lang="es-ES"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Modelos de riesgos, incluidos los siguientes temas:</a:t>
            </a:r>
          </a:p>
          <a:p>
            <a:pPr lvl="1"/>
            <a:r>
              <a:rPr lang="es-ES" sz="1200" kern="1200" dirty="0">
                <a:solidFill>
                  <a:schemeClr val="tx1"/>
                </a:solidFill>
                <a:effectLst/>
                <a:latin typeface="+mn-lt"/>
                <a:ea typeface="+mn-ea"/>
                <a:cs typeface="+mn-cs"/>
              </a:rPr>
              <a:t>Información general sobre los modelos de riesgos</a:t>
            </a:r>
          </a:p>
          <a:p>
            <a:pPr lvl="1"/>
            <a:r>
              <a:rPr lang="es-ES" sz="1200" kern="1200" dirty="0">
                <a:solidFill>
                  <a:schemeClr val="tx1"/>
                </a:solidFill>
                <a:effectLst/>
                <a:latin typeface="+mn-lt"/>
                <a:ea typeface="+mn-ea"/>
                <a:cs typeface="+mn-cs"/>
              </a:rPr>
              <a:t>Implicaciones de diseño de un modelo de riesgos</a:t>
            </a:r>
          </a:p>
          <a:p>
            <a:pPr lvl="1"/>
            <a:r>
              <a:rPr lang="es-ES" sz="1200" kern="1200" dirty="0">
                <a:solidFill>
                  <a:schemeClr val="tx1"/>
                </a:solidFill>
                <a:effectLst/>
                <a:latin typeface="+mn-lt"/>
                <a:ea typeface="+mn-ea"/>
                <a:cs typeface="+mn-cs"/>
              </a:rPr>
              <a:t>Restricciones de codificación basadas en un modelo de riesgos</a:t>
            </a:r>
          </a:p>
          <a:p>
            <a:pPr lvl="0"/>
            <a:r>
              <a:rPr lang="es-ES" sz="1200" kern="1200" dirty="0">
                <a:solidFill>
                  <a:schemeClr val="tx1"/>
                </a:solidFill>
                <a:effectLst/>
                <a:latin typeface="+mn-lt"/>
                <a:ea typeface="+mn-ea"/>
                <a:cs typeface="+mn-cs"/>
              </a:rPr>
              <a:t>Codificación segura, incluidos los siguientes temas:</a:t>
            </a:r>
          </a:p>
          <a:p>
            <a:pPr lvl="1"/>
            <a:r>
              <a:rPr lang="es-ES" sz="1200" kern="1200" dirty="0">
                <a:solidFill>
                  <a:schemeClr val="tx1"/>
                </a:solidFill>
                <a:effectLst/>
                <a:latin typeface="+mn-lt"/>
                <a:ea typeface="+mn-ea"/>
                <a:cs typeface="+mn-cs"/>
              </a:rPr>
              <a:t>Saturaciones de búfer (para aplicaciones que usen C y C++)</a:t>
            </a:r>
          </a:p>
          <a:p>
            <a:pPr lvl="1"/>
            <a:r>
              <a:rPr lang="es-ES" sz="1200" kern="1200" dirty="0">
                <a:solidFill>
                  <a:schemeClr val="tx1"/>
                </a:solidFill>
                <a:effectLst/>
                <a:latin typeface="+mn-lt"/>
                <a:ea typeface="+mn-ea"/>
                <a:cs typeface="+mn-cs"/>
              </a:rPr>
              <a:t>Errores aritméticos de enteros (para aplicaciones que usen C y C++)</a:t>
            </a:r>
          </a:p>
          <a:p>
            <a:pPr lvl="1"/>
            <a:r>
              <a:rPr lang="es-ES" sz="1200" kern="1200" dirty="0">
                <a:solidFill>
                  <a:schemeClr val="tx1"/>
                </a:solidFill>
                <a:effectLst/>
                <a:latin typeface="+mn-lt"/>
                <a:ea typeface="+mn-ea"/>
                <a:cs typeface="+mn-cs"/>
              </a:rPr>
              <a:t>XSS (para código administrado y aplicaciones web)</a:t>
            </a:r>
          </a:p>
          <a:p>
            <a:pPr lvl="1"/>
            <a:r>
              <a:rPr lang="es-ES" sz="1200" kern="1200" dirty="0">
                <a:solidFill>
                  <a:schemeClr val="tx1"/>
                </a:solidFill>
                <a:effectLst/>
                <a:latin typeface="+mn-lt"/>
                <a:ea typeface="+mn-ea"/>
                <a:cs typeface="+mn-cs"/>
              </a:rPr>
              <a:t>Inyección de código SQL (para código administrado y aplicaciones web)</a:t>
            </a:r>
          </a:p>
          <a:p>
            <a:pPr lvl="1"/>
            <a:r>
              <a:rPr lang="en-US" sz="1200" kern="1200" dirty="0" err="1">
                <a:solidFill>
                  <a:schemeClr val="tx1"/>
                </a:solidFill>
                <a:effectLst/>
                <a:latin typeface="+mn-lt"/>
                <a:ea typeface="+mn-ea"/>
                <a:cs typeface="+mn-cs"/>
              </a:rPr>
              <a:t>Criptografía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débil</a:t>
            </a:r>
            <a:endParaRPr lang="es-ES"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Pruebas de seguridad, incluidos los siguientes temas:</a:t>
            </a:r>
          </a:p>
          <a:p>
            <a:pPr lvl="1"/>
            <a:r>
              <a:rPr lang="es-ES" sz="1200" kern="1200" dirty="0">
                <a:solidFill>
                  <a:schemeClr val="tx1"/>
                </a:solidFill>
                <a:effectLst/>
                <a:latin typeface="+mn-lt"/>
                <a:ea typeface="+mn-ea"/>
                <a:cs typeface="+mn-cs"/>
              </a:rPr>
              <a:t>Diferencias entre pruebas de seguridad y pruebas funcionales</a:t>
            </a:r>
          </a:p>
          <a:p>
            <a:pPr lvl="1"/>
            <a:r>
              <a:rPr lang="en-US" sz="1200" kern="1200" dirty="0" err="1">
                <a:solidFill>
                  <a:schemeClr val="tx1"/>
                </a:solidFill>
                <a:effectLst/>
                <a:latin typeface="+mn-lt"/>
                <a:ea typeface="+mn-ea"/>
                <a:cs typeface="+mn-cs"/>
              </a:rPr>
              <a:t>Evaluación</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riesgos</a:t>
            </a:r>
            <a:endParaRPr lang="es-ES" sz="1200" kern="1200" dirty="0">
              <a:solidFill>
                <a:schemeClr val="tx1"/>
              </a:solidFill>
              <a:effectLst/>
              <a:latin typeface="+mn-lt"/>
              <a:ea typeface="+mn-ea"/>
              <a:cs typeface="+mn-cs"/>
            </a:endParaRPr>
          </a:p>
          <a:p>
            <a:pPr lvl="1"/>
            <a:r>
              <a:rPr lang="es-ES" sz="1200" kern="1200" dirty="0">
                <a:solidFill>
                  <a:schemeClr val="tx1"/>
                </a:solidFill>
                <a:effectLst/>
                <a:latin typeface="+mn-lt"/>
                <a:ea typeface="+mn-ea"/>
                <a:cs typeface="+mn-cs"/>
              </a:rPr>
              <a:t>Métodos para poner a prueba la seguridad</a:t>
            </a:r>
          </a:p>
          <a:p>
            <a:pPr lvl="0"/>
            <a:r>
              <a:rPr lang="es-ES" sz="1200" kern="1200" dirty="0">
                <a:solidFill>
                  <a:schemeClr val="tx1"/>
                </a:solidFill>
                <a:effectLst/>
                <a:latin typeface="+mn-lt"/>
                <a:ea typeface="+mn-ea"/>
                <a:cs typeface="+mn-cs"/>
              </a:rPr>
              <a:t>Privacidad, incluidos los siguientes temas:</a:t>
            </a:r>
          </a:p>
          <a:p>
            <a:pPr lvl="1"/>
            <a:r>
              <a:rPr lang="en-US" sz="1200" kern="1200" dirty="0" err="1">
                <a:solidFill>
                  <a:schemeClr val="tx1"/>
                </a:solidFill>
                <a:effectLst/>
                <a:latin typeface="+mn-lt"/>
                <a:ea typeface="+mn-ea"/>
                <a:cs typeface="+mn-cs"/>
              </a:rPr>
              <a:t>Tipos</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datos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confidenciales</a:t>
            </a:r>
            <a:endParaRPr lang="es-ES" sz="1200" kern="1200" dirty="0">
              <a:solidFill>
                <a:schemeClr val="tx1"/>
              </a:solidFill>
              <a:effectLst/>
              <a:latin typeface="+mn-lt"/>
              <a:ea typeface="+mn-ea"/>
              <a:cs typeface="+mn-cs"/>
            </a:endParaRPr>
          </a:p>
          <a:p>
            <a:pPr lvl="1"/>
            <a:r>
              <a:rPr lang="es-ES" sz="1200" kern="1200" dirty="0">
                <a:solidFill>
                  <a:schemeClr val="tx1"/>
                </a:solidFill>
                <a:effectLst/>
                <a:latin typeface="+mn-lt"/>
                <a:ea typeface="+mn-ea"/>
                <a:cs typeface="+mn-cs"/>
              </a:rPr>
              <a:t>Procedimientos recomendados de diseño de privacidad</a:t>
            </a:r>
          </a:p>
          <a:p>
            <a:pPr lvl="1"/>
            <a:r>
              <a:rPr lang="en-US" sz="1200" kern="1200" dirty="0" err="1">
                <a:solidFill>
                  <a:schemeClr val="tx1"/>
                </a:solidFill>
                <a:effectLst/>
                <a:latin typeface="+mn-lt"/>
                <a:ea typeface="+mn-ea"/>
                <a:cs typeface="+mn-cs"/>
              </a:rPr>
              <a:t>Evaluación</a:t>
            </a:r>
            <a:r>
              <a:rPr lang="en-US" sz="1200" kern="1200" dirty="0">
                <a:solidFill>
                  <a:schemeClr val="tx1"/>
                </a:solidFill>
                <a:effectLst/>
                <a:latin typeface="+mn-lt"/>
                <a:ea typeface="+mn-ea"/>
                <a:cs typeface="+mn-cs"/>
              </a:rPr>
              <a:t> de </a:t>
            </a:r>
            <a:r>
              <a:rPr lang="en-US" sz="1200" kern="1200" dirty="0" err="1">
                <a:solidFill>
                  <a:schemeClr val="tx1"/>
                </a:solidFill>
                <a:effectLst/>
                <a:latin typeface="+mn-lt"/>
                <a:ea typeface="+mn-ea"/>
                <a:cs typeface="+mn-cs"/>
              </a:rPr>
              <a:t>riesgos</a:t>
            </a:r>
            <a:endParaRPr lang="es-ES" sz="1200" kern="1200" dirty="0">
              <a:solidFill>
                <a:schemeClr val="tx1"/>
              </a:solidFill>
              <a:effectLst/>
              <a:latin typeface="+mn-lt"/>
              <a:ea typeface="+mn-ea"/>
              <a:cs typeface="+mn-cs"/>
            </a:endParaRPr>
          </a:p>
          <a:p>
            <a:pPr lvl="1"/>
            <a:r>
              <a:rPr lang="es-ES" sz="1200" kern="1200" dirty="0">
                <a:solidFill>
                  <a:schemeClr val="tx1"/>
                </a:solidFill>
                <a:effectLst/>
                <a:latin typeface="+mn-lt"/>
                <a:ea typeface="+mn-ea"/>
                <a:cs typeface="+mn-cs"/>
              </a:rPr>
              <a:t>Procedimientos recomendados de desarrollo de privacidad</a:t>
            </a:r>
          </a:p>
          <a:p>
            <a:pPr lvl="1"/>
            <a:r>
              <a:rPr lang="es-ES" sz="1200" kern="1200" dirty="0">
                <a:solidFill>
                  <a:schemeClr val="tx1"/>
                </a:solidFill>
                <a:effectLst/>
                <a:latin typeface="+mn-lt"/>
                <a:ea typeface="+mn-ea"/>
                <a:cs typeface="+mn-cs"/>
              </a:rPr>
              <a:t>Procedimientos recomendados de pruebas de privacidad</a:t>
            </a:r>
          </a:p>
          <a:p>
            <a:endParaRPr lang="es-ES" dirty="0"/>
          </a:p>
        </p:txBody>
      </p:sp>
      <p:sp>
        <p:nvSpPr>
          <p:cNvPr id="4" name="3 Marcador de número de diapositiva"/>
          <p:cNvSpPr>
            <a:spLocks noGrp="1"/>
          </p:cNvSpPr>
          <p:nvPr>
            <p:ph type="sldNum" sz="quarter" idx="10"/>
          </p:nvPr>
        </p:nvSpPr>
        <p:spPr/>
        <p:txBody>
          <a:bodyPr/>
          <a:lstStyle/>
          <a:p>
            <a:fld id="{064AA158-4D4D-427B-8540-6E8BBC9EB3DF}" type="slidenum">
              <a:rPr lang="es-ES" smtClean="0"/>
              <a:t>7</a:t>
            </a:fld>
            <a:endParaRPr lang="es-ES"/>
          </a:p>
        </p:txBody>
      </p:sp>
    </p:spTree>
    <p:extLst>
      <p:ext uri="{BB962C8B-B14F-4D97-AF65-F5344CB8AC3E}">
        <p14:creationId xmlns:p14="http://schemas.microsoft.com/office/powerpoint/2010/main" val="945691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Requisitos</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La necesidad de considerar la seguridad y la privacidad “desde el primer instante” es un aspecto fundamental del desarrollo de un sistema seguro. La fase de planificación inicial es el momento más apropiado para definir los requisitos de fiabilidad de un proyecto de software. Al definir los requisitos en una fase temprana, los equipos de desarrollo podrán identificar los principales hitos y resultados, y es posible integrar la seguridad y la privacidad de modo que los planes y programaciones se alteren lo menos posible. Al principio de un proyecto, se realiza un análisis de los requisitos de seguridad y privacidad, el cual incluye la especificación de los requisitos de seguridad mínimos de la aplicación en el entorno operativo previsto, así como la especificación y la implementación de un sistema de seguimiento de los elementos de trabajo y de las vulnerabilidades de seguridad. </a:t>
            </a:r>
          </a:p>
          <a:p>
            <a:endParaRPr lang="es-ES" dirty="0"/>
          </a:p>
          <a:p>
            <a:r>
              <a:rPr lang="es-ES" sz="1200" b="1" u="sng" kern="1200" dirty="0">
                <a:solidFill>
                  <a:schemeClr val="tx1"/>
                </a:solidFill>
                <a:effectLst/>
                <a:latin typeface="+mn-lt"/>
                <a:ea typeface="+mn-ea"/>
                <a:cs typeface="+mn-cs"/>
              </a:rPr>
              <a:t>Procedimiento 3 de SDL: umbrales de calidad y límites de errores</a:t>
            </a:r>
          </a:p>
          <a:p>
            <a:r>
              <a:rPr lang="es-ES" sz="1200" kern="1200" dirty="0">
                <a:solidFill>
                  <a:schemeClr val="tx1"/>
                </a:solidFill>
                <a:effectLst/>
                <a:latin typeface="+mn-lt"/>
                <a:ea typeface="+mn-ea"/>
                <a:cs typeface="+mn-cs"/>
              </a:rPr>
              <a:t>Se usan umbrales de calidad y </a:t>
            </a:r>
            <a:r>
              <a:rPr lang="es-ES" sz="1200" i="1" kern="1200" dirty="0">
                <a:solidFill>
                  <a:schemeClr val="tx1"/>
                </a:solidFill>
                <a:effectLst/>
                <a:latin typeface="+mn-lt"/>
                <a:ea typeface="+mn-ea"/>
                <a:cs typeface="+mn-cs"/>
              </a:rPr>
              <a:t>límites de errores</a:t>
            </a:r>
            <a:r>
              <a:rPr lang="es-ES" sz="1200" kern="1200" dirty="0">
                <a:solidFill>
                  <a:schemeClr val="tx1"/>
                </a:solidFill>
                <a:effectLst/>
                <a:latin typeface="+mn-lt"/>
                <a:ea typeface="+mn-ea"/>
                <a:cs typeface="+mn-cs"/>
              </a:rPr>
              <a:t> para establecer niveles mínimos aceptables de calidad en materia de seguridad y privacidad. Al definir estos criterios al comienzo de un proyecto, se comprenderán mejor los riesgos asociados a los problemas de seguridad y los equipos podrán identificar y corregir los errores de seguridad durante el desarrollo. El equipo de proyecto debe negociar los umbrales de calidad (por ejemplo, todas las advertencias del compilador se deben evaluar y corregir antes de proteger el código) para cada fase de desarrollo; a continuación, el asesor de seguridad debe aprobarlos y puede agregar aclaraciones específicas del proyecto así como requisitos de seguridad más estrictos según proceda. El equipo de proyecto también debe ilustrar la conformidad con los umbrales de calidad negociados para cumplimentar la </a:t>
            </a:r>
            <a:r>
              <a:rPr lang="es-ES" sz="1200" u="sng" kern="1200" dirty="0">
                <a:solidFill>
                  <a:schemeClr val="tx1"/>
                </a:solidFill>
                <a:effectLst/>
                <a:latin typeface="+mn-lt"/>
                <a:ea typeface="+mn-ea"/>
                <a:cs typeface="+mn-cs"/>
                <a:hlinkClick r:id="rId3" action="ppaction://hlinkfile"/>
              </a:rPr>
              <a:t>revisión de seguridad final.</a:t>
            </a:r>
            <a:r>
              <a:rPr lang="es-ES" sz="1200" kern="1200" dirty="0">
                <a:solidFill>
                  <a:schemeClr val="tx1"/>
                </a:solidFill>
                <a:effectLst/>
                <a:latin typeface="+mn-lt"/>
                <a:ea typeface="+mn-ea"/>
                <a:cs typeface="+mn-cs"/>
              </a:rPr>
              <a:t> </a:t>
            </a:r>
          </a:p>
          <a:p>
            <a:r>
              <a:rPr lang="es-ES" sz="1200" kern="1200" dirty="0">
                <a:solidFill>
                  <a:schemeClr val="tx1"/>
                </a:solidFill>
                <a:effectLst/>
                <a:latin typeface="+mn-lt"/>
                <a:ea typeface="+mn-ea"/>
                <a:cs typeface="+mn-cs"/>
              </a:rPr>
              <a:t>Un límite de errores es un umbral de calidad que se aplica a todo el proyecto de desarrollo de software. Se usa para definir los umbrales de gravedad de las vulnerabilidades de seguridad; por ejemplo, en la aplicación no hay vulnerabilidades conocidas que estén clasificadas como “críticas” o “importantes” en el momento de su lanzamiento. Una vez definido, el límite de errores no debe bajarse nunca. Un límite de errores dinámico es un objetivo no fijo que probablemente no se entienda muy bien en el ámbito del desarrollo.</a:t>
            </a:r>
          </a:p>
          <a:p>
            <a:endParaRPr lang="es-ES" sz="1200" kern="1200" dirty="0">
              <a:solidFill>
                <a:schemeClr val="tx1"/>
              </a:solidFill>
              <a:effectLst/>
              <a:latin typeface="+mn-lt"/>
              <a:ea typeface="+mn-ea"/>
              <a:cs typeface="+mn-cs"/>
            </a:endParaRPr>
          </a:p>
          <a:p>
            <a:r>
              <a:rPr lang="es-ES" sz="1200" b="1" u="sng" kern="1200" dirty="0">
                <a:solidFill>
                  <a:schemeClr val="tx1"/>
                </a:solidFill>
                <a:effectLst/>
                <a:latin typeface="+mn-lt"/>
                <a:ea typeface="+mn-ea"/>
                <a:cs typeface="+mn-cs"/>
              </a:rPr>
              <a:t>Procedimiento 4 de SDL: evaluación de los riesgos de seguridad y privacidad</a:t>
            </a:r>
          </a:p>
          <a:p>
            <a:r>
              <a:rPr lang="es-ES" sz="1200" kern="1200" dirty="0">
                <a:solidFill>
                  <a:schemeClr val="tx1"/>
                </a:solidFill>
                <a:effectLst/>
                <a:latin typeface="+mn-lt"/>
                <a:ea typeface="+mn-ea"/>
                <a:cs typeface="+mn-cs"/>
              </a:rPr>
              <a:t>Las evaluaciones de los riesgos de seguridad (SRA) y de privacidad (PRA) son procesos obligatorios que identifican los aspectos funcionales del software que requieren una revisión exhaustiva. </a:t>
            </a:r>
            <a:r>
              <a:rPr lang="en-US" sz="1200" kern="1200" dirty="0" err="1">
                <a:solidFill>
                  <a:schemeClr val="tx1"/>
                </a:solidFill>
                <a:effectLst/>
                <a:latin typeface="+mn-lt"/>
                <a:ea typeface="+mn-ea"/>
                <a:cs typeface="+mn-cs"/>
              </a:rPr>
              <a:t>Dichas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evaluaciones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deben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incluir</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siguiente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información</a:t>
            </a:r>
            <a:r>
              <a:rPr lang="en-US" sz="1200" kern="1200" dirty="0">
                <a:solidFill>
                  <a:schemeClr val="tx1"/>
                </a:solidFill>
                <a:effectLst/>
                <a:latin typeface="+mn-lt"/>
                <a:ea typeface="+mn-ea"/>
                <a:cs typeface="+mn-cs"/>
              </a:rPr>
              <a:t>:</a:t>
            </a:r>
            <a:endParaRPr lang="es-ES"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(Seguridad) Partes del proyecto que van a requerir </a:t>
            </a:r>
            <a:r>
              <a:rPr lang="es-ES" sz="1200" u="sng" kern="1200" dirty="0">
                <a:solidFill>
                  <a:schemeClr val="tx1"/>
                </a:solidFill>
                <a:effectLst/>
                <a:latin typeface="+mn-lt"/>
                <a:ea typeface="+mn-ea"/>
                <a:cs typeface="+mn-cs"/>
                <a:hlinkClick r:id="rId4" action="ppaction://hlinkfile"/>
              </a:rPr>
              <a:t>modelos de riesgos</a:t>
            </a:r>
            <a:r>
              <a:rPr lang="es-ES" sz="1200" kern="1200" dirty="0">
                <a:solidFill>
                  <a:schemeClr val="tx1"/>
                </a:solidFill>
                <a:effectLst/>
                <a:latin typeface="+mn-lt"/>
                <a:ea typeface="+mn-ea"/>
                <a:cs typeface="+mn-cs"/>
              </a:rPr>
              <a:t> antes del lanzamiento.</a:t>
            </a:r>
          </a:p>
          <a:p>
            <a:pPr lvl="0"/>
            <a:r>
              <a:rPr lang="es-ES" sz="1200" kern="1200" dirty="0">
                <a:solidFill>
                  <a:schemeClr val="tx1"/>
                </a:solidFill>
                <a:effectLst/>
                <a:latin typeface="+mn-lt"/>
                <a:ea typeface="+mn-ea"/>
                <a:cs typeface="+mn-cs"/>
              </a:rPr>
              <a:t>(Seguridad) Las partes del proyecto que van a requerir revisiones del diseño de seguridad antes del lanzamiento.</a:t>
            </a:r>
          </a:p>
          <a:p>
            <a:pPr lvl="0"/>
            <a:r>
              <a:rPr lang="es-ES" sz="1200" kern="1200" dirty="0">
                <a:solidFill>
                  <a:schemeClr val="tx1"/>
                </a:solidFill>
                <a:effectLst/>
                <a:latin typeface="+mn-lt"/>
                <a:ea typeface="+mn-ea"/>
                <a:cs typeface="+mn-cs"/>
              </a:rPr>
              <a:t>(Seguridad) Partes del proyecto (si procede) que van a requerir pruebas de penetración por parte de un grupo externo al equipo de proyecto y acordado mutuamente. </a:t>
            </a:r>
          </a:p>
          <a:p>
            <a:pPr lvl="0"/>
            <a:r>
              <a:rPr lang="es-ES" sz="1200" kern="1200" dirty="0">
                <a:solidFill>
                  <a:schemeClr val="tx1"/>
                </a:solidFill>
                <a:effectLst/>
                <a:latin typeface="+mn-lt"/>
                <a:ea typeface="+mn-ea"/>
                <a:cs typeface="+mn-cs"/>
              </a:rPr>
              <a:t>(Seguridad) Requisitos de análisis o de pruebas adicionales que el asesor de seguridad considera necesarios para mitigar los riesgos de seguridad.</a:t>
            </a:r>
          </a:p>
          <a:p>
            <a:pPr lvl="0"/>
            <a:r>
              <a:rPr lang="es-ES" sz="1200" kern="1200" dirty="0">
                <a:solidFill>
                  <a:schemeClr val="tx1"/>
                </a:solidFill>
                <a:effectLst/>
                <a:latin typeface="+mn-lt"/>
                <a:ea typeface="+mn-ea"/>
                <a:cs typeface="+mn-cs"/>
              </a:rPr>
              <a:t>(Seguridad) Ámbito específico de los </a:t>
            </a:r>
            <a:r>
              <a:rPr lang="es-ES" sz="1200" u="sng" kern="1200" dirty="0">
                <a:solidFill>
                  <a:schemeClr val="tx1"/>
                </a:solidFill>
                <a:effectLst/>
                <a:latin typeface="+mn-lt"/>
                <a:ea typeface="+mn-ea"/>
                <a:cs typeface="+mn-cs"/>
                <a:hlinkClick r:id="rId5" action="ppaction://hlinkfile"/>
              </a:rPr>
              <a:t>requisitos en materia de pruebas de exploración de vulnerabilidades mediante datos aleatorios</a:t>
            </a:r>
            <a:r>
              <a:rPr lang="es-ES" sz="1200" kern="1200" dirty="0">
                <a:solidFill>
                  <a:schemeClr val="tx1"/>
                </a:solidFill>
                <a:effectLst/>
                <a:latin typeface="+mn-lt"/>
                <a:ea typeface="+mn-ea"/>
                <a:cs typeface="+mn-cs"/>
              </a:rPr>
              <a:t>.</a:t>
            </a:r>
          </a:p>
          <a:p>
            <a:pPr lvl="0"/>
            <a:r>
              <a:rPr lang="es-ES" sz="1200" kern="1200" dirty="0">
                <a:solidFill>
                  <a:schemeClr val="tx1"/>
                </a:solidFill>
                <a:effectLst/>
                <a:latin typeface="+mn-lt"/>
                <a:ea typeface="+mn-ea"/>
                <a:cs typeface="+mn-cs"/>
              </a:rPr>
              <a:t>(Privacidad) ¿Cuál es el nivel de impacto sobre la privacidad? La respuesta a esta pregunta se basa en las siguientes pautas: </a:t>
            </a:r>
          </a:p>
          <a:p>
            <a:pPr lvl="0"/>
            <a:r>
              <a:rPr lang="es-ES" sz="1200" kern="1200" dirty="0">
                <a:solidFill>
                  <a:schemeClr val="tx1"/>
                </a:solidFill>
                <a:effectLst/>
                <a:latin typeface="+mn-lt"/>
                <a:ea typeface="+mn-ea"/>
                <a:cs typeface="+mn-cs"/>
              </a:rPr>
              <a:t>P1 Alto riesgo para la privacidad. La característica, el producto o el servicio almacena o transfiere datos de identificación personal, cambia la configuración o las asociaciones de los tipos de archivo, o instala software.</a:t>
            </a:r>
          </a:p>
          <a:p>
            <a:pPr lvl="0"/>
            <a:r>
              <a:rPr lang="es-ES" sz="1200" kern="1200" dirty="0">
                <a:solidFill>
                  <a:schemeClr val="tx1"/>
                </a:solidFill>
                <a:effectLst/>
                <a:latin typeface="+mn-lt"/>
                <a:ea typeface="+mn-ea"/>
                <a:cs typeface="+mn-cs"/>
              </a:rPr>
              <a:t>P2 Riesgo moderado para la privacidad. El único comportamiento que afecta a la privacidad en la característica, el producto o el servicio es una transferencia de datos anónimos única e iniciada por el usuario (por ejemplo, el usuario hace clic en un vínculo y el software abre un sitio web).</a:t>
            </a:r>
          </a:p>
          <a:p>
            <a:pPr lvl="0"/>
            <a:r>
              <a:rPr lang="es-ES" sz="1200" kern="1200" dirty="0">
                <a:solidFill>
                  <a:schemeClr val="tx1"/>
                </a:solidFill>
                <a:effectLst/>
                <a:latin typeface="+mn-lt"/>
                <a:ea typeface="+mn-ea"/>
                <a:cs typeface="+mn-cs"/>
              </a:rPr>
              <a:t>P3 Bajo riesgo para la privacidad. La característica, el producto o el servicio no tiene ningún comportamiento que afecte a la privacidad. No hay ninguna transferencia de datos personales ni anónimos, no se almacenan datos de identificación personal en el equipo, no se modifica ninguna configuración en nombre del usuario y no se instala ningún software.</a:t>
            </a:r>
          </a:p>
          <a:p>
            <a:endParaRPr lang="es-ES" dirty="0"/>
          </a:p>
          <a:p>
            <a:endParaRPr lang="es-ES" dirty="0"/>
          </a:p>
          <a:p>
            <a:endParaRPr lang="es-ES" dirty="0"/>
          </a:p>
        </p:txBody>
      </p:sp>
      <p:sp>
        <p:nvSpPr>
          <p:cNvPr id="4" name="3 Marcador de número de diapositiva"/>
          <p:cNvSpPr>
            <a:spLocks noGrp="1"/>
          </p:cNvSpPr>
          <p:nvPr>
            <p:ph type="sldNum" sz="quarter" idx="10"/>
          </p:nvPr>
        </p:nvSpPr>
        <p:spPr/>
        <p:txBody>
          <a:bodyPr/>
          <a:lstStyle/>
          <a:p>
            <a:fld id="{064AA158-4D4D-427B-8540-6E8BBC9EB3DF}" type="slidenum">
              <a:rPr lang="es-ES" smtClean="0"/>
              <a:t>8</a:t>
            </a:fld>
            <a:endParaRPr lang="es-ES"/>
          </a:p>
        </p:txBody>
      </p:sp>
    </p:spTree>
    <p:extLst>
      <p:ext uri="{BB962C8B-B14F-4D97-AF65-F5344CB8AC3E}">
        <p14:creationId xmlns:p14="http://schemas.microsoft.com/office/powerpoint/2010/main" val="945691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Requisitos</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La necesidad de considerar la seguridad y la privacidad “desde el primer instante” es un aspecto fundamental del desarrollo de un sistema seguro. La fase de planificación inicial es el momento más apropiado para definir los requisitos de fiabilidad de un proyecto de software. Al definir los requisitos en una fase temprana, los equipos de desarrollo podrán identificar los principales hitos y resultados, y es posible integrar la seguridad y la privacidad de modo que los planes y programaciones se alteren lo menos posible. Al principio de un proyecto, se realiza un análisis de los requisitos de seguridad y privacidad, el cual incluye la especificación de los requisitos de seguridad mínimos de la aplicación en el entorno operativo previsto, así como la especificación y la implementación de un sistema de seguimiento de los elementos de trabajo y de las vulnerabilidades de seguridad. </a:t>
            </a:r>
          </a:p>
          <a:p>
            <a:endParaRPr lang="es-ES" dirty="0"/>
          </a:p>
          <a:p>
            <a:r>
              <a:rPr lang="es-ES" sz="1200" b="1" u="sng" kern="1200" dirty="0">
                <a:solidFill>
                  <a:schemeClr val="tx1"/>
                </a:solidFill>
                <a:effectLst/>
                <a:latin typeface="+mn-lt"/>
                <a:ea typeface="+mn-ea"/>
                <a:cs typeface="+mn-cs"/>
              </a:rPr>
              <a:t>Procedimiento 3 de SDL: umbrales de calidad y límites de errores</a:t>
            </a:r>
          </a:p>
          <a:p>
            <a:r>
              <a:rPr lang="es-ES" sz="1200" kern="1200" dirty="0">
                <a:solidFill>
                  <a:schemeClr val="tx1"/>
                </a:solidFill>
                <a:effectLst/>
                <a:latin typeface="+mn-lt"/>
                <a:ea typeface="+mn-ea"/>
                <a:cs typeface="+mn-cs"/>
              </a:rPr>
              <a:t>Se usan umbrales de calidad y </a:t>
            </a:r>
            <a:r>
              <a:rPr lang="es-ES" sz="1200" i="1" kern="1200" dirty="0">
                <a:solidFill>
                  <a:schemeClr val="tx1"/>
                </a:solidFill>
                <a:effectLst/>
                <a:latin typeface="+mn-lt"/>
                <a:ea typeface="+mn-ea"/>
                <a:cs typeface="+mn-cs"/>
              </a:rPr>
              <a:t>límites de errores</a:t>
            </a:r>
            <a:r>
              <a:rPr lang="es-ES" sz="1200" kern="1200" dirty="0">
                <a:solidFill>
                  <a:schemeClr val="tx1"/>
                </a:solidFill>
                <a:effectLst/>
                <a:latin typeface="+mn-lt"/>
                <a:ea typeface="+mn-ea"/>
                <a:cs typeface="+mn-cs"/>
              </a:rPr>
              <a:t> para establecer niveles mínimos aceptables de calidad en materia de seguridad y privacidad. Al definir estos criterios al comienzo de un proyecto, se comprenderán mejor los riesgos asociados a los problemas de seguridad y los equipos podrán identificar y corregir los errores de seguridad durante el desarrollo. El equipo de proyecto debe negociar los umbrales de calidad (por ejemplo, todas las advertencias del compilador se deben evaluar y corregir antes de proteger el código) para cada fase de desarrollo; a continuación, el asesor de seguridad debe aprobarlos y puede agregar aclaraciones específicas del proyecto así como requisitos de seguridad más estrictos según proceda. El equipo de proyecto también debe ilustrar la conformidad con los umbrales de calidad negociados para cumplimentar la </a:t>
            </a:r>
            <a:r>
              <a:rPr lang="es-ES" sz="1200" u="sng" kern="1200" dirty="0">
                <a:solidFill>
                  <a:schemeClr val="tx1"/>
                </a:solidFill>
                <a:effectLst/>
                <a:latin typeface="+mn-lt"/>
                <a:ea typeface="+mn-ea"/>
                <a:cs typeface="+mn-cs"/>
                <a:hlinkClick r:id="rId3" action="ppaction://hlinkfile"/>
              </a:rPr>
              <a:t>revisión de seguridad final.</a:t>
            </a:r>
            <a:r>
              <a:rPr lang="es-ES" sz="1200" kern="1200" dirty="0">
                <a:solidFill>
                  <a:schemeClr val="tx1"/>
                </a:solidFill>
                <a:effectLst/>
                <a:latin typeface="+mn-lt"/>
                <a:ea typeface="+mn-ea"/>
                <a:cs typeface="+mn-cs"/>
              </a:rPr>
              <a:t> </a:t>
            </a:r>
          </a:p>
          <a:p>
            <a:r>
              <a:rPr lang="es-ES" sz="1200" kern="1200" dirty="0">
                <a:solidFill>
                  <a:schemeClr val="tx1"/>
                </a:solidFill>
                <a:effectLst/>
                <a:latin typeface="+mn-lt"/>
                <a:ea typeface="+mn-ea"/>
                <a:cs typeface="+mn-cs"/>
              </a:rPr>
              <a:t>Un límite de errores es un umbral de calidad que se aplica a todo el proyecto de desarrollo de software. Se usa para definir los umbrales de gravedad de las vulnerabilidades de seguridad; por ejemplo, en la aplicación no hay vulnerabilidades conocidas que estén clasificadas como “críticas” o “importantes” en el momento de su lanzamiento. Una vez definido, el límite de errores no debe bajarse nunca. Un límite de errores dinámico es un objetivo no fijo que probablemente no se entienda muy bien en el ámbito del desarrollo.</a:t>
            </a:r>
          </a:p>
          <a:p>
            <a:endParaRPr lang="es-ES" sz="1200" kern="1200" dirty="0">
              <a:solidFill>
                <a:schemeClr val="tx1"/>
              </a:solidFill>
              <a:effectLst/>
              <a:latin typeface="+mn-lt"/>
              <a:ea typeface="+mn-ea"/>
              <a:cs typeface="+mn-cs"/>
            </a:endParaRPr>
          </a:p>
          <a:p>
            <a:r>
              <a:rPr lang="es-ES" sz="1200" b="1" u="sng" kern="1200" dirty="0">
                <a:solidFill>
                  <a:schemeClr val="tx1"/>
                </a:solidFill>
                <a:effectLst/>
                <a:latin typeface="+mn-lt"/>
                <a:ea typeface="+mn-ea"/>
                <a:cs typeface="+mn-cs"/>
              </a:rPr>
              <a:t>Procedimiento 4 de SDL: evaluación de los riesgos de seguridad y privacidad</a:t>
            </a:r>
          </a:p>
          <a:p>
            <a:r>
              <a:rPr lang="es-ES" sz="1200" kern="1200" dirty="0">
                <a:solidFill>
                  <a:schemeClr val="tx1"/>
                </a:solidFill>
                <a:effectLst/>
                <a:latin typeface="+mn-lt"/>
                <a:ea typeface="+mn-ea"/>
                <a:cs typeface="+mn-cs"/>
              </a:rPr>
              <a:t>Las evaluaciones de los riesgos de seguridad (SRA) y de privacidad (PRA) son procesos obligatorios que identifican los aspectos funcionales del software que requieren una revisión exhaustiva. </a:t>
            </a:r>
            <a:r>
              <a:rPr lang="en-US" sz="1200" kern="1200" dirty="0" err="1">
                <a:solidFill>
                  <a:schemeClr val="tx1"/>
                </a:solidFill>
                <a:effectLst/>
                <a:latin typeface="+mn-lt"/>
                <a:ea typeface="+mn-ea"/>
                <a:cs typeface="+mn-cs"/>
              </a:rPr>
              <a:t>Dichas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evaluaciones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deben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incluir</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siguiente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información</a:t>
            </a:r>
            <a:r>
              <a:rPr lang="en-US" sz="1200" kern="1200" dirty="0">
                <a:solidFill>
                  <a:schemeClr val="tx1"/>
                </a:solidFill>
                <a:effectLst/>
                <a:latin typeface="+mn-lt"/>
                <a:ea typeface="+mn-ea"/>
                <a:cs typeface="+mn-cs"/>
              </a:rPr>
              <a:t>:</a:t>
            </a:r>
            <a:endParaRPr lang="es-ES"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(Seguridad) Partes del proyecto que van a requerir </a:t>
            </a:r>
            <a:r>
              <a:rPr lang="es-ES" sz="1200" u="sng" kern="1200" dirty="0">
                <a:solidFill>
                  <a:schemeClr val="tx1"/>
                </a:solidFill>
                <a:effectLst/>
                <a:latin typeface="+mn-lt"/>
                <a:ea typeface="+mn-ea"/>
                <a:cs typeface="+mn-cs"/>
                <a:hlinkClick r:id="rId4" action="ppaction://hlinkfile"/>
              </a:rPr>
              <a:t>modelos de riesgos</a:t>
            </a:r>
            <a:r>
              <a:rPr lang="es-ES" sz="1200" kern="1200" dirty="0">
                <a:solidFill>
                  <a:schemeClr val="tx1"/>
                </a:solidFill>
                <a:effectLst/>
                <a:latin typeface="+mn-lt"/>
                <a:ea typeface="+mn-ea"/>
                <a:cs typeface="+mn-cs"/>
              </a:rPr>
              <a:t> antes del lanzamiento.</a:t>
            </a:r>
          </a:p>
          <a:p>
            <a:pPr lvl="0"/>
            <a:r>
              <a:rPr lang="es-ES" sz="1200" kern="1200" dirty="0">
                <a:solidFill>
                  <a:schemeClr val="tx1"/>
                </a:solidFill>
                <a:effectLst/>
                <a:latin typeface="+mn-lt"/>
                <a:ea typeface="+mn-ea"/>
                <a:cs typeface="+mn-cs"/>
              </a:rPr>
              <a:t>(Seguridad) Las partes del proyecto que van a requerir revisiones del diseño de seguridad antes del lanzamiento.</a:t>
            </a:r>
          </a:p>
          <a:p>
            <a:pPr lvl="0"/>
            <a:r>
              <a:rPr lang="es-ES" sz="1200" kern="1200" dirty="0">
                <a:solidFill>
                  <a:schemeClr val="tx1"/>
                </a:solidFill>
                <a:effectLst/>
                <a:latin typeface="+mn-lt"/>
                <a:ea typeface="+mn-ea"/>
                <a:cs typeface="+mn-cs"/>
              </a:rPr>
              <a:t>(Seguridad) Partes del proyecto (si procede) que van a requerir pruebas de penetración por parte de un grupo externo al equipo de proyecto y acordado mutuamente. </a:t>
            </a:r>
          </a:p>
          <a:p>
            <a:pPr lvl="0"/>
            <a:r>
              <a:rPr lang="es-ES" sz="1200" kern="1200" dirty="0">
                <a:solidFill>
                  <a:schemeClr val="tx1"/>
                </a:solidFill>
                <a:effectLst/>
                <a:latin typeface="+mn-lt"/>
                <a:ea typeface="+mn-ea"/>
                <a:cs typeface="+mn-cs"/>
              </a:rPr>
              <a:t>(Seguridad) Requisitos de análisis o de pruebas adicionales que el asesor de seguridad considera necesarios para mitigar los riesgos de seguridad.</a:t>
            </a:r>
          </a:p>
          <a:p>
            <a:pPr lvl="0"/>
            <a:r>
              <a:rPr lang="es-ES" sz="1200" kern="1200" dirty="0">
                <a:solidFill>
                  <a:schemeClr val="tx1"/>
                </a:solidFill>
                <a:effectLst/>
                <a:latin typeface="+mn-lt"/>
                <a:ea typeface="+mn-ea"/>
                <a:cs typeface="+mn-cs"/>
              </a:rPr>
              <a:t>(Seguridad) Ámbito específico de los </a:t>
            </a:r>
            <a:r>
              <a:rPr lang="es-ES" sz="1200" u="sng" kern="1200" dirty="0">
                <a:solidFill>
                  <a:schemeClr val="tx1"/>
                </a:solidFill>
                <a:effectLst/>
                <a:latin typeface="+mn-lt"/>
                <a:ea typeface="+mn-ea"/>
                <a:cs typeface="+mn-cs"/>
                <a:hlinkClick r:id="rId5" action="ppaction://hlinkfile"/>
              </a:rPr>
              <a:t>requisitos en materia de pruebas de exploración de vulnerabilidades mediante datos aleatorios</a:t>
            </a:r>
            <a:r>
              <a:rPr lang="es-ES" sz="1200" kern="1200" dirty="0">
                <a:solidFill>
                  <a:schemeClr val="tx1"/>
                </a:solidFill>
                <a:effectLst/>
                <a:latin typeface="+mn-lt"/>
                <a:ea typeface="+mn-ea"/>
                <a:cs typeface="+mn-cs"/>
              </a:rPr>
              <a:t>.</a:t>
            </a:r>
          </a:p>
          <a:p>
            <a:pPr lvl="0"/>
            <a:r>
              <a:rPr lang="es-ES" sz="1200" kern="1200" dirty="0">
                <a:solidFill>
                  <a:schemeClr val="tx1"/>
                </a:solidFill>
                <a:effectLst/>
                <a:latin typeface="+mn-lt"/>
                <a:ea typeface="+mn-ea"/>
                <a:cs typeface="+mn-cs"/>
              </a:rPr>
              <a:t>(Privacidad) ¿Cuál es el nivel de impacto sobre la privacidad? La respuesta a esta pregunta se basa en las siguientes pautas: </a:t>
            </a:r>
          </a:p>
          <a:p>
            <a:pPr lvl="0"/>
            <a:r>
              <a:rPr lang="es-ES" sz="1200" kern="1200" dirty="0">
                <a:solidFill>
                  <a:schemeClr val="tx1"/>
                </a:solidFill>
                <a:effectLst/>
                <a:latin typeface="+mn-lt"/>
                <a:ea typeface="+mn-ea"/>
                <a:cs typeface="+mn-cs"/>
              </a:rPr>
              <a:t>P1 Alto riesgo para la privacidad. La característica, el producto o el servicio almacena o transfiere datos de identificación personal, cambia la configuración o las asociaciones de los tipos de archivo, o instala software.</a:t>
            </a:r>
          </a:p>
          <a:p>
            <a:pPr lvl="0"/>
            <a:r>
              <a:rPr lang="es-ES" sz="1200" kern="1200" dirty="0">
                <a:solidFill>
                  <a:schemeClr val="tx1"/>
                </a:solidFill>
                <a:effectLst/>
                <a:latin typeface="+mn-lt"/>
                <a:ea typeface="+mn-ea"/>
                <a:cs typeface="+mn-cs"/>
              </a:rPr>
              <a:t>P2 Riesgo moderado para la privacidad. El único comportamiento que afecta a la privacidad en la característica, el producto o el servicio es una transferencia de datos anónimos única e iniciada por el usuario (por ejemplo, el usuario hace clic en un vínculo y el software abre un sitio web).</a:t>
            </a:r>
          </a:p>
          <a:p>
            <a:pPr lvl="0"/>
            <a:r>
              <a:rPr lang="es-ES" sz="1200" kern="1200" dirty="0">
                <a:solidFill>
                  <a:schemeClr val="tx1"/>
                </a:solidFill>
                <a:effectLst/>
                <a:latin typeface="+mn-lt"/>
                <a:ea typeface="+mn-ea"/>
                <a:cs typeface="+mn-cs"/>
              </a:rPr>
              <a:t>P3 Bajo riesgo para la privacidad. La característica, el producto o el servicio no tiene ningún comportamiento que afecte a la privacidad. No hay ninguna transferencia de datos personales ni anónimos, no se almacenan datos de identificación personal en el equipo, no se modifica ninguna configuración en nombre del usuario y no se instala ningún software.</a:t>
            </a:r>
          </a:p>
          <a:p>
            <a:endParaRPr lang="es-ES" dirty="0"/>
          </a:p>
          <a:p>
            <a:endParaRPr lang="es-ES" dirty="0"/>
          </a:p>
          <a:p>
            <a:endParaRPr lang="es-ES" dirty="0"/>
          </a:p>
        </p:txBody>
      </p:sp>
      <p:sp>
        <p:nvSpPr>
          <p:cNvPr id="4" name="3 Marcador de número de diapositiva"/>
          <p:cNvSpPr>
            <a:spLocks noGrp="1"/>
          </p:cNvSpPr>
          <p:nvPr>
            <p:ph type="sldNum" sz="quarter" idx="10"/>
          </p:nvPr>
        </p:nvSpPr>
        <p:spPr/>
        <p:txBody>
          <a:bodyPr/>
          <a:lstStyle/>
          <a:p>
            <a:fld id="{064AA158-4D4D-427B-8540-6E8BBC9EB3DF}" type="slidenum">
              <a:rPr lang="es-ES" smtClean="0"/>
              <a:t>9</a:t>
            </a:fld>
            <a:endParaRPr lang="es-ES"/>
          </a:p>
        </p:txBody>
      </p:sp>
    </p:spTree>
    <p:extLst>
      <p:ext uri="{BB962C8B-B14F-4D97-AF65-F5344CB8AC3E}">
        <p14:creationId xmlns:p14="http://schemas.microsoft.com/office/powerpoint/2010/main" val="9456915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Requisitos</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La necesidad de considerar la seguridad y la privacidad “desde el primer instante” es un aspecto fundamental del desarrollo de un sistema seguro. La fase de planificación inicial es el momento más apropiado para definir los requisitos de fiabilidad de un proyecto de software. Al definir los requisitos en una fase temprana, los equipos de desarrollo podrán identificar los principales hitos y resultados, y es posible integrar la seguridad y la privacidad de modo que los planes y programaciones se alteren lo menos posible. Al principio de un proyecto, se realiza un análisis de los requisitos de seguridad y privacidad, el cual incluye la especificación de los requisitos de seguridad mínimos de la aplicación en el entorno operativo previsto, así como la especificación y la implementación de un sistema de seguimiento de los elementos de trabajo y de las vulnerabilidades de seguridad. </a:t>
            </a:r>
          </a:p>
          <a:p>
            <a:endParaRPr lang="es-ES" dirty="0"/>
          </a:p>
          <a:p>
            <a:r>
              <a:rPr lang="es-ES" sz="1200" b="1" u="sng" kern="1200" dirty="0">
                <a:solidFill>
                  <a:schemeClr val="tx1"/>
                </a:solidFill>
                <a:effectLst/>
                <a:latin typeface="+mn-lt"/>
                <a:ea typeface="+mn-ea"/>
                <a:cs typeface="+mn-cs"/>
              </a:rPr>
              <a:t>Procedimiento 3 de SDL: umbrales de calidad y límites de errores</a:t>
            </a:r>
          </a:p>
          <a:p>
            <a:r>
              <a:rPr lang="es-ES" sz="1200" kern="1200" dirty="0">
                <a:solidFill>
                  <a:schemeClr val="tx1"/>
                </a:solidFill>
                <a:effectLst/>
                <a:latin typeface="+mn-lt"/>
                <a:ea typeface="+mn-ea"/>
                <a:cs typeface="+mn-cs"/>
              </a:rPr>
              <a:t>Se usan umbrales de calidad y </a:t>
            </a:r>
            <a:r>
              <a:rPr lang="es-ES" sz="1200" i="1" kern="1200" dirty="0">
                <a:solidFill>
                  <a:schemeClr val="tx1"/>
                </a:solidFill>
                <a:effectLst/>
                <a:latin typeface="+mn-lt"/>
                <a:ea typeface="+mn-ea"/>
                <a:cs typeface="+mn-cs"/>
              </a:rPr>
              <a:t>límites de errores</a:t>
            </a:r>
            <a:r>
              <a:rPr lang="es-ES" sz="1200" kern="1200" dirty="0">
                <a:solidFill>
                  <a:schemeClr val="tx1"/>
                </a:solidFill>
                <a:effectLst/>
                <a:latin typeface="+mn-lt"/>
                <a:ea typeface="+mn-ea"/>
                <a:cs typeface="+mn-cs"/>
              </a:rPr>
              <a:t> para establecer niveles mínimos aceptables de calidad en materia de seguridad y privacidad. Al definir estos criterios al comienzo de un proyecto, se comprenderán mejor los riesgos asociados a los problemas de seguridad y los equipos podrán identificar y corregir los errores de seguridad durante el desarrollo. El equipo de proyecto debe negociar los umbrales de calidad (por ejemplo, todas las advertencias del compilador se deben evaluar y corregir antes de proteger el código) para cada fase de desarrollo; a continuación, el asesor de seguridad debe aprobarlos y puede agregar aclaraciones específicas del proyecto así como requisitos de seguridad más estrictos según proceda. El equipo de proyecto también debe ilustrar la conformidad con los umbrales de calidad negociados para cumplimentar la </a:t>
            </a:r>
            <a:r>
              <a:rPr lang="es-ES" sz="1200" u="sng" kern="1200" dirty="0">
                <a:solidFill>
                  <a:schemeClr val="tx1"/>
                </a:solidFill>
                <a:effectLst/>
                <a:latin typeface="+mn-lt"/>
                <a:ea typeface="+mn-ea"/>
                <a:cs typeface="+mn-cs"/>
                <a:hlinkClick r:id="rId3" action="ppaction://hlinkfile"/>
              </a:rPr>
              <a:t>revisión de seguridad final.</a:t>
            </a:r>
            <a:r>
              <a:rPr lang="es-ES" sz="1200" kern="1200" dirty="0">
                <a:solidFill>
                  <a:schemeClr val="tx1"/>
                </a:solidFill>
                <a:effectLst/>
                <a:latin typeface="+mn-lt"/>
                <a:ea typeface="+mn-ea"/>
                <a:cs typeface="+mn-cs"/>
              </a:rPr>
              <a:t> </a:t>
            </a:r>
          </a:p>
          <a:p>
            <a:r>
              <a:rPr lang="es-ES" sz="1200" kern="1200" dirty="0">
                <a:solidFill>
                  <a:schemeClr val="tx1"/>
                </a:solidFill>
                <a:effectLst/>
                <a:latin typeface="+mn-lt"/>
                <a:ea typeface="+mn-ea"/>
                <a:cs typeface="+mn-cs"/>
              </a:rPr>
              <a:t>Un límite de errores es un umbral de calidad que se aplica a todo el proyecto de desarrollo de software. Se usa para definir los umbrales de gravedad de las vulnerabilidades de seguridad; por ejemplo, en la aplicación no hay vulnerabilidades conocidas que estén clasificadas como “críticas” o “importantes” en el momento de su lanzamiento. Una vez definido, el límite de errores no debe bajarse nunca. Un límite de errores dinámico es un objetivo no fijo que probablemente no se entienda muy bien en el ámbito del desarrollo.</a:t>
            </a:r>
          </a:p>
          <a:p>
            <a:endParaRPr lang="es-ES" sz="1200" kern="1200" dirty="0">
              <a:solidFill>
                <a:schemeClr val="tx1"/>
              </a:solidFill>
              <a:effectLst/>
              <a:latin typeface="+mn-lt"/>
              <a:ea typeface="+mn-ea"/>
              <a:cs typeface="+mn-cs"/>
            </a:endParaRPr>
          </a:p>
          <a:p>
            <a:r>
              <a:rPr lang="es-ES" sz="1200" b="1" u="sng" kern="1200" dirty="0">
                <a:solidFill>
                  <a:schemeClr val="tx1"/>
                </a:solidFill>
                <a:effectLst/>
                <a:latin typeface="+mn-lt"/>
                <a:ea typeface="+mn-ea"/>
                <a:cs typeface="+mn-cs"/>
              </a:rPr>
              <a:t>Procedimiento 4 de SDL: evaluación de los riesgos de seguridad y privacidad</a:t>
            </a:r>
          </a:p>
          <a:p>
            <a:r>
              <a:rPr lang="es-ES" sz="1200" kern="1200" dirty="0">
                <a:solidFill>
                  <a:schemeClr val="tx1"/>
                </a:solidFill>
                <a:effectLst/>
                <a:latin typeface="+mn-lt"/>
                <a:ea typeface="+mn-ea"/>
                <a:cs typeface="+mn-cs"/>
              </a:rPr>
              <a:t>Las evaluaciones de los riesgos de seguridad (SRA) y de privacidad (PRA) son procesos obligatorios que identifican los aspectos funcionales del software que requieren una revisión exhaustiva. </a:t>
            </a:r>
            <a:r>
              <a:rPr lang="en-US" sz="1200" kern="1200" dirty="0" err="1">
                <a:solidFill>
                  <a:schemeClr val="tx1"/>
                </a:solidFill>
                <a:effectLst/>
                <a:latin typeface="+mn-lt"/>
                <a:ea typeface="+mn-ea"/>
                <a:cs typeface="+mn-cs"/>
              </a:rPr>
              <a:t>Dichas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evaluaciones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deben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incluir</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siguiente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información</a:t>
            </a:r>
            <a:r>
              <a:rPr lang="en-US" sz="1200" kern="1200" dirty="0">
                <a:solidFill>
                  <a:schemeClr val="tx1"/>
                </a:solidFill>
                <a:effectLst/>
                <a:latin typeface="+mn-lt"/>
                <a:ea typeface="+mn-ea"/>
                <a:cs typeface="+mn-cs"/>
              </a:rPr>
              <a:t>:</a:t>
            </a:r>
            <a:endParaRPr lang="es-ES"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(Seguridad) Partes del proyecto que van a requerir </a:t>
            </a:r>
            <a:r>
              <a:rPr lang="es-ES" sz="1200" u="sng" kern="1200" dirty="0">
                <a:solidFill>
                  <a:schemeClr val="tx1"/>
                </a:solidFill>
                <a:effectLst/>
                <a:latin typeface="+mn-lt"/>
                <a:ea typeface="+mn-ea"/>
                <a:cs typeface="+mn-cs"/>
                <a:hlinkClick r:id="rId4" action="ppaction://hlinkfile"/>
              </a:rPr>
              <a:t>modelos de riesgos</a:t>
            </a:r>
            <a:r>
              <a:rPr lang="es-ES" sz="1200" kern="1200" dirty="0">
                <a:solidFill>
                  <a:schemeClr val="tx1"/>
                </a:solidFill>
                <a:effectLst/>
                <a:latin typeface="+mn-lt"/>
                <a:ea typeface="+mn-ea"/>
                <a:cs typeface="+mn-cs"/>
              </a:rPr>
              <a:t> antes del lanzamiento.</a:t>
            </a:r>
          </a:p>
          <a:p>
            <a:pPr lvl="0"/>
            <a:r>
              <a:rPr lang="es-ES" sz="1200" kern="1200" dirty="0">
                <a:solidFill>
                  <a:schemeClr val="tx1"/>
                </a:solidFill>
                <a:effectLst/>
                <a:latin typeface="+mn-lt"/>
                <a:ea typeface="+mn-ea"/>
                <a:cs typeface="+mn-cs"/>
              </a:rPr>
              <a:t>(Seguridad) Las partes del proyecto que van a requerir revisiones del diseño de seguridad antes del lanzamiento.</a:t>
            </a:r>
          </a:p>
          <a:p>
            <a:pPr lvl="0"/>
            <a:r>
              <a:rPr lang="es-ES" sz="1200" kern="1200" dirty="0">
                <a:solidFill>
                  <a:schemeClr val="tx1"/>
                </a:solidFill>
                <a:effectLst/>
                <a:latin typeface="+mn-lt"/>
                <a:ea typeface="+mn-ea"/>
                <a:cs typeface="+mn-cs"/>
              </a:rPr>
              <a:t>(Seguridad) Partes del proyecto (si procede) que van a requerir pruebas de penetración por parte de un grupo externo al equipo de proyecto y acordado mutuamente. </a:t>
            </a:r>
          </a:p>
          <a:p>
            <a:pPr lvl="0"/>
            <a:r>
              <a:rPr lang="es-ES" sz="1200" kern="1200" dirty="0">
                <a:solidFill>
                  <a:schemeClr val="tx1"/>
                </a:solidFill>
                <a:effectLst/>
                <a:latin typeface="+mn-lt"/>
                <a:ea typeface="+mn-ea"/>
                <a:cs typeface="+mn-cs"/>
              </a:rPr>
              <a:t>(Seguridad) Requisitos de análisis o de pruebas adicionales que el asesor de seguridad considera necesarios para mitigar los riesgos de seguridad.</a:t>
            </a:r>
          </a:p>
          <a:p>
            <a:pPr lvl="0"/>
            <a:r>
              <a:rPr lang="es-ES" sz="1200" kern="1200" dirty="0">
                <a:solidFill>
                  <a:schemeClr val="tx1"/>
                </a:solidFill>
                <a:effectLst/>
                <a:latin typeface="+mn-lt"/>
                <a:ea typeface="+mn-ea"/>
                <a:cs typeface="+mn-cs"/>
              </a:rPr>
              <a:t>(Seguridad) Ámbito específico de los </a:t>
            </a:r>
            <a:r>
              <a:rPr lang="es-ES" sz="1200" u="sng" kern="1200" dirty="0">
                <a:solidFill>
                  <a:schemeClr val="tx1"/>
                </a:solidFill>
                <a:effectLst/>
                <a:latin typeface="+mn-lt"/>
                <a:ea typeface="+mn-ea"/>
                <a:cs typeface="+mn-cs"/>
                <a:hlinkClick r:id="rId5" action="ppaction://hlinkfile"/>
              </a:rPr>
              <a:t>requisitos en materia de pruebas de exploración de vulnerabilidades mediante datos aleatorios</a:t>
            </a:r>
            <a:r>
              <a:rPr lang="es-ES" sz="1200" kern="1200" dirty="0">
                <a:solidFill>
                  <a:schemeClr val="tx1"/>
                </a:solidFill>
                <a:effectLst/>
                <a:latin typeface="+mn-lt"/>
                <a:ea typeface="+mn-ea"/>
                <a:cs typeface="+mn-cs"/>
              </a:rPr>
              <a:t>.</a:t>
            </a:r>
          </a:p>
          <a:p>
            <a:pPr lvl="0"/>
            <a:r>
              <a:rPr lang="es-ES" sz="1200" kern="1200" dirty="0">
                <a:solidFill>
                  <a:schemeClr val="tx1"/>
                </a:solidFill>
                <a:effectLst/>
                <a:latin typeface="+mn-lt"/>
                <a:ea typeface="+mn-ea"/>
                <a:cs typeface="+mn-cs"/>
              </a:rPr>
              <a:t>(Privacidad) ¿Cuál es el nivel de impacto sobre la privacidad? La respuesta a esta pregunta se basa en las siguientes pautas: </a:t>
            </a:r>
          </a:p>
          <a:p>
            <a:pPr lvl="0"/>
            <a:r>
              <a:rPr lang="es-ES" sz="1200" kern="1200" dirty="0">
                <a:solidFill>
                  <a:schemeClr val="tx1"/>
                </a:solidFill>
                <a:effectLst/>
                <a:latin typeface="+mn-lt"/>
                <a:ea typeface="+mn-ea"/>
                <a:cs typeface="+mn-cs"/>
              </a:rPr>
              <a:t>P1 Alto riesgo para la privacidad. La característica, el producto o el servicio almacena o transfiere datos de identificación personal, cambia la configuración o las asociaciones de los tipos de archivo, o instala software.</a:t>
            </a:r>
          </a:p>
          <a:p>
            <a:pPr lvl="0"/>
            <a:r>
              <a:rPr lang="es-ES" sz="1200" kern="1200" dirty="0">
                <a:solidFill>
                  <a:schemeClr val="tx1"/>
                </a:solidFill>
                <a:effectLst/>
                <a:latin typeface="+mn-lt"/>
                <a:ea typeface="+mn-ea"/>
                <a:cs typeface="+mn-cs"/>
              </a:rPr>
              <a:t>P2 Riesgo moderado para la privacidad. El único comportamiento que afecta a la privacidad en la característica, el producto o el servicio es una transferencia de datos anónimos única e iniciada por el usuario (por ejemplo, el usuario hace clic en un vínculo y el software abre un sitio web).</a:t>
            </a:r>
          </a:p>
          <a:p>
            <a:pPr lvl="0"/>
            <a:r>
              <a:rPr lang="es-ES" sz="1200" kern="1200" dirty="0">
                <a:solidFill>
                  <a:schemeClr val="tx1"/>
                </a:solidFill>
                <a:effectLst/>
                <a:latin typeface="+mn-lt"/>
                <a:ea typeface="+mn-ea"/>
                <a:cs typeface="+mn-cs"/>
              </a:rPr>
              <a:t>P3 Bajo riesgo para la privacidad. La característica, el producto o el servicio no tiene ningún comportamiento que afecte a la privacidad. No hay ninguna transferencia de datos personales ni anónimos, no se almacenan datos de identificación personal en el equipo, no se modifica ninguna configuración en nombre del usuario y no se instala ningún software.</a:t>
            </a:r>
          </a:p>
          <a:p>
            <a:endParaRPr lang="es-ES" dirty="0"/>
          </a:p>
          <a:p>
            <a:endParaRPr lang="es-ES" dirty="0"/>
          </a:p>
          <a:p>
            <a:endParaRPr lang="es-ES" dirty="0"/>
          </a:p>
        </p:txBody>
      </p:sp>
      <p:sp>
        <p:nvSpPr>
          <p:cNvPr id="4" name="3 Marcador de número de diapositiva"/>
          <p:cNvSpPr>
            <a:spLocks noGrp="1"/>
          </p:cNvSpPr>
          <p:nvPr>
            <p:ph type="sldNum" sz="quarter" idx="10"/>
          </p:nvPr>
        </p:nvSpPr>
        <p:spPr/>
        <p:txBody>
          <a:bodyPr/>
          <a:lstStyle/>
          <a:p>
            <a:fld id="{064AA158-4D4D-427B-8540-6E8BBC9EB3DF}" type="slidenum">
              <a:rPr lang="es-ES" smtClean="0"/>
              <a:t>10</a:t>
            </a:fld>
            <a:endParaRPr lang="es-ES"/>
          </a:p>
        </p:txBody>
      </p:sp>
    </p:spTree>
    <p:extLst>
      <p:ext uri="{BB962C8B-B14F-4D97-AF65-F5344CB8AC3E}">
        <p14:creationId xmlns:p14="http://schemas.microsoft.com/office/powerpoint/2010/main" val="945691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a:bodyPr>
          <a:lstStyle/>
          <a:p>
            <a:pPr>
              <a:defRPr/>
            </a:pPr>
            <a:endParaRPr lang="en-US" dirty="0"/>
          </a:p>
        </p:txBody>
      </p:sp>
      <p:sp>
        <p:nvSpPr>
          <p:cNvPr id="4" name="Slide Number Placeholder 3"/>
          <p:cNvSpPr>
            <a:spLocks noGrp="1"/>
          </p:cNvSpPr>
          <p:nvPr>
            <p:ph type="sldNum" sz="quarter" idx="5"/>
          </p:nvPr>
        </p:nvSpPr>
        <p:spPr/>
        <p:txBody>
          <a:bodyPr/>
          <a:lstStyle/>
          <a:p>
            <a:pPr>
              <a:defRPr/>
            </a:pPr>
            <a:fld id="{0F4BEC60-A2BE-4F05-8D38-115F0B512B93}" type="slidenum">
              <a:rPr lang="en-US" smtClean="0"/>
              <a:pPr>
                <a:defRPr/>
              </a:pPr>
              <a:t>11</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Requisitos</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La necesidad de considerar la seguridad y la privacidad “desde el primer instante” es un aspecto fundamental del desarrollo de un sistema seguro. La fase de planificación inicial es el momento más apropiado para definir los requisitos de fiabilidad de un proyecto de software. Al definir los requisitos en una fase temprana, los equipos de desarrollo podrán identificar los principales hitos y resultados, y es posible integrar la seguridad y la privacidad de modo que los planes y programaciones se alteren lo menos posible. Al principio de un proyecto, se realiza un análisis de los requisitos de seguridad y privacidad, el cual incluye la especificación de los requisitos de seguridad mínimos de la aplicación en el entorno operativo previsto, así como la especificación y la implementación de un sistema de seguimiento de los elementos de trabajo y de las vulnerabilidades de seguridad. </a:t>
            </a:r>
          </a:p>
          <a:p>
            <a:endParaRPr lang="es-ES" dirty="0"/>
          </a:p>
          <a:p>
            <a:r>
              <a:rPr lang="es-ES" sz="1200" b="1" u="sng" kern="1200" dirty="0">
                <a:solidFill>
                  <a:schemeClr val="tx1"/>
                </a:solidFill>
                <a:effectLst/>
                <a:latin typeface="+mn-lt"/>
                <a:ea typeface="+mn-ea"/>
                <a:cs typeface="+mn-cs"/>
              </a:rPr>
              <a:t>Procedimiento 3 de SDL: umbrales de calidad y límites de errores</a:t>
            </a:r>
          </a:p>
          <a:p>
            <a:r>
              <a:rPr lang="es-ES" sz="1200" kern="1200" dirty="0">
                <a:solidFill>
                  <a:schemeClr val="tx1"/>
                </a:solidFill>
                <a:effectLst/>
                <a:latin typeface="+mn-lt"/>
                <a:ea typeface="+mn-ea"/>
                <a:cs typeface="+mn-cs"/>
              </a:rPr>
              <a:t>Se usan umbrales de calidad y </a:t>
            </a:r>
            <a:r>
              <a:rPr lang="es-ES" sz="1200" i="1" kern="1200" dirty="0">
                <a:solidFill>
                  <a:schemeClr val="tx1"/>
                </a:solidFill>
                <a:effectLst/>
                <a:latin typeface="+mn-lt"/>
                <a:ea typeface="+mn-ea"/>
                <a:cs typeface="+mn-cs"/>
              </a:rPr>
              <a:t>límites de errores</a:t>
            </a:r>
            <a:r>
              <a:rPr lang="es-ES" sz="1200" kern="1200" dirty="0">
                <a:solidFill>
                  <a:schemeClr val="tx1"/>
                </a:solidFill>
                <a:effectLst/>
                <a:latin typeface="+mn-lt"/>
                <a:ea typeface="+mn-ea"/>
                <a:cs typeface="+mn-cs"/>
              </a:rPr>
              <a:t> para establecer niveles mínimos aceptables de calidad en materia de seguridad y privacidad. Al definir estos criterios al comienzo de un proyecto, se comprenderán mejor los riesgos asociados a los problemas de seguridad y los equipos podrán identificar y corregir los errores de seguridad durante el desarrollo. El equipo de proyecto debe negociar los umbrales de calidad (por ejemplo, todas las advertencias del compilador se deben evaluar y corregir antes de proteger el código) para cada fase de desarrollo; a continuación, el asesor de seguridad debe aprobarlos y puede agregar aclaraciones específicas del proyecto así como requisitos de seguridad más estrictos según proceda. El equipo de proyecto también debe ilustrar la conformidad con los umbrales de calidad negociados para cumplimentar la </a:t>
            </a:r>
            <a:r>
              <a:rPr lang="es-ES" sz="1200" u="sng" kern="1200" dirty="0">
                <a:solidFill>
                  <a:schemeClr val="tx1"/>
                </a:solidFill>
                <a:effectLst/>
                <a:latin typeface="+mn-lt"/>
                <a:ea typeface="+mn-ea"/>
                <a:cs typeface="+mn-cs"/>
                <a:hlinkClick r:id="rId3" action="ppaction://hlinkfile"/>
              </a:rPr>
              <a:t>revisión de seguridad final.</a:t>
            </a:r>
            <a:r>
              <a:rPr lang="es-ES" sz="1200" kern="1200" dirty="0">
                <a:solidFill>
                  <a:schemeClr val="tx1"/>
                </a:solidFill>
                <a:effectLst/>
                <a:latin typeface="+mn-lt"/>
                <a:ea typeface="+mn-ea"/>
                <a:cs typeface="+mn-cs"/>
              </a:rPr>
              <a:t> </a:t>
            </a:r>
          </a:p>
          <a:p>
            <a:r>
              <a:rPr lang="es-ES" sz="1200" kern="1200" dirty="0">
                <a:solidFill>
                  <a:schemeClr val="tx1"/>
                </a:solidFill>
                <a:effectLst/>
                <a:latin typeface="+mn-lt"/>
                <a:ea typeface="+mn-ea"/>
                <a:cs typeface="+mn-cs"/>
              </a:rPr>
              <a:t>Un límite de errores es un umbral de calidad que se aplica a todo el proyecto de desarrollo de software. Se usa para definir los umbrales de gravedad de las vulnerabilidades de seguridad; por ejemplo, en la aplicación no hay vulnerabilidades conocidas que estén clasificadas como “críticas” o “importantes” en el momento de su lanzamiento. Una vez definido, el límite de errores no debe bajarse nunca. Un límite de errores dinámico es un objetivo no fijo que probablemente no se entienda muy bien en el ámbito del desarrollo.</a:t>
            </a:r>
          </a:p>
          <a:p>
            <a:endParaRPr lang="es-ES" sz="1200" kern="1200" dirty="0">
              <a:solidFill>
                <a:schemeClr val="tx1"/>
              </a:solidFill>
              <a:effectLst/>
              <a:latin typeface="+mn-lt"/>
              <a:ea typeface="+mn-ea"/>
              <a:cs typeface="+mn-cs"/>
            </a:endParaRPr>
          </a:p>
          <a:p>
            <a:r>
              <a:rPr lang="es-ES" sz="1200" b="1" u="sng" kern="1200" dirty="0">
                <a:solidFill>
                  <a:schemeClr val="tx1"/>
                </a:solidFill>
                <a:effectLst/>
                <a:latin typeface="+mn-lt"/>
                <a:ea typeface="+mn-ea"/>
                <a:cs typeface="+mn-cs"/>
              </a:rPr>
              <a:t>Procedimiento 4 de SDL: evaluación de los riesgos de seguridad y privacidad</a:t>
            </a:r>
          </a:p>
          <a:p>
            <a:r>
              <a:rPr lang="es-ES" sz="1200" kern="1200" dirty="0">
                <a:solidFill>
                  <a:schemeClr val="tx1"/>
                </a:solidFill>
                <a:effectLst/>
                <a:latin typeface="+mn-lt"/>
                <a:ea typeface="+mn-ea"/>
                <a:cs typeface="+mn-cs"/>
              </a:rPr>
              <a:t>Las evaluaciones de los riesgos de seguridad (SRA) y de privacidad (PRA) son procesos obligatorios que identifican los aspectos funcionales del software que requieren una revisión exhaustiva. </a:t>
            </a:r>
            <a:r>
              <a:rPr lang="en-US" sz="1200" kern="1200" dirty="0" err="1">
                <a:solidFill>
                  <a:schemeClr val="tx1"/>
                </a:solidFill>
                <a:effectLst/>
                <a:latin typeface="+mn-lt"/>
                <a:ea typeface="+mn-ea"/>
                <a:cs typeface="+mn-cs"/>
              </a:rPr>
              <a:t>Dichas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evaluaciones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deben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incluir</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siguiente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información</a:t>
            </a:r>
            <a:r>
              <a:rPr lang="en-US" sz="1200" kern="1200" dirty="0">
                <a:solidFill>
                  <a:schemeClr val="tx1"/>
                </a:solidFill>
                <a:effectLst/>
                <a:latin typeface="+mn-lt"/>
                <a:ea typeface="+mn-ea"/>
                <a:cs typeface="+mn-cs"/>
              </a:rPr>
              <a:t>:</a:t>
            </a:r>
            <a:endParaRPr lang="es-ES"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(Seguridad) Partes del proyecto que van a requerir </a:t>
            </a:r>
            <a:r>
              <a:rPr lang="es-ES" sz="1200" u="sng" kern="1200" dirty="0">
                <a:solidFill>
                  <a:schemeClr val="tx1"/>
                </a:solidFill>
                <a:effectLst/>
                <a:latin typeface="+mn-lt"/>
                <a:ea typeface="+mn-ea"/>
                <a:cs typeface="+mn-cs"/>
                <a:hlinkClick r:id="rId4" action="ppaction://hlinkfile"/>
              </a:rPr>
              <a:t>modelos de riesgos</a:t>
            </a:r>
            <a:r>
              <a:rPr lang="es-ES" sz="1200" kern="1200" dirty="0">
                <a:solidFill>
                  <a:schemeClr val="tx1"/>
                </a:solidFill>
                <a:effectLst/>
                <a:latin typeface="+mn-lt"/>
                <a:ea typeface="+mn-ea"/>
                <a:cs typeface="+mn-cs"/>
              </a:rPr>
              <a:t> antes del lanzamiento.</a:t>
            </a:r>
          </a:p>
          <a:p>
            <a:pPr lvl="0"/>
            <a:r>
              <a:rPr lang="es-ES" sz="1200" kern="1200" dirty="0">
                <a:solidFill>
                  <a:schemeClr val="tx1"/>
                </a:solidFill>
                <a:effectLst/>
                <a:latin typeface="+mn-lt"/>
                <a:ea typeface="+mn-ea"/>
                <a:cs typeface="+mn-cs"/>
              </a:rPr>
              <a:t>(Seguridad) Las partes del proyecto que van a requerir revisiones del diseño de seguridad antes del lanzamiento.</a:t>
            </a:r>
          </a:p>
          <a:p>
            <a:pPr lvl="0"/>
            <a:r>
              <a:rPr lang="es-ES" sz="1200" kern="1200" dirty="0">
                <a:solidFill>
                  <a:schemeClr val="tx1"/>
                </a:solidFill>
                <a:effectLst/>
                <a:latin typeface="+mn-lt"/>
                <a:ea typeface="+mn-ea"/>
                <a:cs typeface="+mn-cs"/>
              </a:rPr>
              <a:t>(Seguridad) Partes del proyecto (si procede) que van a requerir pruebas de penetración por parte de un grupo externo al equipo de proyecto y acordado mutuamente. </a:t>
            </a:r>
          </a:p>
          <a:p>
            <a:pPr lvl="0"/>
            <a:r>
              <a:rPr lang="es-ES" sz="1200" kern="1200" dirty="0">
                <a:solidFill>
                  <a:schemeClr val="tx1"/>
                </a:solidFill>
                <a:effectLst/>
                <a:latin typeface="+mn-lt"/>
                <a:ea typeface="+mn-ea"/>
                <a:cs typeface="+mn-cs"/>
              </a:rPr>
              <a:t>(Seguridad) Requisitos de análisis o de pruebas adicionales que el asesor de seguridad considera necesarios para mitigar los riesgos de seguridad.</a:t>
            </a:r>
          </a:p>
          <a:p>
            <a:pPr lvl="0"/>
            <a:r>
              <a:rPr lang="es-ES" sz="1200" kern="1200" dirty="0">
                <a:solidFill>
                  <a:schemeClr val="tx1"/>
                </a:solidFill>
                <a:effectLst/>
                <a:latin typeface="+mn-lt"/>
                <a:ea typeface="+mn-ea"/>
                <a:cs typeface="+mn-cs"/>
              </a:rPr>
              <a:t>(Seguridad) Ámbito específico de los </a:t>
            </a:r>
            <a:r>
              <a:rPr lang="es-ES" sz="1200" u="sng" kern="1200" dirty="0">
                <a:solidFill>
                  <a:schemeClr val="tx1"/>
                </a:solidFill>
                <a:effectLst/>
                <a:latin typeface="+mn-lt"/>
                <a:ea typeface="+mn-ea"/>
                <a:cs typeface="+mn-cs"/>
                <a:hlinkClick r:id="rId5" action="ppaction://hlinkfile"/>
              </a:rPr>
              <a:t>requisitos en materia de pruebas de exploración de vulnerabilidades mediante datos aleatorios</a:t>
            </a:r>
            <a:r>
              <a:rPr lang="es-ES" sz="1200" kern="1200" dirty="0">
                <a:solidFill>
                  <a:schemeClr val="tx1"/>
                </a:solidFill>
                <a:effectLst/>
                <a:latin typeface="+mn-lt"/>
                <a:ea typeface="+mn-ea"/>
                <a:cs typeface="+mn-cs"/>
              </a:rPr>
              <a:t>.</a:t>
            </a:r>
          </a:p>
          <a:p>
            <a:pPr lvl="0"/>
            <a:r>
              <a:rPr lang="es-ES" sz="1200" kern="1200" dirty="0">
                <a:solidFill>
                  <a:schemeClr val="tx1"/>
                </a:solidFill>
                <a:effectLst/>
                <a:latin typeface="+mn-lt"/>
                <a:ea typeface="+mn-ea"/>
                <a:cs typeface="+mn-cs"/>
              </a:rPr>
              <a:t>(Privacidad) ¿Cuál es el nivel de impacto sobre la privacidad? La respuesta a esta pregunta se basa en las siguientes pautas: </a:t>
            </a:r>
          </a:p>
          <a:p>
            <a:pPr lvl="0"/>
            <a:r>
              <a:rPr lang="es-ES" sz="1200" kern="1200" dirty="0">
                <a:solidFill>
                  <a:schemeClr val="tx1"/>
                </a:solidFill>
                <a:effectLst/>
                <a:latin typeface="+mn-lt"/>
                <a:ea typeface="+mn-ea"/>
                <a:cs typeface="+mn-cs"/>
              </a:rPr>
              <a:t>P1 Alto riesgo para la privacidad. La característica, el producto o el servicio almacena o transfiere datos de identificación personal, cambia la configuración o las asociaciones de los tipos de archivo, o instala software.</a:t>
            </a:r>
          </a:p>
          <a:p>
            <a:pPr lvl="0"/>
            <a:r>
              <a:rPr lang="es-ES" sz="1200" kern="1200" dirty="0">
                <a:solidFill>
                  <a:schemeClr val="tx1"/>
                </a:solidFill>
                <a:effectLst/>
                <a:latin typeface="+mn-lt"/>
                <a:ea typeface="+mn-ea"/>
                <a:cs typeface="+mn-cs"/>
              </a:rPr>
              <a:t>P2 Riesgo moderado para la privacidad. El único comportamiento que afecta a la privacidad en la característica, el producto o el servicio es una transferencia de datos anónimos única e iniciada por el usuario (por ejemplo, el usuario hace clic en un vínculo y el software abre un sitio web).</a:t>
            </a:r>
          </a:p>
          <a:p>
            <a:pPr lvl="0"/>
            <a:r>
              <a:rPr lang="es-ES" sz="1200" kern="1200" dirty="0">
                <a:solidFill>
                  <a:schemeClr val="tx1"/>
                </a:solidFill>
                <a:effectLst/>
                <a:latin typeface="+mn-lt"/>
                <a:ea typeface="+mn-ea"/>
                <a:cs typeface="+mn-cs"/>
              </a:rPr>
              <a:t>P3 Bajo riesgo para la privacidad. La característica, el producto o el servicio no tiene ningún comportamiento que afecte a la privacidad. No hay ninguna transferencia de datos personales ni anónimos, no se almacenan datos de identificación personal en el equipo, no se modifica ninguna configuración en nombre del usuario y no se instala ningún software.</a:t>
            </a:r>
          </a:p>
          <a:p>
            <a:endParaRPr lang="es-ES" dirty="0"/>
          </a:p>
          <a:p>
            <a:endParaRPr lang="es-ES" dirty="0"/>
          </a:p>
          <a:p>
            <a:endParaRPr lang="es-ES" dirty="0"/>
          </a:p>
        </p:txBody>
      </p:sp>
      <p:sp>
        <p:nvSpPr>
          <p:cNvPr id="4" name="3 Marcador de número de diapositiva"/>
          <p:cNvSpPr>
            <a:spLocks noGrp="1"/>
          </p:cNvSpPr>
          <p:nvPr>
            <p:ph type="sldNum" sz="quarter" idx="10"/>
          </p:nvPr>
        </p:nvSpPr>
        <p:spPr/>
        <p:txBody>
          <a:bodyPr/>
          <a:lstStyle/>
          <a:p>
            <a:fld id="{064AA158-4D4D-427B-8540-6E8BBC9EB3DF}" type="slidenum">
              <a:rPr lang="es-ES" smtClean="0"/>
              <a:t>12</a:t>
            </a:fld>
            <a:endParaRPr lang="es-ES"/>
          </a:p>
        </p:txBody>
      </p:sp>
    </p:spTree>
    <p:extLst>
      <p:ext uri="{BB962C8B-B14F-4D97-AF65-F5344CB8AC3E}">
        <p14:creationId xmlns:p14="http://schemas.microsoft.com/office/powerpoint/2010/main" val="9456915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Requisitos</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La necesidad de considerar la seguridad y la privacidad “desde el primer instante” es un aspecto fundamental del desarrollo de un sistema seguro. La fase de planificación inicial es el momento más apropiado para definir los requisitos de fiabilidad de un proyecto de software. Al definir los requisitos en una fase temprana, los equipos de desarrollo podrán identificar los principales hitos y resultados, y es posible integrar la seguridad y la privacidad de modo que los planes y programaciones se alteren lo menos posible. Al principio de un proyecto, se realiza un análisis de los requisitos de seguridad y privacidad, el cual incluye la especificación de los requisitos de seguridad mínimos de la aplicación en el entorno operativo previsto, así como la especificación y la implementación de un sistema de seguimiento de los elementos de trabajo y de las vulnerabilidades de seguridad. </a:t>
            </a:r>
          </a:p>
          <a:p>
            <a:endParaRPr lang="es-ES" dirty="0"/>
          </a:p>
          <a:p>
            <a:r>
              <a:rPr lang="es-ES" sz="1200" b="1" u="sng" kern="1200" dirty="0">
                <a:solidFill>
                  <a:schemeClr val="tx1"/>
                </a:solidFill>
                <a:effectLst/>
                <a:latin typeface="+mn-lt"/>
                <a:ea typeface="+mn-ea"/>
                <a:cs typeface="+mn-cs"/>
              </a:rPr>
              <a:t>Procedimiento 3 de SDL: umbrales de calidad y límites de errores</a:t>
            </a:r>
          </a:p>
          <a:p>
            <a:r>
              <a:rPr lang="es-ES" sz="1200" kern="1200" dirty="0">
                <a:solidFill>
                  <a:schemeClr val="tx1"/>
                </a:solidFill>
                <a:effectLst/>
                <a:latin typeface="+mn-lt"/>
                <a:ea typeface="+mn-ea"/>
                <a:cs typeface="+mn-cs"/>
              </a:rPr>
              <a:t>Se usan umbrales de calidad y </a:t>
            </a:r>
            <a:r>
              <a:rPr lang="es-ES" sz="1200" i="1" kern="1200" dirty="0">
                <a:solidFill>
                  <a:schemeClr val="tx1"/>
                </a:solidFill>
                <a:effectLst/>
                <a:latin typeface="+mn-lt"/>
                <a:ea typeface="+mn-ea"/>
                <a:cs typeface="+mn-cs"/>
              </a:rPr>
              <a:t>límites de errores</a:t>
            </a:r>
            <a:r>
              <a:rPr lang="es-ES" sz="1200" kern="1200" dirty="0">
                <a:solidFill>
                  <a:schemeClr val="tx1"/>
                </a:solidFill>
                <a:effectLst/>
                <a:latin typeface="+mn-lt"/>
                <a:ea typeface="+mn-ea"/>
                <a:cs typeface="+mn-cs"/>
              </a:rPr>
              <a:t> para establecer niveles mínimos aceptables de calidad en materia de seguridad y privacidad. Al definir estos criterios al comienzo de un proyecto, se comprenderán mejor los riesgos asociados a los problemas de seguridad y los equipos podrán identificar y corregir los errores de seguridad durante el desarrollo. El equipo de proyecto debe negociar los umbrales de calidad (por ejemplo, todas las advertencias del compilador se deben evaluar y corregir antes de proteger el código) para cada fase de desarrollo; a continuación, el asesor de seguridad debe aprobarlos y puede agregar aclaraciones específicas del proyecto así como requisitos de seguridad más estrictos según proceda. El equipo de proyecto también debe ilustrar la conformidad con los umbrales de calidad negociados para cumplimentar la </a:t>
            </a:r>
            <a:r>
              <a:rPr lang="es-ES" sz="1200" u="sng" kern="1200" dirty="0">
                <a:solidFill>
                  <a:schemeClr val="tx1"/>
                </a:solidFill>
                <a:effectLst/>
                <a:latin typeface="+mn-lt"/>
                <a:ea typeface="+mn-ea"/>
                <a:cs typeface="+mn-cs"/>
                <a:hlinkClick r:id="rId3" action="ppaction://hlinkfile"/>
              </a:rPr>
              <a:t>revisión de seguridad final.</a:t>
            </a:r>
            <a:r>
              <a:rPr lang="es-ES" sz="1200" kern="1200" dirty="0">
                <a:solidFill>
                  <a:schemeClr val="tx1"/>
                </a:solidFill>
                <a:effectLst/>
                <a:latin typeface="+mn-lt"/>
                <a:ea typeface="+mn-ea"/>
                <a:cs typeface="+mn-cs"/>
              </a:rPr>
              <a:t> </a:t>
            </a:r>
          </a:p>
          <a:p>
            <a:r>
              <a:rPr lang="es-ES" sz="1200" kern="1200" dirty="0">
                <a:solidFill>
                  <a:schemeClr val="tx1"/>
                </a:solidFill>
                <a:effectLst/>
                <a:latin typeface="+mn-lt"/>
                <a:ea typeface="+mn-ea"/>
                <a:cs typeface="+mn-cs"/>
              </a:rPr>
              <a:t>Un límite de errores es un umbral de calidad que se aplica a todo el proyecto de desarrollo de software. Se usa para definir los umbrales de gravedad de las vulnerabilidades de seguridad; por ejemplo, en la aplicación no hay vulnerabilidades conocidas que estén clasificadas como “críticas” o “importantes” en el momento de su lanzamiento. Una vez definido, el límite de errores no debe bajarse nunca. Un límite de errores dinámico es un objetivo no fijo que probablemente no se entienda muy bien en el ámbito del desarrollo.</a:t>
            </a:r>
          </a:p>
          <a:p>
            <a:endParaRPr lang="es-ES" sz="1200" kern="1200" dirty="0">
              <a:solidFill>
                <a:schemeClr val="tx1"/>
              </a:solidFill>
              <a:effectLst/>
              <a:latin typeface="+mn-lt"/>
              <a:ea typeface="+mn-ea"/>
              <a:cs typeface="+mn-cs"/>
            </a:endParaRPr>
          </a:p>
          <a:p>
            <a:r>
              <a:rPr lang="es-ES" sz="1200" b="1" u="sng" kern="1200" dirty="0">
                <a:solidFill>
                  <a:schemeClr val="tx1"/>
                </a:solidFill>
                <a:effectLst/>
                <a:latin typeface="+mn-lt"/>
                <a:ea typeface="+mn-ea"/>
                <a:cs typeface="+mn-cs"/>
              </a:rPr>
              <a:t>Procedimiento 4 de SDL: evaluación de los riesgos de seguridad y privacidad</a:t>
            </a:r>
          </a:p>
          <a:p>
            <a:r>
              <a:rPr lang="es-ES" sz="1200" kern="1200" dirty="0">
                <a:solidFill>
                  <a:schemeClr val="tx1"/>
                </a:solidFill>
                <a:effectLst/>
                <a:latin typeface="+mn-lt"/>
                <a:ea typeface="+mn-ea"/>
                <a:cs typeface="+mn-cs"/>
              </a:rPr>
              <a:t>Las evaluaciones de los riesgos de seguridad (SRA) y de privacidad (PRA) son procesos obligatorios que identifican los aspectos funcionales del software que requieren una revisión exhaustiva. </a:t>
            </a:r>
            <a:r>
              <a:rPr lang="en-US" sz="1200" kern="1200" dirty="0" err="1">
                <a:solidFill>
                  <a:schemeClr val="tx1"/>
                </a:solidFill>
                <a:effectLst/>
                <a:latin typeface="+mn-lt"/>
                <a:ea typeface="+mn-ea"/>
                <a:cs typeface="+mn-cs"/>
              </a:rPr>
              <a:t>Dichas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evaluaciones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deben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incluir</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siguiente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información</a:t>
            </a:r>
            <a:r>
              <a:rPr lang="en-US" sz="1200" kern="1200" dirty="0">
                <a:solidFill>
                  <a:schemeClr val="tx1"/>
                </a:solidFill>
                <a:effectLst/>
                <a:latin typeface="+mn-lt"/>
                <a:ea typeface="+mn-ea"/>
                <a:cs typeface="+mn-cs"/>
              </a:rPr>
              <a:t>:</a:t>
            </a:r>
            <a:endParaRPr lang="es-ES"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(Seguridad) Partes del proyecto que van a requerir </a:t>
            </a:r>
            <a:r>
              <a:rPr lang="es-ES" sz="1200" u="sng" kern="1200" dirty="0">
                <a:solidFill>
                  <a:schemeClr val="tx1"/>
                </a:solidFill>
                <a:effectLst/>
                <a:latin typeface="+mn-lt"/>
                <a:ea typeface="+mn-ea"/>
                <a:cs typeface="+mn-cs"/>
                <a:hlinkClick r:id="rId4" action="ppaction://hlinkfile"/>
              </a:rPr>
              <a:t>modelos de riesgos</a:t>
            </a:r>
            <a:r>
              <a:rPr lang="es-ES" sz="1200" kern="1200" dirty="0">
                <a:solidFill>
                  <a:schemeClr val="tx1"/>
                </a:solidFill>
                <a:effectLst/>
                <a:latin typeface="+mn-lt"/>
                <a:ea typeface="+mn-ea"/>
                <a:cs typeface="+mn-cs"/>
              </a:rPr>
              <a:t> antes del lanzamiento.</a:t>
            </a:r>
          </a:p>
          <a:p>
            <a:pPr lvl="0"/>
            <a:r>
              <a:rPr lang="es-ES" sz="1200" kern="1200" dirty="0">
                <a:solidFill>
                  <a:schemeClr val="tx1"/>
                </a:solidFill>
                <a:effectLst/>
                <a:latin typeface="+mn-lt"/>
                <a:ea typeface="+mn-ea"/>
                <a:cs typeface="+mn-cs"/>
              </a:rPr>
              <a:t>(Seguridad) Las partes del proyecto que van a requerir revisiones del diseño de seguridad antes del lanzamiento.</a:t>
            </a:r>
          </a:p>
          <a:p>
            <a:pPr lvl="0"/>
            <a:r>
              <a:rPr lang="es-ES" sz="1200" kern="1200" dirty="0">
                <a:solidFill>
                  <a:schemeClr val="tx1"/>
                </a:solidFill>
                <a:effectLst/>
                <a:latin typeface="+mn-lt"/>
                <a:ea typeface="+mn-ea"/>
                <a:cs typeface="+mn-cs"/>
              </a:rPr>
              <a:t>(Seguridad) Partes del proyecto (si procede) que van a requerir pruebas de penetración por parte de un grupo externo al equipo de proyecto y acordado mutuamente. </a:t>
            </a:r>
          </a:p>
          <a:p>
            <a:pPr lvl="0"/>
            <a:r>
              <a:rPr lang="es-ES" sz="1200" kern="1200" dirty="0">
                <a:solidFill>
                  <a:schemeClr val="tx1"/>
                </a:solidFill>
                <a:effectLst/>
                <a:latin typeface="+mn-lt"/>
                <a:ea typeface="+mn-ea"/>
                <a:cs typeface="+mn-cs"/>
              </a:rPr>
              <a:t>(Seguridad) Requisitos de análisis o de pruebas adicionales que el asesor de seguridad considera necesarios para mitigar los riesgos de seguridad.</a:t>
            </a:r>
          </a:p>
          <a:p>
            <a:pPr lvl="0"/>
            <a:r>
              <a:rPr lang="es-ES" sz="1200" kern="1200" dirty="0">
                <a:solidFill>
                  <a:schemeClr val="tx1"/>
                </a:solidFill>
                <a:effectLst/>
                <a:latin typeface="+mn-lt"/>
                <a:ea typeface="+mn-ea"/>
                <a:cs typeface="+mn-cs"/>
              </a:rPr>
              <a:t>(Seguridad) Ámbito específico de los </a:t>
            </a:r>
            <a:r>
              <a:rPr lang="es-ES" sz="1200" u="sng" kern="1200" dirty="0">
                <a:solidFill>
                  <a:schemeClr val="tx1"/>
                </a:solidFill>
                <a:effectLst/>
                <a:latin typeface="+mn-lt"/>
                <a:ea typeface="+mn-ea"/>
                <a:cs typeface="+mn-cs"/>
                <a:hlinkClick r:id="rId5" action="ppaction://hlinkfile"/>
              </a:rPr>
              <a:t>requisitos en materia de pruebas de exploración de vulnerabilidades mediante datos aleatorios</a:t>
            </a:r>
            <a:r>
              <a:rPr lang="es-ES" sz="1200" kern="1200" dirty="0">
                <a:solidFill>
                  <a:schemeClr val="tx1"/>
                </a:solidFill>
                <a:effectLst/>
                <a:latin typeface="+mn-lt"/>
                <a:ea typeface="+mn-ea"/>
                <a:cs typeface="+mn-cs"/>
              </a:rPr>
              <a:t>.</a:t>
            </a:r>
          </a:p>
          <a:p>
            <a:pPr lvl="0"/>
            <a:r>
              <a:rPr lang="es-ES" sz="1200" kern="1200" dirty="0">
                <a:solidFill>
                  <a:schemeClr val="tx1"/>
                </a:solidFill>
                <a:effectLst/>
                <a:latin typeface="+mn-lt"/>
                <a:ea typeface="+mn-ea"/>
                <a:cs typeface="+mn-cs"/>
              </a:rPr>
              <a:t>(Privacidad) ¿Cuál es el nivel de impacto sobre la privacidad? La respuesta a esta pregunta se basa en las siguientes pautas: </a:t>
            </a:r>
          </a:p>
          <a:p>
            <a:pPr lvl="0"/>
            <a:r>
              <a:rPr lang="es-ES" sz="1200" kern="1200" dirty="0">
                <a:solidFill>
                  <a:schemeClr val="tx1"/>
                </a:solidFill>
                <a:effectLst/>
                <a:latin typeface="+mn-lt"/>
                <a:ea typeface="+mn-ea"/>
                <a:cs typeface="+mn-cs"/>
              </a:rPr>
              <a:t>P1 Alto riesgo para la privacidad. La característica, el producto o el servicio almacena o transfiere datos de identificación personal, cambia la configuración o las asociaciones de los tipos de archivo, o instala software.</a:t>
            </a:r>
          </a:p>
          <a:p>
            <a:pPr lvl="0"/>
            <a:r>
              <a:rPr lang="es-ES" sz="1200" kern="1200" dirty="0">
                <a:solidFill>
                  <a:schemeClr val="tx1"/>
                </a:solidFill>
                <a:effectLst/>
                <a:latin typeface="+mn-lt"/>
                <a:ea typeface="+mn-ea"/>
                <a:cs typeface="+mn-cs"/>
              </a:rPr>
              <a:t>P2 Riesgo moderado para la privacidad. El único comportamiento que afecta a la privacidad en la característica, el producto o el servicio es una transferencia de datos anónimos única e iniciada por el usuario (por ejemplo, el usuario hace clic en un vínculo y el software abre un sitio web).</a:t>
            </a:r>
          </a:p>
          <a:p>
            <a:pPr lvl="0"/>
            <a:r>
              <a:rPr lang="es-ES" sz="1200" kern="1200" dirty="0">
                <a:solidFill>
                  <a:schemeClr val="tx1"/>
                </a:solidFill>
                <a:effectLst/>
                <a:latin typeface="+mn-lt"/>
                <a:ea typeface="+mn-ea"/>
                <a:cs typeface="+mn-cs"/>
              </a:rPr>
              <a:t>P3 Bajo riesgo para la privacidad. La característica, el producto o el servicio no tiene ningún comportamiento que afecte a la privacidad. No hay ninguna transferencia de datos personales ni anónimos, no se almacenan datos de identificación personal en el equipo, no se modifica ninguna configuración en nombre del usuario y no se instala ningún software.</a:t>
            </a:r>
          </a:p>
          <a:p>
            <a:endParaRPr lang="es-ES" dirty="0"/>
          </a:p>
          <a:p>
            <a:endParaRPr lang="es-ES" dirty="0"/>
          </a:p>
          <a:p>
            <a:endParaRPr lang="es-ES" dirty="0"/>
          </a:p>
        </p:txBody>
      </p:sp>
      <p:sp>
        <p:nvSpPr>
          <p:cNvPr id="4" name="3 Marcador de número de diapositiva"/>
          <p:cNvSpPr>
            <a:spLocks noGrp="1"/>
          </p:cNvSpPr>
          <p:nvPr>
            <p:ph type="sldNum" sz="quarter" idx="10"/>
          </p:nvPr>
        </p:nvSpPr>
        <p:spPr/>
        <p:txBody>
          <a:bodyPr/>
          <a:lstStyle/>
          <a:p>
            <a:fld id="{064AA158-4D4D-427B-8540-6E8BBC9EB3DF}" type="slidenum">
              <a:rPr lang="es-ES" smtClean="0"/>
              <a:t>13</a:t>
            </a:fld>
            <a:endParaRPr lang="es-ES"/>
          </a:p>
        </p:txBody>
      </p:sp>
    </p:spTree>
    <p:extLst>
      <p:ext uri="{BB962C8B-B14F-4D97-AF65-F5344CB8AC3E}">
        <p14:creationId xmlns:p14="http://schemas.microsoft.com/office/powerpoint/2010/main" val="945691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Requisitos</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La necesidad de considerar la seguridad y la privacidad “desde el primer instante” es un aspecto fundamental del desarrollo de un sistema seguro. La fase de planificación inicial es el momento más apropiado para definir los requisitos de fiabilidad de un proyecto de software. Al definir los requisitos en una fase temprana, los equipos de desarrollo podrán identificar los principales hitos y resultados, y es posible integrar la seguridad y la privacidad de modo que los planes y programaciones se alteren lo menos posible. Al principio de un proyecto, se realiza un análisis de los requisitos de seguridad y privacidad, el cual incluye la especificación de los requisitos de seguridad mínimos de la aplicación en el entorno operativo previsto, así como la especificación y la implementación de un sistema de seguimiento de los elementos de trabajo y de las vulnerabilidades de seguridad. </a:t>
            </a:r>
          </a:p>
          <a:p>
            <a:endParaRPr lang="es-ES" dirty="0"/>
          </a:p>
          <a:p>
            <a:r>
              <a:rPr lang="es-ES" sz="1200" b="1" u="sng" kern="1200" dirty="0">
                <a:solidFill>
                  <a:schemeClr val="tx1"/>
                </a:solidFill>
                <a:effectLst/>
                <a:latin typeface="+mn-lt"/>
                <a:ea typeface="+mn-ea"/>
                <a:cs typeface="+mn-cs"/>
              </a:rPr>
              <a:t>Procedimiento 3 de SDL: umbrales de calidad y límites de errores</a:t>
            </a:r>
          </a:p>
          <a:p>
            <a:r>
              <a:rPr lang="es-ES" sz="1200" kern="1200" dirty="0">
                <a:solidFill>
                  <a:schemeClr val="tx1"/>
                </a:solidFill>
                <a:effectLst/>
                <a:latin typeface="+mn-lt"/>
                <a:ea typeface="+mn-ea"/>
                <a:cs typeface="+mn-cs"/>
              </a:rPr>
              <a:t>Se usan umbrales de calidad y </a:t>
            </a:r>
            <a:r>
              <a:rPr lang="es-ES" sz="1200" i="1" kern="1200" dirty="0">
                <a:solidFill>
                  <a:schemeClr val="tx1"/>
                </a:solidFill>
                <a:effectLst/>
                <a:latin typeface="+mn-lt"/>
                <a:ea typeface="+mn-ea"/>
                <a:cs typeface="+mn-cs"/>
              </a:rPr>
              <a:t>límites de errores</a:t>
            </a:r>
            <a:r>
              <a:rPr lang="es-ES" sz="1200" kern="1200" dirty="0">
                <a:solidFill>
                  <a:schemeClr val="tx1"/>
                </a:solidFill>
                <a:effectLst/>
                <a:latin typeface="+mn-lt"/>
                <a:ea typeface="+mn-ea"/>
                <a:cs typeface="+mn-cs"/>
              </a:rPr>
              <a:t> para establecer niveles mínimos aceptables de calidad en materia de seguridad y privacidad. Al definir estos criterios al comienzo de un proyecto, se comprenderán mejor los riesgos asociados a los problemas de seguridad y los equipos podrán identificar y corregir los errores de seguridad durante el desarrollo. El equipo de proyecto debe negociar los umbrales de calidad (por ejemplo, todas las advertencias del compilador se deben evaluar y corregir antes de proteger el código) para cada fase de desarrollo; a continuación, el asesor de seguridad debe aprobarlos y puede agregar aclaraciones específicas del proyecto así como requisitos de seguridad más estrictos según proceda. El equipo de proyecto también debe ilustrar la conformidad con los umbrales de calidad negociados para cumplimentar la </a:t>
            </a:r>
            <a:r>
              <a:rPr lang="es-ES" sz="1200" u="sng" kern="1200" dirty="0">
                <a:solidFill>
                  <a:schemeClr val="tx1"/>
                </a:solidFill>
                <a:effectLst/>
                <a:latin typeface="+mn-lt"/>
                <a:ea typeface="+mn-ea"/>
                <a:cs typeface="+mn-cs"/>
                <a:hlinkClick r:id="rId3" action="ppaction://hlinkfile"/>
              </a:rPr>
              <a:t>revisión de seguridad final.</a:t>
            </a:r>
            <a:r>
              <a:rPr lang="es-ES" sz="1200" kern="1200" dirty="0">
                <a:solidFill>
                  <a:schemeClr val="tx1"/>
                </a:solidFill>
                <a:effectLst/>
                <a:latin typeface="+mn-lt"/>
                <a:ea typeface="+mn-ea"/>
                <a:cs typeface="+mn-cs"/>
              </a:rPr>
              <a:t> </a:t>
            </a:r>
          </a:p>
          <a:p>
            <a:r>
              <a:rPr lang="es-ES" sz="1200" kern="1200" dirty="0">
                <a:solidFill>
                  <a:schemeClr val="tx1"/>
                </a:solidFill>
                <a:effectLst/>
                <a:latin typeface="+mn-lt"/>
                <a:ea typeface="+mn-ea"/>
                <a:cs typeface="+mn-cs"/>
              </a:rPr>
              <a:t>Un límite de errores es un umbral de calidad que se aplica a todo el proyecto de desarrollo de software. Se usa para definir los umbrales de gravedad de las vulnerabilidades de seguridad; por ejemplo, en la aplicación no hay vulnerabilidades conocidas que estén clasificadas como “críticas” o “importantes” en el momento de su lanzamiento. Una vez definido, el límite de errores no debe bajarse nunca. Un límite de errores dinámico es un objetivo no fijo que probablemente no se entienda muy bien en el ámbito del desarrollo.</a:t>
            </a:r>
          </a:p>
          <a:p>
            <a:endParaRPr lang="es-ES" sz="1200" kern="1200" dirty="0">
              <a:solidFill>
                <a:schemeClr val="tx1"/>
              </a:solidFill>
              <a:effectLst/>
              <a:latin typeface="+mn-lt"/>
              <a:ea typeface="+mn-ea"/>
              <a:cs typeface="+mn-cs"/>
            </a:endParaRPr>
          </a:p>
          <a:p>
            <a:r>
              <a:rPr lang="es-ES" sz="1200" b="1" u="sng" kern="1200" dirty="0">
                <a:solidFill>
                  <a:schemeClr val="tx1"/>
                </a:solidFill>
                <a:effectLst/>
                <a:latin typeface="+mn-lt"/>
                <a:ea typeface="+mn-ea"/>
                <a:cs typeface="+mn-cs"/>
              </a:rPr>
              <a:t>Procedimiento 4 de SDL: evaluación de los riesgos de seguridad y privacidad</a:t>
            </a:r>
          </a:p>
          <a:p>
            <a:r>
              <a:rPr lang="es-ES" sz="1200" kern="1200" dirty="0">
                <a:solidFill>
                  <a:schemeClr val="tx1"/>
                </a:solidFill>
                <a:effectLst/>
                <a:latin typeface="+mn-lt"/>
                <a:ea typeface="+mn-ea"/>
                <a:cs typeface="+mn-cs"/>
              </a:rPr>
              <a:t>Las evaluaciones de los riesgos de seguridad (SRA) y de privacidad (PRA) son procesos obligatorios que identifican los aspectos funcionales del software que requieren una revisión exhaustiva. </a:t>
            </a:r>
            <a:r>
              <a:rPr lang="en-US" sz="1200" kern="1200" dirty="0" err="1">
                <a:solidFill>
                  <a:schemeClr val="tx1"/>
                </a:solidFill>
                <a:effectLst/>
                <a:latin typeface="+mn-lt"/>
                <a:ea typeface="+mn-ea"/>
                <a:cs typeface="+mn-cs"/>
              </a:rPr>
              <a:t>Dichas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evaluaciones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deben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incluir</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siguiente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información</a:t>
            </a:r>
            <a:r>
              <a:rPr lang="en-US" sz="1200" kern="1200" dirty="0">
                <a:solidFill>
                  <a:schemeClr val="tx1"/>
                </a:solidFill>
                <a:effectLst/>
                <a:latin typeface="+mn-lt"/>
                <a:ea typeface="+mn-ea"/>
                <a:cs typeface="+mn-cs"/>
              </a:rPr>
              <a:t>:</a:t>
            </a:r>
            <a:endParaRPr lang="es-ES"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(Seguridad) Partes del proyecto que van a requerir </a:t>
            </a:r>
            <a:r>
              <a:rPr lang="es-ES" sz="1200" u="sng" kern="1200" dirty="0">
                <a:solidFill>
                  <a:schemeClr val="tx1"/>
                </a:solidFill>
                <a:effectLst/>
                <a:latin typeface="+mn-lt"/>
                <a:ea typeface="+mn-ea"/>
                <a:cs typeface="+mn-cs"/>
                <a:hlinkClick r:id="rId4" action="ppaction://hlinkfile"/>
              </a:rPr>
              <a:t>modelos de riesgos</a:t>
            </a:r>
            <a:r>
              <a:rPr lang="es-ES" sz="1200" kern="1200" dirty="0">
                <a:solidFill>
                  <a:schemeClr val="tx1"/>
                </a:solidFill>
                <a:effectLst/>
                <a:latin typeface="+mn-lt"/>
                <a:ea typeface="+mn-ea"/>
                <a:cs typeface="+mn-cs"/>
              </a:rPr>
              <a:t> antes del lanzamiento.</a:t>
            </a:r>
          </a:p>
          <a:p>
            <a:pPr lvl="0"/>
            <a:r>
              <a:rPr lang="es-ES" sz="1200" kern="1200" dirty="0">
                <a:solidFill>
                  <a:schemeClr val="tx1"/>
                </a:solidFill>
                <a:effectLst/>
                <a:latin typeface="+mn-lt"/>
                <a:ea typeface="+mn-ea"/>
                <a:cs typeface="+mn-cs"/>
              </a:rPr>
              <a:t>(Seguridad) Las partes del proyecto que van a requerir revisiones del diseño de seguridad antes del lanzamiento.</a:t>
            </a:r>
          </a:p>
          <a:p>
            <a:pPr lvl="0"/>
            <a:r>
              <a:rPr lang="es-ES" sz="1200" kern="1200" dirty="0">
                <a:solidFill>
                  <a:schemeClr val="tx1"/>
                </a:solidFill>
                <a:effectLst/>
                <a:latin typeface="+mn-lt"/>
                <a:ea typeface="+mn-ea"/>
                <a:cs typeface="+mn-cs"/>
              </a:rPr>
              <a:t>(Seguridad) Partes del proyecto (si procede) que van a requerir pruebas de penetración por parte de un grupo externo al equipo de proyecto y acordado mutuamente. </a:t>
            </a:r>
          </a:p>
          <a:p>
            <a:pPr lvl="0"/>
            <a:r>
              <a:rPr lang="es-ES" sz="1200" kern="1200" dirty="0">
                <a:solidFill>
                  <a:schemeClr val="tx1"/>
                </a:solidFill>
                <a:effectLst/>
                <a:latin typeface="+mn-lt"/>
                <a:ea typeface="+mn-ea"/>
                <a:cs typeface="+mn-cs"/>
              </a:rPr>
              <a:t>(Seguridad) Requisitos de análisis o de pruebas adicionales que el asesor de seguridad considera necesarios para mitigar los riesgos de seguridad.</a:t>
            </a:r>
          </a:p>
          <a:p>
            <a:pPr lvl="0"/>
            <a:r>
              <a:rPr lang="es-ES" sz="1200" kern="1200" dirty="0">
                <a:solidFill>
                  <a:schemeClr val="tx1"/>
                </a:solidFill>
                <a:effectLst/>
                <a:latin typeface="+mn-lt"/>
                <a:ea typeface="+mn-ea"/>
                <a:cs typeface="+mn-cs"/>
              </a:rPr>
              <a:t>(Seguridad) Ámbito específico de los </a:t>
            </a:r>
            <a:r>
              <a:rPr lang="es-ES" sz="1200" u="sng" kern="1200" dirty="0">
                <a:solidFill>
                  <a:schemeClr val="tx1"/>
                </a:solidFill>
                <a:effectLst/>
                <a:latin typeface="+mn-lt"/>
                <a:ea typeface="+mn-ea"/>
                <a:cs typeface="+mn-cs"/>
                <a:hlinkClick r:id="rId5" action="ppaction://hlinkfile"/>
              </a:rPr>
              <a:t>requisitos en materia de pruebas de exploración de vulnerabilidades mediante datos aleatorios</a:t>
            </a:r>
            <a:r>
              <a:rPr lang="es-ES" sz="1200" kern="1200" dirty="0">
                <a:solidFill>
                  <a:schemeClr val="tx1"/>
                </a:solidFill>
                <a:effectLst/>
                <a:latin typeface="+mn-lt"/>
                <a:ea typeface="+mn-ea"/>
                <a:cs typeface="+mn-cs"/>
              </a:rPr>
              <a:t>.</a:t>
            </a:r>
          </a:p>
          <a:p>
            <a:pPr lvl="0"/>
            <a:r>
              <a:rPr lang="es-ES" sz="1200" kern="1200" dirty="0">
                <a:solidFill>
                  <a:schemeClr val="tx1"/>
                </a:solidFill>
                <a:effectLst/>
                <a:latin typeface="+mn-lt"/>
                <a:ea typeface="+mn-ea"/>
                <a:cs typeface="+mn-cs"/>
              </a:rPr>
              <a:t>(Privacidad) ¿Cuál es el nivel de impacto sobre la privacidad? La respuesta a esta pregunta se basa en las siguientes pautas: </a:t>
            </a:r>
          </a:p>
          <a:p>
            <a:pPr lvl="0"/>
            <a:r>
              <a:rPr lang="es-ES" sz="1200" kern="1200" dirty="0">
                <a:solidFill>
                  <a:schemeClr val="tx1"/>
                </a:solidFill>
                <a:effectLst/>
                <a:latin typeface="+mn-lt"/>
                <a:ea typeface="+mn-ea"/>
                <a:cs typeface="+mn-cs"/>
              </a:rPr>
              <a:t>P1 Alto riesgo para la privacidad. La característica, el producto o el servicio almacena o transfiere datos de identificación personal, cambia la configuración o las asociaciones de los tipos de archivo, o instala software.</a:t>
            </a:r>
          </a:p>
          <a:p>
            <a:pPr lvl="0"/>
            <a:r>
              <a:rPr lang="es-ES" sz="1200" kern="1200" dirty="0">
                <a:solidFill>
                  <a:schemeClr val="tx1"/>
                </a:solidFill>
                <a:effectLst/>
                <a:latin typeface="+mn-lt"/>
                <a:ea typeface="+mn-ea"/>
                <a:cs typeface="+mn-cs"/>
              </a:rPr>
              <a:t>P2 Riesgo moderado para la privacidad. El único comportamiento que afecta a la privacidad en la característica, el producto o el servicio es una transferencia de datos anónimos única e iniciada por el usuario (por ejemplo, el usuario hace clic en un vínculo y el software abre un sitio web).</a:t>
            </a:r>
          </a:p>
          <a:p>
            <a:pPr lvl="0"/>
            <a:r>
              <a:rPr lang="es-ES" sz="1200" kern="1200" dirty="0">
                <a:solidFill>
                  <a:schemeClr val="tx1"/>
                </a:solidFill>
                <a:effectLst/>
                <a:latin typeface="+mn-lt"/>
                <a:ea typeface="+mn-ea"/>
                <a:cs typeface="+mn-cs"/>
              </a:rPr>
              <a:t>P3 Bajo riesgo para la privacidad. La característica, el producto o el servicio no tiene ningún comportamiento que afecte a la privacidad. No hay ninguna transferencia de datos personales ni anónimos, no se almacenan datos de identificación personal en el equipo, no se modifica ninguna configuración en nombre del usuario y no se instala ningún software.</a:t>
            </a:r>
          </a:p>
          <a:p>
            <a:endParaRPr lang="es-ES" dirty="0"/>
          </a:p>
          <a:p>
            <a:endParaRPr lang="es-ES" dirty="0"/>
          </a:p>
          <a:p>
            <a:endParaRPr lang="es-ES" dirty="0"/>
          </a:p>
        </p:txBody>
      </p:sp>
      <p:sp>
        <p:nvSpPr>
          <p:cNvPr id="4" name="3 Marcador de número de diapositiva"/>
          <p:cNvSpPr>
            <a:spLocks noGrp="1"/>
          </p:cNvSpPr>
          <p:nvPr>
            <p:ph type="sldNum" sz="quarter" idx="10"/>
          </p:nvPr>
        </p:nvSpPr>
        <p:spPr/>
        <p:txBody>
          <a:bodyPr/>
          <a:lstStyle/>
          <a:p>
            <a:fld id="{064AA158-4D4D-427B-8540-6E8BBC9EB3DF}" type="slidenum">
              <a:rPr lang="es-ES" smtClean="0"/>
              <a:t>14</a:t>
            </a:fld>
            <a:endParaRPr lang="es-ES"/>
          </a:p>
        </p:txBody>
      </p:sp>
    </p:spTree>
    <p:extLst>
      <p:ext uri="{BB962C8B-B14F-4D97-AF65-F5344CB8AC3E}">
        <p14:creationId xmlns:p14="http://schemas.microsoft.com/office/powerpoint/2010/main" val="9456915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Requisitos</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La necesidad de considerar la seguridad y la privacidad “desde el primer instante” es un aspecto fundamental del desarrollo de un sistema seguro. La fase de planificación inicial es el momento más apropiado para definir los requisitos de fiabilidad de un proyecto de software. Al definir los requisitos en una fase temprana, los equipos de desarrollo podrán identificar los principales hitos y resultados, y es posible integrar la seguridad y la privacidad de modo que los planes y programaciones se alteren lo menos posible. Al principio de un proyecto, se realiza un análisis de los requisitos de seguridad y privacidad, el cual incluye la especificación de los requisitos de seguridad mínimos de la aplicación en el entorno operativo previsto, así como la especificación y la implementación de un sistema de seguimiento de los elementos de trabajo y de las vulnerabilidades de seguridad. </a:t>
            </a:r>
          </a:p>
          <a:p>
            <a:endParaRPr lang="es-ES" dirty="0"/>
          </a:p>
          <a:p>
            <a:r>
              <a:rPr lang="es-ES" sz="1200" b="1" u="sng" kern="1200" dirty="0">
                <a:solidFill>
                  <a:schemeClr val="tx1"/>
                </a:solidFill>
                <a:effectLst/>
                <a:latin typeface="+mn-lt"/>
                <a:ea typeface="+mn-ea"/>
                <a:cs typeface="+mn-cs"/>
              </a:rPr>
              <a:t>Procedimiento 3 de SDL: umbrales de calidad y límites de errores</a:t>
            </a:r>
          </a:p>
          <a:p>
            <a:r>
              <a:rPr lang="es-ES" sz="1200" kern="1200" dirty="0">
                <a:solidFill>
                  <a:schemeClr val="tx1"/>
                </a:solidFill>
                <a:effectLst/>
                <a:latin typeface="+mn-lt"/>
                <a:ea typeface="+mn-ea"/>
                <a:cs typeface="+mn-cs"/>
              </a:rPr>
              <a:t>Se usan umbrales de calidad y </a:t>
            </a:r>
            <a:r>
              <a:rPr lang="es-ES" sz="1200" i="1" kern="1200" dirty="0">
                <a:solidFill>
                  <a:schemeClr val="tx1"/>
                </a:solidFill>
                <a:effectLst/>
                <a:latin typeface="+mn-lt"/>
                <a:ea typeface="+mn-ea"/>
                <a:cs typeface="+mn-cs"/>
              </a:rPr>
              <a:t>límites de errores</a:t>
            </a:r>
            <a:r>
              <a:rPr lang="es-ES" sz="1200" kern="1200" dirty="0">
                <a:solidFill>
                  <a:schemeClr val="tx1"/>
                </a:solidFill>
                <a:effectLst/>
                <a:latin typeface="+mn-lt"/>
                <a:ea typeface="+mn-ea"/>
                <a:cs typeface="+mn-cs"/>
              </a:rPr>
              <a:t> para establecer niveles mínimos aceptables de calidad en materia de seguridad y privacidad. Al definir estos criterios al comienzo de un proyecto, se comprenderán mejor los riesgos asociados a los problemas de seguridad y los equipos podrán identificar y corregir los errores de seguridad durante el desarrollo. El equipo de proyecto debe negociar los umbrales de calidad (por ejemplo, todas las advertencias del compilador se deben evaluar y corregir antes de proteger el código) para cada fase de desarrollo; a continuación, el asesor de seguridad debe aprobarlos y puede agregar aclaraciones específicas del proyecto así como requisitos de seguridad más estrictos según proceda. El equipo de proyecto también debe ilustrar la conformidad con los umbrales de calidad negociados para cumplimentar la </a:t>
            </a:r>
            <a:r>
              <a:rPr lang="es-ES" sz="1200" u="sng" kern="1200" dirty="0">
                <a:solidFill>
                  <a:schemeClr val="tx1"/>
                </a:solidFill>
                <a:effectLst/>
                <a:latin typeface="+mn-lt"/>
                <a:ea typeface="+mn-ea"/>
                <a:cs typeface="+mn-cs"/>
                <a:hlinkClick r:id="rId3" action="ppaction://hlinkfile"/>
              </a:rPr>
              <a:t>revisión de seguridad final.</a:t>
            </a:r>
            <a:r>
              <a:rPr lang="es-ES" sz="1200" kern="1200" dirty="0">
                <a:solidFill>
                  <a:schemeClr val="tx1"/>
                </a:solidFill>
                <a:effectLst/>
                <a:latin typeface="+mn-lt"/>
                <a:ea typeface="+mn-ea"/>
                <a:cs typeface="+mn-cs"/>
              </a:rPr>
              <a:t> </a:t>
            </a:r>
          </a:p>
          <a:p>
            <a:r>
              <a:rPr lang="es-ES" sz="1200" kern="1200" dirty="0">
                <a:solidFill>
                  <a:schemeClr val="tx1"/>
                </a:solidFill>
                <a:effectLst/>
                <a:latin typeface="+mn-lt"/>
                <a:ea typeface="+mn-ea"/>
                <a:cs typeface="+mn-cs"/>
              </a:rPr>
              <a:t>Un límite de errores es un umbral de calidad que se aplica a todo el proyecto de desarrollo de software. Se usa para definir los umbrales de gravedad de las vulnerabilidades de seguridad; por ejemplo, en la aplicación no hay vulnerabilidades conocidas que estén clasificadas como “críticas” o “importantes” en el momento de su lanzamiento. Una vez definido, el límite de errores no debe bajarse nunca. Un límite de errores dinámico es un objetivo no fijo que probablemente no se entienda muy bien en el ámbito del desarrollo.</a:t>
            </a:r>
          </a:p>
          <a:p>
            <a:endParaRPr lang="es-ES" sz="1200" kern="1200" dirty="0">
              <a:solidFill>
                <a:schemeClr val="tx1"/>
              </a:solidFill>
              <a:effectLst/>
              <a:latin typeface="+mn-lt"/>
              <a:ea typeface="+mn-ea"/>
              <a:cs typeface="+mn-cs"/>
            </a:endParaRPr>
          </a:p>
          <a:p>
            <a:r>
              <a:rPr lang="es-ES" sz="1200" b="1" u="sng" kern="1200" dirty="0">
                <a:solidFill>
                  <a:schemeClr val="tx1"/>
                </a:solidFill>
                <a:effectLst/>
                <a:latin typeface="+mn-lt"/>
                <a:ea typeface="+mn-ea"/>
                <a:cs typeface="+mn-cs"/>
              </a:rPr>
              <a:t>Procedimiento 4 de SDL: evaluación de los riesgos de seguridad y privacidad</a:t>
            </a:r>
          </a:p>
          <a:p>
            <a:r>
              <a:rPr lang="es-ES" sz="1200" kern="1200" dirty="0">
                <a:solidFill>
                  <a:schemeClr val="tx1"/>
                </a:solidFill>
                <a:effectLst/>
                <a:latin typeface="+mn-lt"/>
                <a:ea typeface="+mn-ea"/>
                <a:cs typeface="+mn-cs"/>
              </a:rPr>
              <a:t>Las evaluaciones de los riesgos de seguridad (SRA) y de privacidad (PRA) son procesos obligatorios que identifican los aspectos funcionales del software que requieren una revisión exhaustiva. </a:t>
            </a:r>
            <a:r>
              <a:rPr lang="en-US" sz="1200" kern="1200" dirty="0" err="1">
                <a:solidFill>
                  <a:schemeClr val="tx1"/>
                </a:solidFill>
                <a:effectLst/>
                <a:latin typeface="+mn-lt"/>
                <a:ea typeface="+mn-ea"/>
                <a:cs typeface="+mn-cs"/>
              </a:rPr>
              <a:t>Dichas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evaluaciones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deben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incluir</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siguiente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información</a:t>
            </a:r>
            <a:r>
              <a:rPr lang="en-US" sz="1200" kern="1200" dirty="0">
                <a:solidFill>
                  <a:schemeClr val="tx1"/>
                </a:solidFill>
                <a:effectLst/>
                <a:latin typeface="+mn-lt"/>
                <a:ea typeface="+mn-ea"/>
                <a:cs typeface="+mn-cs"/>
              </a:rPr>
              <a:t>:</a:t>
            </a:r>
            <a:endParaRPr lang="es-ES"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(Seguridad) Partes del proyecto que van a requerir </a:t>
            </a:r>
            <a:r>
              <a:rPr lang="es-ES" sz="1200" u="sng" kern="1200" dirty="0">
                <a:solidFill>
                  <a:schemeClr val="tx1"/>
                </a:solidFill>
                <a:effectLst/>
                <a:latin typeface="+mn-lt"/>
                <a:ea typeface="+mn-ea"/>
                <a:cs typeface="+mn-cs"/>
                <a:hlinkClick r:id="rId4" action="ppaction://hlinkfile"/>
              </a:rPr>
              <a:t>modelos de riesgos</a:t>
            </a:r>
            <a:r>
              <a:rPr lang="es-ES" sz="1200" kern="1200" dirty="0">
                <a:solidFill>
                  <a:schemeClr val="tx1"/>
                </a:solidFill>
                <a:effectLst/>
                <a:latin typeface="+mn-lt"/>
                <a:ea typeface="+mn-ea"/>
                <a:cs typeface="+mn-cs"/>
              </a:rPr>
              <a:t> antes del lanzamiento.</a:t>
            </a:r>
          </a:p>
          <a:p>
            <a:pPr lvl="0"/>
            <a:r>
              <a:rPr lang="es-ES" sz="1200" kern="1200" dirty="0">
                <a:solidFill>
                  <a:schemeClr val="tx1"/>
                </a:solidFill>
                <a:effectLst/>
                <a:latin typeface="+mn-lt"/>
                <a:ea typeface="+mn-ea"/>
                <a:cs typeface="+mn-cs"/>
              </a:rPr>
              <a:t>(Seguridad) Las partes del proyecto que van a requerir revisiones del diseño de seguridad antes del lanzamiento.</a:t>
            </a:r>
          </a:p>
          <a:p>
            <a:pPr lvl="0"/>
            <a:r>
              <a:rPr lang="es-ES" sz="1200" kern="1200" dirty="0">
                <a:solidFill>
                  <a:schemeClr val="tx1"/>
                </a:solidFill>
                <a:effectLst/>
                <a:latin typeface="+mn-lt"/>
                <a:ea typeface="+mn-ea"/>
                <a:cs typeface="+mn-cs"/>
              </a:rPr>
              <a:t>(Seguridad) Partes del proyecto (si procede) que van a requerir pruebas de penetración por parte de un grupo externo al equipo de proyecto y acordado mutuamente. </a:t>
            </a:r>
          </a:p>
          <a:p>
            <a:pPr lvl="0"/>
            <a:r>
              <a:rPr lang="es-ES" sz="1200" kern="1200" dirty="0">
                <a:solidFill>
                  <a:schemeClr val="tx1"/>
                </a:solidFill>
                <a:effectLst/>
                <a:latin typeface="+mn-lt"/>
                <a:ea typeface="+mn-ea"/>
                <a:cs typeface="+mn-cs"/>
              </a:rPr>
              <a:t>(Seguridad) Requisitos de análisis o de pruebas adicionales que el asesor de seguridad considera necesarios para mitigar los riesgos de seguridad.</a:t>
            </a:r>
          </a:p>
          <a:p>
            <a:pPr lvl="0"/>
            <a:r>
              <a:rPr lang="es-ES" sz="1200" kern="1200" dirty="0">
                <a:solidFill>
                  <a:schemeClr val="tx1"/>
                </a:solidFill>
                <a:effectLst/>
                <a:latin typeface="+mn-lt"/>
                <a:ea typeface="+mn-ea"/>
                <a:cs typeface="+mn-cs"/>
              </a:rPr>
              <a:t>(Seguridad) Ámbito específico de los </a:t>
            </a:r>
            <a:r>
              <a:rPr lang="es-ES" sz="1200" u="sng" kern="1200" dirty="0">
                <a:solidFill>
                  <a:schemeClr val="tx1"/>
                </a:solidFill>
                <a:effectLst/>
                <a:latin typeface="+mn-lt"/>
                <a:ea typeface="+mn-ea"/>
                <a:cs typeface="+mn-cs"/>
                <a:hlinkClick r:id="rId5" action="ppaction://hlinkfile"/>
              </a:rPr>
              <a:t>requisitos en materia de pruebas de exploración de vulnerabilidades mediante datos aleatorios</a:t>
            </a:r>
            <a:r>
              <a:rPr lang="es-ES" sz="1200" kern="1200" dirty="0">
                <a:solidFill>
                  <a:schemeClr val="tx1"/>
                </a:solidFill>
                <a:effectLst/>
                <a:latin typeface="+mn-lt"/>
                <a:ea typeface="+mn-ea"/>
                <a:cs typeface="+mn-cs"/>
              </a:rPr>
              <a:t>.</a:t>
            </a:r>
          </a:p>
          <a:p>
            <a:pPr lvl="0"/>
            <a:r>
              <a:rPr lang="es-ES" sz="1200" kern="1200" dirty="0">
                <a:solidFill>
                  <a:schemeClr val="tx1"/>
                </a:solidFill>
                <a:effectLst/>
                <a:latin typeface="+mn-lt"/>
                <a:ea typeface="+mn-ea"/>
                <a:cs typeface="+mn-cs"/>
              </a:rPr>
              <a:t>(Privacidad) ¿Cuál es el nivel de impacto sobre la privacidad? La respuesta a esta pregunta se basa en las siguientes pautas: </a:t>
            </a:r>
          </a:p>
          <a:p>
            <a:pPr lvl="0"/>
            <a:r>
              <a:rPr lang="es-ES" sz="1200" kern="1200" dirty="0">
                <a:solidFill>
                  <a:schemeClr val="tx1"/>
                </a:solidFill>
                <a:effectLst/>
                <a:latin typeface="+mn-lt"/>
                <a:ea typeface="+mn-ea"/>
                <a:cs typeface="+mn-cs"/>
              </a:rPr>
              <a:t>P1 Alto riesgo para la privacidad. La característica, el producto o el servicio almacena o transfiere datos de identificación personal, cambia la configuración o las asociaciones de los tipos de archivo, o instala software.</a:t>
            </a:r>
          </a:p>
          <a:p>
            <a:pPr lvl="0"/>
            <a:r>
              <a:rPr lang="es-ES" sz="1200" kern="1200" dirty="0">
                <a:solidFill>
                  <a:schemeClr val="tx1"/>
                </a:solidFill>
                <a:effectLst/>
                <a:latin typeface="+mn-lt"/>
                <a:ea typeface="+mn-ea"/>
                <a:cs typeface="+mn-cs"/>
              </a:rPr>
              <a:t>P2 Riesgo moderado para la privacidad. El único comportamiento que afecta a la privacidad en la característica, el producto o el servicio es una transferencia de datos anónimos única e iniciada por el usuario (por ejemplo, el usuario hace clic en un vínculo y el software abre un sitio web).</a:t>
            </a:r>
          </a:p>
          <a:p>
            <a:pPr lvl="0"/>
            <a:r>
              <a:rPr lang="es-ES" sz="1200" kern="1200" dirty="0">
                <a:solidFill>
                  <a:schemeClr val="tx1"/>
                </a:solidFill>
                <a:effectLst/>
                <a:latin typeface="+mn-lt"/>
                <a:ea typeface="+mn-ea"/>
                <a:cs typeface="+mn-cs"/>
              </a:rPr>
              <a:t>P3 Bajo riesgo para la privacidad. La característica, el producto o el servicio no tiene ningún comportamiento que afecte a la privacidad. No hay ninguna transferencia de datos personales ni anónimos, no se almacenan datos de identificación personal en el equipo, no se modifica ninguna configuración en nombre del usuario y no se instala ningún software.</a:t>
            </a:r>
          </a:p>
          <a:p>
            <a:endParaRPr lang="es-ES" dirty="0"/>
          </a:p>
          <a:p>
            <a:endParaRPr lang="es-ES" dirty="0"/>
          </a:p>
          <a:p>
            <a:endParaRPr lang="es-ES" dirty="0"/>
          </a:p>
        </p:txBody>
      </p:sp>
      <p:sp>
        <p:nvSpPr>
          <p:cNvPr id="4" name="3 Marcador de número de diapositiva"/>
          <p:cNvSpPr>
            <a:spLocks noGrp="1"/>
          </p:cNvSpPr>
          <p:nvPr>
            <p:ph type="sldNum" sz="quarter" idx="10"/>
          </p:nvPr>
        </p:nvSpPr>
        <p:spPr/>
        <p:txBody>
          <a:bodyPr/>
          <a:lstStyle/>
          <a:p>
            <a:fld id="{064AA158-4D4D-427B-8540-6E8BBC9EB3DF}" type="slidenum">
              <a:rPr lang="es-ES" smtClean="0"/>
              <a:t>15</a:t>
            </a:fld>
            <a:endParaRPr lang="es-ES"/>
          </a:p>
        </p:txBody>
      </p:sp>
    </p:spTree>
    <p:extLst>
      <p:ext uri="{BB962C8B-B14F-4D97-AF65-F5344CB8AC3E}">
        <p14:creationId xmlns:p14="http://schemas.microsoft.com/office/powerpoint/2010/main" val="945691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Requisitos</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La necesidad de considerar la seguridad y la privacidad “desde el primer instante” es un aspecto fundamental del desarrollo de un sistema seguro. La fase de planificación inicial es el momento más apropiado para definir los requisitos de fiabilidad de un proyecto de software. Al definir los requisitos en una fase temprana, los equipos de desarrollo podrán identificar los principales hitos y resultados, y es posible integrar la seguridad y la privacidad de modo que los planes y programaciones se alteren lo menos posible. Al principio de un proyecto, se realiza un análisis de los requisitos de seguridad y privacidad, el cual incluye la especificación de los requisitos de seguridad mínimos de la aplicación en el entorno operativo previsto, así como la especificación y la implementación de un sistema de seguimiento de los elementos de trabajo y de las vulnerabilidades de seguridad. </a:t>
            </a:r>
          </a:p>
          <a:p>
            <a:endParaRPr lang="es-ES" dirty="0"/>
          </a:p>
          <a:p>
            <a:r>
              <a:rPr lang="es-ES" sz="1200" b="1" u="sng" kern="1200" dirty="0">
                <a:solidFill>
                  <a:schemeClr val="tx1"/>
                </a:solidFill>
                <a:effectLst/>
                <a:latin typeface="+mn-lt"/>
                <a:ea typeface="+mn-ea"/>
                <a:cs typeface="+mn-cs"/>
              </a:rPr>
              <a:t>Procedimiento 3 de SDL: umbrales de calidad y límites de errores</a:t>
            </a:r>
          </a:p>
          <a:p>
            <a:r>
              <a:rPr lang="es-ES" sz="1200" kern="1200" dirty="0">
                <a:solidFill>
                  <a:schemeClr val="tx1"/>
                </a:solidFill>
                <a:effectLst/>
                <a:latin typeface="+mn-lt"/>
                <a:ea typeface="+mn-ea"/>
                <a:cs typeface="+mn-cs"/>
              </a:rPr>
              <a:t>Se usan umbrales de calidad y </a:t>
            </a:r>
            <a:r>
              <a:rPr lang="es-ES" sz="1200" i="1" kern="1200" dirty="0">
                <a:solidFill>
                  <a:schemeClr val="tx1"/>
                </a:solidFill>
                <a:effectLst/>
                <a:latin typeface="+mn-lt"/>
                <a:ea typeface="+mn-ea"/>
                <a:cs typeface="+mn-cs"/>
              </a:rPr>
              <a:t>límites de errores</a:t>
            </a:r>
            <a:r>
              <a:rPr lang="es-ES" sz="1200" kern="1200" dirty="0">
                <a:solidFill>
                  <a:schemeClr val="tx1"/>
                </a:solidFill>
                <a:effectLst/>
                <a:latin typeface="+mn-lt"/>
                <a:ea typeface="+mn-ea"/>
                <a:cs typeface="+mn-cs"/>
              </a:rPr>
              <a:t> para establecer niveles mínimos aceptables de calidad en materia de seguridad y privacidad. Al definir estos criterios al comienzo de un proyecto, se comprenderán mejor los riesgos asociados a los problemas de seguridad y los equipos podrán identificar y corregir los errores de seguridad durante el desarrollo. El equipo de proyecto debe negociar los umbrales de calidad (por ejemplo, todas las advertencias del compilador se deben evaluar y corregir antes de proteger el código) para cada fase de desarrollo; a continuación, el asesor de seguridad debe aprobarlos y puede agregar aclaraciones específicas del proyecto así como requisitos de seguridad más estrictos según proceda. El equipo de proyecto también debe ilustrar la conformidad con los umbrales de calidad negociados para cumplimentar la </a:t>
            </a:r>
            <a:r>
              <a:rPr lang="es-ES" sz="1200" u="sng" kern="1200" dirty="0">
                <a:solidFill>
                  <a:schemeClr val="tx1"/>
                </a:solidFill>
                <a:effectLst/>
                <a:latin typeface="+mn-lt"/>
                <a:ea typeface="+mn-ea"/>
                <a:cs typeface="+mn-cs"/>
                <a:hlinkClick r:id="rId3" action="ppaction://hlinkfile"/>
              </a:rPr>
              <a:t>revisión de seguridad final.</a:t>
            </a:r>
            <a:r>
              <a:rPr lang="es-ES" sz="1200" kern="1200" dirty="0">
                <a:solidFill>
                  <a:schemeClr val="tx1"/>
                </a:solidFill>
                <a:effectLst/>
                <a:latin typeface="+mn-lt"/>
                <a:ea typeface="+mn-ea"/>
                <a:cs typeface="+mn-cs"/>
              </a:rPr>
              <a:t> </a:t>
            </a:r>
          </a:p>
          <a:p>
            <a:r>
              <a:rPr lang="es-ES" sz="1200" kern="1200" dirty="0">
                <a:solidFill>
                  <a:schemeClr val="tx1"/>
                </a:solidFill>
                <a:effectLst/>
                <a:latin typeface="+mn-lt"/>
                <a:ea typeface="+mn-ea"/>
                <a:cs typeface="+mn-cs"/>
              </a:rPr>
              <a:t>Un límite de errores es un umbral de calidad que se aplica a todo el proyecto de desarrollo de software. Se usa para definir los umbrales de gravedad de las vulnerabilidades de seguridad; por ejemplo, en la aplicación no hay vulnerabilidades conocidas que estén clasificadas como “críticas” o “importantes” en el momento de su lanzamiento. Una vez definido, el límite de errores no debe bajarse nunca. Un límite de errores dinámico es un objetivo no fijo que probablemente no se entienda muy bien en el ámbito del desarrollo.</a:t>
            </a:r>
          </a:p>
          <a:p>
            <a:endParaRPr lang="es-ES" sz="1200" kern="1200" dirty="0">
              <a:solidFill>
                <a:schemeClr val="tx1"/>
              </a:solidFill>
              <a:effectLst/>
              <a:latin typeface="+mn-lt"/>
              <a:ea typeface="+mn-ea"/>
              <a:cs typeface="+mn-cs"/>
            </a:endParaRPr>
          </a:p>
          <a:p>
            <a:r>
              <a:rPr lang="es-ES" sz="1200" b="1" u="sng" kern="1200" dirty="0">
                <a:solidFill>
                  <a:schemeClr val="tx1"/>
                </a:solidFill>
                <a:effectLst/>
                <a:latin typeface="+mn-lt"/>
                <a:ea typeface="+mn-ea"/>
                <a:cs typeface="+mn-cs"/>
              </a:rPr>
              <a:t>Procedimiento 4 de SDL: evaluación de los riesgos de seguridad y privacidad</a:t>
            </a:r>
          </a:p>
          <a:p>
            <a:r>
              <a:rPr lang="es-ES" sz="1200" kern="1200" dirty="0">
                <a:solidFill>
                  <a:schemeClr val="tx1"/>
                </a:solidFill>
                <a:effectLst/>
                <a:latin typeface="+mn-lt"/>
                <a:ea typeface="+mn-ea"/>
                <a:cs typeface="+mn-cs"/>
              </a:rPr>
              <a:t>Las evaluaciones de los riesgos de seguridad (SRA) y de privacidad (PRA) son procesos obligatorios que identifican los aspectos funcionales del software que requieren una revisión exhaustiva. </a:t>
            </a:r>
            <a:r>
              <a:rPr lang="en-US" sz="1200" kern="1200" dirty="0" err="1">
                <a:solidFill>
                  <a:schemeClr val="tx1"/>
                </a:solidFill>
                <a:effectLst/>
                <a:latin typeface="+mn-lt"/>
                <a:ea typeface="+mn-ea"/>
                <a:cs typeface="+mn-cs"/>
              </a:rPr>
              <a:t>Dichas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evaluaciones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deben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incluir</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siguiente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información</a:t>
            </a:r>
            <a:r>
              <a:rPr lang="en-US" sz="1200" kern="1200" dirty="0">
                <a:solidFill>
                  <a:schemeClr val="tx1"/>
                </a:solidFill>
                <a:effectLst/>
                <a:latin typeface="+mn-lt"/>
                <a:ea typeface="+mn-ea"/>
                <a:cs typeface="+mn-cs"/>
              </a:rPr>
              <a:t>:</a:t>
            </a:r>
            <a:endParaRPr lang="es-ES"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(Seguridad) Partes del proyecto que van a requerir </a:t>
            </a:r>
            <a:r>
              <a:rPr lang="es-ES" sz="1200" u="sng" kern="1200" dirty="0">
                <a:solidFill>
                  <a:schemeClr val="tx1"/>
                </a:solidFill>
                <a:effectLst/>
                <a:latin typeface="+mn-lt"/>
                <a:ea typeface="+mn-ea"/>
                <a:cs typeface="+mn-cs"/>
                <a:hlinkClick r:id="rId4" action="ppaction://hlinkfile"/>
              </a:rPr>
              <a:t>modelos de riesgos</a:t>
            </a:r>
            <a:r>
              <a:rPr lang="es-ES" sz="1200" kern="1200" dirty="0">
                <a:solidFill>
                  <a:schemeClr val="tx1"/>
                </a:solidFill>
                <a:effectLst/>
                <a:latin typeface="+mn-lt"/>
                <a:ea typeface="+mn-ea"/>
                <a:cs typeface="+mn-cs"/>
              </a:rPr>
              <a:t> antes del lanzamiento.</a:t>
            </a:r>
          </a:p>
          <a:p>
            <a:pPr lvl="0"/>
            <a:r>
              <a:rPr lang="es-ES" sz="1200" kern="1200" dirty="0">
                <a:solidFill>
                  <a:schemeClr val="tx1"/>
                </a:solidFill>
                <a:effectLst/>
                <a:latin typeface="+mn-lt"/>
                <a:ea typeface="+mn-ea"/>
                <a:cs typeface="+mn-cs"/>
              </a:rPr>
              <a:t>(Seguridad) Las partes del proyecto que van a requerir revisiones del diseño de seguridad antes del lanzamiento.</a:t>
            </a:r>
          </a:p>
          <a:p>
            <a:pPr lvl="0"/>
            <a:r>
              <a:rPr lang="es-ES" sz="1200" kern="1200" dirty="0">
                <a:solidFill>
                  <a:schemeClr val="tx1"/>
                </a:solidFill>
                <a:effectLst/>
                <a:latin typeface="+mn-lt"/>
                <a:ea typeface="+mn-ea"/>
                <a:cs typeface="+mn-cs"/>
              </a:rPr>
              <a:t>(Seguridad) Partes del proyecto (si procede) que van a requerir pruebas de penetración por parte de un grupo externo al equipo de proyecto y acordado mutuamente. </a:t>
            </a:r>
          </a:p>
          <a:p>
            <a:pPr lvl="0"/>
            <a:r>
              <a:rPr lang="es-ES" sz="1200" kern="1200" dirty="0">
                <a:solidFill>
                  <a:schemeClr val="tx1"/>
                </a:solidFill>
                <a:effectLst/>
                <a:latin typeface="+mn-lt"/>
                <a:ea typeface="+mn-ea"/>
                <a:cs typeface="+mn-cs"/>
              </a:rPr>
              <a:t>(Seguridad) Requisitos de análisis o de pruebas adicionales que el asesor de seguridad considera necesarios para mitigar los riesgos de seguridad.</a:t>
            </a:r>
          </a:p>
          <a:p>
            <a:pPr lvl="0"/>
            <a:r>
              <a:rPr lang="es-ES" sz="1200" kern="1200" dirty="0">
                <a:solidFill>
                  <a:schemeClr val="tx1"/>
                </a:solidFill>
                <a:effectLst/>
                <a:latin typeface="+mn-lt"/>
                <a:ea typeface="+mn-ea"/>
                <a:cs typeface="+mn-cs"/>
              </a:rPr>
              <a:t>(Seguridad) Ámbito específico de los </a:t>
            </a:r>
            <a:r>
              <a:rPr lang="es-ES" sz="1200" u="sng" kern="1200" dirty="0">
                <a:solidFill>
                  <a:schemeClr val="tx1"/>
                </a:solidFill>
                <a:effectLst/>
                <a:latin typeface="+mn-lt"/>
                <a:ea typeface="+mn-ea"/>
                <a:cs typeface="+mn-cs"/>
                <a:hlinkClick r:id="rId5" action="ppaction://hlinkfile"/>
              </a:rPr>
              <a:t>requisitos en materia de pruebas de exploración de vulnerabilidades mediante datos aleatorios</a:t>
            </a:r>
            <a:r>
              <a:rPr lang="es-ES" sz="1200" kern="1200" dirty="0">
                <a:solidFill>
                  <a:schemeClr val="tx1"/>
                </a:solidFill>
                <a:effectLst/>
                <a:latin typeface="+mn-lt"/>
                <a:ea typeface="+mn-ea"/>
                <a:cs typeface="+mn-cs"/>
              </a:rPr>
              <a:t>.</a:t>
            </a:r>
          </a:p>
          <a:p>
            <a:pPr lvl="0"/>
            <a:r>
              <a:rPr lang="es-ES" sz="1200" kern="1200" dirty="0">
                <a:solidFill>
                  <a:schemeClr val="tx1"/>
                </a:solidFill>
                <a:effectLst/>
                <a:latin typeface="+mn-lt"/>
                <a:ea typeface="+mn-ea"/>
                <a:cs typeface="+mn-cs"/>
              </a:rPr>
              <a:t>(Privacidad) ¿Cuál es el nivel de impacto sobre la privacidad? La respuesta a esta pregunta se basa en las siguientes pautas: </a:t>
            </a:r>
          </a:p>
          <a:p>
            <a:pPr lvl="0"/>
            <a:r>
              <a:rPr lang="es-ES" sz="1200" kern="1200" dirty="0">
                <a:solidFill>
                  <a:schemeClr val="tx1"/>
                </a:solidFill>
                <a:effectLst/>
                <a:latin typeface="+mn-lt"/>
                <a:ea typeface="+mn-ea"/>
                <a:cs typeface="+mn-cs"/>
              </a:rPr>
              <a:t>P1 Alto riesgo para la privacidad. La característica, el producto o el servicio almacena o transfiere datos de identificación personal, cambia la configuración o las asociaciones de los tipos de archivo, o instala software.</a:t>
            </a:r>
          </a:p>
          <a:p>
            <a:pPr lvl="0"/>
            <a:r>
              <a:rPr lang="es-ES" sz="1200" kern="1200" dirty="0">
                <a:solidFill>
                  <a:schemeClr val="tx1"/>
                </a:solidFill>
                <a:effectLst/>
                <a:latin typeface="+mn-lt"/>
                <a:ea typeface="+mn-ea"/>
                <a:cs typeface="+mn-cs"/>
              </a:rPr>
              <a:t>P2 Riesgo moderado para la privacidad. El único comportamiento que afecta a la privacidad en la característica, el producto o el servicio es una transferencia de datos anónimos única e iniciada por el usuario (por ejemplo, el usuario hace clic en un vínculo y el software abre un sitio web).</a:t>
            </a:r>
          </a:p>
          <a:p>
            <a:pPr lvl="0"/>
            <a:r>
              <a:rPr lang="es-ES" sz="1200" kern="1200" dirty="0">
                <a:solidFill>
                  <a:schemeClr val="tx1"/>
                </a:solidFill>
                <a:effectLst/>
                <a:latin typeface="+mn-lt"/>
                <a:ea typeface="+mn-ea"/>
                <a:cs typeface="+mn-cs"/>
              </a:rPr>
              <a:t>P3 Bajo riesgo para la privacidad. La característica, el producto o el servicio no tiene ningún comportamiento que afecte a la privacidad. No hay ninguna transferencia de datos personales ni anónimos, no se almacenan datos de identificación personal en el equipo, no se modifica ninguna configuración en nombre del usuario y no se instala ningún software.</a:t>
            </a:r>
          </a:p>
          <a:p>
            <a:endParaRPr lang="es-ES" dirty="0"/>
          </a:p>
          <a:p>
            <a:endParaRPr lang="es-ES" dirty="0"/>
          </a:p>
          <a:p>
            <a:endParaRPr lang="es-ES" dirty="0"/>
          </a:p>
        </p:txBody>
      </p:sp>
      <p:sp>
        <p:nvSpPr>
          <p:cNvPr id="4" name="3 Marcador de número de diapositiva"/>
          <p:cNvSpPr>
            <a:spLocks noGrp="1"/>
          </p:cNvSpPr>
          <p:nvPr>
            <p:ph type="sldNum" sz="quarter" idx="10"/>
          </p:nvPr>
        </p:nvSpPr>
        <p:spPr/>
        <p:txBody>
          <a:bodyPr/>
          <a:lstStyle/>
          <a:p>
            <a:fld id="{064AA158-4D4D-427B-8540-6E8BBC9EB3DF}" type="slidenum">
              <a:rPr lang="es-ES" smtClean="0"/>
              <a:t>16</a:t>
            </a:fld>
            <a:endParaRPr lang="es-ES"/>
          </a:p>
        </p:txBody>
      </p:sp>
    </p:spTree>
    <p:extLst>
      <p:ext uri="{BB962C8B-B14F-4D97-AF65-F5344CB8AC3E}">
        <p14:creationId xmlns:p14="http://schemas.microsoft.com/office/powerpoint/2010/main" val="9456915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Requisitos</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La necesidad de considerar la seguridad y la privacidad “desde el primer instante” es un aspecto fundamental del desarrollo de un sistema seguro. La fase de planificación inicial es el momento más apropiado para definir los requisitos de fiabilidad de un proyecto de software. Al definir los requisitos en una fase temprana, los equipos de desarrollo podrán identificar los principales hitos y resultados, y es posible integrar la seguridad y la privacidad de modo que los planes y programaciones se alteren lo menos posible. Al principio de un proyecto, se realiza un análisis de los requisitos de seguridad y privacidad, el cual incluye la especificación de los requisitos de seguridad mínimos de la aplicación en el entorno operativo previsto, así como la especificación y la implementación de un sistema de seguimiento de los elementos de trabajo y de las vulnerabilidades de seguridad. </a:t>
            </a:r>
          </a:p>
          <a:p>
            <a:endParaRPr lang="es-ES" dirty="0"/>
          </a:p>
          <a:p>
            <a:r>
              <a:rPr lang="es-ES" sz="1200" b="1" u="sng" kern="1200" dirty="0">
                <a:solidFill>
                  <a:schemeClr val="tx1"/>
                </a:solidFill>
                <a:effectLst/>
                <a:latin typeface="+mn-lt"/>
                <a:ea typeface="+mn-ea"/>
                <a:cs typeface="+mn-cs"/>
              </a:rPr>
              <a:t>Procedimiento 3 de SDL: umbrales de calidad y límites de errores</a:t>
            </a:r>
          </a:p>
          <a:p>
            <a:r>
              <a:rPr lang="es-ES" sz="1200" kern="1200" dirty="0">
                <a:solidFill>
                  <a:schemeClr val="tx1"/>
                </a:solidFill>
                <a:effectLst/>
                <a:latin typeface="+mn-lt"/>
                <a:ea typeface="+mn-ea"/>
                <a:cs typeface="+mn-cs"/>
              </a:rPr>
              <a:t>Se usan umbrales de calidad y </a:t>
            </a:r>
            <a:r>
              <a:rPr lang="es-ES" sz="1200" i="1" kern="1200" dirty="0">
                <a:solidFill>
                  <a:schemeClr val="tx1"/>
                </a:solidFill>
                <a:effectLst/>
                <a:latin typeface="+mn-lt"/>
                <a:ea typeface="+mn-ea"/>
                <a:cs typeface="+mn-cs"/>
              </a:rPr>
              <a:t>límites de errores</a:t>
            </a:r>
            <a:r>
              <a:rPr lang="es-ES" sz="1200" kern="1200" dirty="0">
                <a:solidFill>
                  <a:schemeClr val="tx1"/>
                </a:solidFill>
                <a:effectLst/>
                <a:latin typeface="+mn-lt"/>
                <a:ea typeface="+mn-ea"/>
                <a:cs typeface="+mn-cs"/>
              </a:rPr>
              <a:t> para establecer niveles mínimos aceptables de calidad en materia de seguridad y privacidad. Al definir estos criterios al comienzo de un proyecto, se comprenderán mejor los riesgos asociados a los problemas de seguridad y los equipos podrán identificar y corregir los errores de seguridad durante el desarrollo. El equipo de proyecto debe negociar los umbrales de calidad (por ejemplo, todas las advertencias del compilador se deben evaluar y corregir antes de proteger el código) para cada fase de desarrollo; a continuación, el asesor de seguridad debe aprobarlos y puede agregar aclaraciones específicas del proyecto así como requisitos de seguridad más estrictos según proceda. El equipo de proyecto también debe ilustrar la conformidad con los umbrales de calidad negociados para cumplimentar la </a:t>
            </a:r>
            <a:r>
              <a:rPr lang="es-ES" sz="1200" u="sng" kern="1200" dirty="0">
                <a:solidFill>
                  <a:schemeClr val="tx1"/>
                </a:solidFill>
                <a:effectLst/>
                <a:latin typeface="+mn-lt"/>
                <a:ea typeface="+mn-ea"/>
                <a:cs typeface="+mn-cs"/>
                <a:hlinkClick r:id="rId3" action="ppaction://hlinkfile"/>
              </a:rPr>
              <a:t>revisión de seguridad final.</a:t>
            </a:r>
            <a:r>
              <a:rPr lang="es-ES" sz="1200" kern="1200" dirty="0">
                <a:solidFill>
                  <a:schemeClr val="tx1"/>
                </a:solidFill>
                <a:effectLst/>
                <a:latin typeface="+mn-lt"/>
                <a:ea typeface="+mn-ea"/>
                <a:cs typeface="+mn-cs"/>
              </a:rPr>
              <a:t> </a:t>
            </a:r>
          </a:p>
          <a:p>
            <a:r>
              <a:rPr lang="es-ES" sz="1200" kern="1200" dirty="0">
                <a:solidFill>
                  <a:schemeClr val="tx1"/>
                </a:solidFill>
                <a:effectLst/>
                <a:latin typeface="+mn-lt"/>
                <a:ea typeface="+mn-ea"/>
                <a:cs typeface="+mn-cs"/>
              </a:rPr>
              <a:t>Un límite de errores es un umbral de calidad que se aplica a todo el proyecto de desarrollo de software. Se usa para definir los umbrales de gravedad de las vulnerabilidades de seguridad; por ejemplo, en la aplicación no hay vulnerabilidades conocidas que estén clasificadas como “críticas” o “importantes” en el momento de su lanzamiento. Una vez definido, el límite de errores no debe bajarse nunca. Un límite de errores dinámico es un objetivo no fijo que probablemente no se entienda muy bien en el ámbito del desarrollo.</a:t>
            </a:r>
          </a:p>
          <a:p>
            <a:endParaRPr lang="es-ES" sz="1200" kern="1200" dirty="0">
              <a:solidFill>
                <a:schemeClr val="tx1"/>
              </a:solidFill>
              <a:effectLst/>
              <a:latin typeface="+mn-lt"/>
              <a:ea typeface="+mn-ea"/>
              <a:cs typeface="+mn-cs"/>
            </a:endParaRPr>
          </a:p>
          <a:p>
            <a:r>
              <a:rPr lang="es-ES" sz="1200" b="1" u="sng" kern="1200" dirty="0">
                <a:solidFill>
                  <a:schemeClr val="tx1"/>
                </a:solidFill>
                <a:effectLst/>
                <a:latin typeface="+mn-lt"/>
                <a:ea typeface="+mn-ea"/>
                <a:cs typeface="+mn-cs"/>
              </a:rPr>
              <a:t>Procedimiento 4 de SDL: evaluación de los riesgos de seguridad y privacidad</a:t>
            </a:r>
          </a:p>
          <a:p>
            <a:r>
              <a:rPr lang="es-ES" sz="1200" kern="1200" dirty="0">
                <a:solidFill>
                  <a:schemeClr val="tx1"/>
                </a:solidFill>
                <a:effectLst/>
                <a:latin typeface="+mn-lt"/>
                <a:ea typeface="+mn-ea"/>
                <a:cs typeface="+mn-cs"/>
              </a:rPr>
              <a:t>Las evaluaciones de los riesgos de seguridad (SRA) y de privacidad (PRA) son procesos obligatorios que identifican los aspectos funcionales del software que requieren una revisión exhaustiva. </a:t>
            </a:r>
            <a:r>
              <a:rPr lang="en-US" sz="1200" kern="1200" dirty="0" err="1">
                <a:solidFill>
                  <a:schemeClr val="tx1"/>
                </a:solidFill>
                <a:effectLst/>
                <a:latin typeface="+mn-lt"/>
                <a:ea typeface="+mn-ea"/>
                <a:cs typeface="+mn-cs"/>
              </a:rPr>
              <a:t>Dichas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evaluaciones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deben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incluir</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siguiente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información</a:t>
            </a:r>
            <a:r>
              <a:rPr lang="en-US" sz="1200" kern="1200" dirty="0">
                <a:solidFill>
                  <a:schemeClr val="tx1"/>
                </a:solidFill>
                <a:effectLst/>
                <a:latin typeface="+mn-lt"/>
                <a:ea typeface="+mn-ea"/>
                <a:cs typeface="+mn-cs"/>
              </a:rPr>
              <a:t>:</a:t>
            </a:r>
            <a:endParaRPr lang="es-ES"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(Seguridad) Partes del proyecto que van a requerir </a:t>
            </a:r>
            <a:r>
              <a:rPr lang="es-ES" sz="1200" u="sng" kern="1200" dirty="0">
                <a:solidFill>
                  <a:schemeClr val="tx1"/>
                </a:solidFill>
                <a:effectLst/>
                <a:latin typeface="+mn-lt"/>
                <a:ea typeface="+mn-ea"/>
                <a:cs typeface="+mn-cs"/>
                <a:hlinkClick r:id="rId4" action="ppaction://hlinkfile"/>
              </a:rPr>
              <a:t>modelos de riesgos</a:t>
            </a:r>
            <a:r>
              <a:rPr lang="es-ES" sz="1200" kern="1200" dirty="0">
                <a:solidFill>
                  <a:schemeClr val="tx1"/>
                </a:solidFill>
                <a:effectLst/>
                <a:latin typeface="+mn-lt"/>
                <a:ea typeface="+mn-ea"/>
                <a:cs typeface="+mn-cs"/>
              </a:rPr>
              <a:t> antes del lanzamiento.</a:t>
            </a:r>
          </a:p>
          <a:p>
            <a:pPr lvl="0"/>
            <a:r>
              <a:rPr lang="es-ES" sz="1200" kern="1200" dirty="0">
                <a:solidFill>
                  <a:schemeClr val="tx1"/>
                </a:solidFill>
                <a:effectLst/>
                <a:latin typeface="+mn-lt"/>
                <a:ea typeface="+mn-ea"/>
                <a:cs typeface="+mn-cs"/>
              </a:rPr>
              <a:t>(Seguridad) Las partes del proyecto que van a requerir revisiones del diseño de seguridad antes del lanzamiento.</a:t>
            </a:r>
          </a:p>
          <a:p>
            <a:pPr lvl="0"/>
            <a:r>
              <a:rPr lang="es-ES" sz="1200" kern="1200" dirty="0">
                <a:solidFill>
                  <a:schemeClr val="tx1"/>
                </a:solidFill>
                <a:effectLst/>
                <a:latin typeface="+mn-lt"/>
                <a:ea typeface="+mn-ea"/>
                <a:cs typeface="+mn-cs"/>
              </a:rPr>
              <a:t>(Seguridad) Partes del proyecto (si procede) que van a requerir pruebas de penetración por parte de un grupo externo al equipo de proyecto y acordado mutuamente. </a:t>
            </a:r>
          </a:p>
          <a:p>
            <a:pPr lvl="0"/>
            <a:r>
              <a:rPr lang="es-ES" sz="1200" kern="1200" dirty="0">
                <a:solidFill>
                  <a:schemeClr val="tx1"/>
                </a:solidFill>
                <a:effectLst/>
                <a:latin typeface="+mn-lt"/>
                <a:ea typeface="+mn-ea"/>
                <a:cs typeface="+mn-cs"/>
              </a:rPr>
              <a:t>(Seguridad) Requisitos de análisis o de pruebas adicionales que el asesor de seguridad considera necesarios para mitigar los riesgos de seguridad.</a:t>
            </a:r>
          </a:p>
          <a:p>
            <a:pPr lvl="0"/>
            <a:r>
              <a:rPr lang="es-ES" sz="1200" kern="1200" dirty="0">
                <a:solidFill>
                  <a:schemeClr val="tx1"/>
                </a:solidFill>
                <a:effectLst/>
                <a:latin typeface="+mn-lt"/>
                <a:ea typeface="+mn-ea"/>
                <a:cs typeface="+mn-cs"/>
              </a:rPr>
              <a:t>(Seguridad) Ámbito específico de los </a:t>
            </a:r>
            <a:r>
              <a:rPr lang="es-ES" sz="1200" u="sng" kern="1200" dirty="0">
                <a:solidFill>
                  <a:schemeClr val="tx1"/>
                </a:solidFill>
                <a:effectLst/>
                <a:latin typeface="+mn-lt"/>
                <a:ea typeface="+mn-ea"/>
                <a:cs typeface="+mn-cs"/>
                <a:hlinkClick r:id="rId5" action="ppaction://hlinkfile"/>
              </a:rPr>
              <a:t>requisitos en materia de pruebas de exploración de vulnerabilidades mediante datos aleatorios</a:t>
            </a:r>
            <a:r>
              <a:rPr lang="es-ES" sz="1200" kern="1200" dirty="0">
                <a:solidFill>
                  <a:schemeClr val="tx1"/>
                </a:solidFill>
                <a:effectLst/>
                <a:latin typeface="+mn-lt"/>
                <a:ea typeface="+mn-ea"/>
                <a:cs typeface="+mn-cs"/>
              </a:rPr>
              <a:t>.</a:t>
            </a:r>
          </a:p>
          <a:p>
            <a:pPr lvl="0"/>
            <a:r>
              <a:rPr lang="es-ES" sz="1200" kern="1200" dirty="0">
                <a:solidFill>
                  <a:schemeClr val="tx1"/>
                </a:solidFill>
                <a:effectLst/>
                <a:latin typeface="+mn-lt"/>
                <a:ea typeface="+mn-ea"/>
                <a:cs typeface="+mn-cs"/>
              </a:rPr>
              <a:t>(Privacidad) ¿Cuál es el nivel de impacto sobre la privacidad? La respuesta a esta pregunta se basa en las siguientes pautas: </a:t>
            </a:r>
          </a:p>
          <a:p>
            <a:pPr lvl="0"/>
            <a:r>
              <a:rPr lang="es-ES" sz="1200" kern="1200" dirty="0">
                <a:solidFill>
                  <a:schemeClr val="tx1"/>
                </a:solidFill>
                <a:effectLst/>
                <a:latin typeface="+mn-lt"/>
                <a:ea typeface="+mn-ea"/>
                <a:cs typeface="+mn-cs"/>
              </a:rPr>
              <a:t>P1 Alto riesgo para la privacidad. La característica, el producto o el servicio almacena o transfiere datos de identificación personal, cambia la configuración o las asociaciones de los tipos de archivo, o instala software.</a:t>
            </a:r>
          </a:p>
          <a:p>
            <a:pPr lvl="0"/>
            <a:r>
              <a:rPr lang="es-ES" sz="1200" kern="1200" dirty="0">
                <a:solidFill>
                  <a:schemeClr val="tx1"/>
                </a:solidFill>
                <a:effectLst/>
                <a:latin typeface="+mn-lt"/>
                <a:ea typeface="+mn-ea"/>
                <a:cs typeface="+mn-cs"/>
              </a:rPr>
              <a:t>P2 Riesgo moderado para la privacidad. El único comportamiento que afecta a la privacidad en la característica, el producto o el servicio es una transferencia de datos anónimos única e iniciada por el usuario (por ejemplo, el usuario hace clic en un vínculo y el software abre un sitio web).</a:t>
            </a:r>
          </a:p>
          <a:p>
            <a:pPr lvl="0"/>
            <a:r>
              <a:rPr lang="es-ES" sz="1200" kern="1200" dirty="0">
                <a:solidFill>
                  <a:schemeClr val="tx1"/>
                </a:solidFill>
                <a:effectLst/>
                <a:latin typeface="+mn-lt"/>
                <a:ea typeface="+mn-ea"/>
                <a:cs typeface="+mn-cs"/>
              </a:rPr>
              <a:t>P3 Bajo riesgo para la privacidad. La característica, el producto o el servicio no tiene ningún comportamiento que afecte a la privacidad. No hay ninguna transferencia de datos personales ni anónimos, no se almacenan datos de identificación personal en el equipo, no se modifica ninguna configuración en nombre del usuario y no se instala ningún software.</a:t>
            </a:r>
          </a:p>
          <a:p>
            <a:endParaRPr lang="es-ES" dirty="0"/>
          </a:p>
          <a:p>
            <a:endParaRPr lang="es-ES" dirty="0"/>
          </a:p>
          <a:p>
            <a:endParaRPr lang="es-ES" dirty="0"/>
          </a:p>
        </p:txBody>
      </p:sp>
      <p:sp>
        <p:nvSpPr>
          <p:cNvPr id="4" name="3 Marcador de número de diapositiva"/>
          <p:cNvSpPr>
            <a:spLocks noGrp="1"/>
          </p:cNvSpPr>
          <p:nvPr>
            <p:ph type="sldNum" sz="quarter" idx="10"/>
          </p:nvPr>
        </p:nvSpPr>
        <p:spPr/>
        <p:txBody>
          <a:bodyPr/>
          <a:lstStyle/>
          <a:p>
            <a:fld id="{064AA158-4D4D-427B-8540-6E8BBC9EB3DF}" type="slidenum">
              <a:rPr lang="es-ES" smtClean="0"/>
              <a:t>17</a:t>
            </a:fld>
            <a:endParaRPr lang="es-ES"/>
          </a:p>
        </p:txBody>
      </p:sp>
    </p:spTree>
    <p:extLst>
      <p:ext uri="{BB962C8B-B14F-4D97-AF65-F5344CB8AC3E}">
        <p14:creationId xmlns:p14="http://schemas.microsoft.com/office/powerpoint/2010/main" val="9456915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Requisitos</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La necesidad de considerar la seguridad y la privacidad “desde el primer instante” es un aspecto fundamental del desarrollo de un sistema seguro. La fase de planificación inicial es el momento más apropiado para definir los requisitos de fiabilidad de un proyecto de software. Al definir los requisitos en una fase temprana, los equipos de desarrollo podrán identificar los principales hitos y resultados, y es posible integrar la seguridad y la privacidad de modo que los planes y programaciones se alteren lo menos posible. Al principio de un proyecto, se realiza un análisis de los requisitos de seguridad y privacidad, el cual incluye la especificación de los requisitos de seguridad mínimos de la aplicación en el entorno operativo previsto, así como la especificación y la implementación de un sistema de seguimiento de los elementos de trabajo y de las vulnerabilidades de seguridad. </a:t>
            </a:r>
          </a:p>
          <a:p>
            <a:endParaRPr lang="es-ES" dirty="0"/>
          </a:p>
          <a:p>
            <a:r>
              <a:rPr lang="es-ES" sz="1200" b="1" u="sng" kern="1200" dirty="0">
                <a:solidFill>
                  <a:schemeClr val="tx1"/>
                </a:solidFill>
                <a:effectLst/>
                <a:latin typeface="+mn-lt"/>
                <a:ea typeface="+mn-ea"/>
                <a:cs typeface="+mn-cs"/>
              </a:rPr>
              <a:t>Procedimiento 3 de SDL: umbrales de calidad y límites de errores</a:t>
            </a:r>
          </a:p>
          <a:p>
            <a:r>
              <a:rPr lang="es-ES" sz="1200" kern="1200" dirty="0">
                <a:solidFill>
                  <a:schemeClr val="tx1"/>
                </a:solidFill>
                <a:effectLst/>
                <a:latin typeface="+mn-lt"/>
                <a:ea typeface="+mn-ea"/>
                <a:cs typeface="+mn-cs"/>
              </a:rPr>
              <a:t>Se usan umbrales de calidad y </a:t>
            </a:r>
            <a:r>
              <a:rPr lang="es-ES" sz="1200" i="1" kern="1200" dirty="0">
                <a:solidFill>
                  <a:schemeClr val="tx1"/>
                </a:solidFill>
                <a:effectLst/>
                <a:latin typeface="+mn-lt"/>
                <a:ea typeface="+mn-ea"/>
                <a:cs typeface="+mn-cs"/>
              </a:rPr>
              <a:t>límites de errores</a:t>
            </a:r>
            <a:r>
              <a:rPr lang="es-ES" sz="1200" kern="1200" dirty="0">
                <a:solidFill>
                  <a:schemeClr val="tx1"/>
                </a:solidFill>
                <a:effectLst/>
                <a:latin typeface="+mn-lt"/>
                <a:ea typeface="+mn-ea"/>
                <a:cs typeface="+mn-cs"/>
              </a:rPr>
              <a:t> para establecer niveles mínimos aceptables de calidad en materia de seguridad y privacidad. Al definir estos criterios al comienzo de un proyecto, se comprenderán mejor los riesgos asociados a los problemas de seguridad y los equipos podrán identificar y corregir los errores de seguridad durante el desarrollo. El equipo de proyecto debe negociar los umbrales de calidad (por ejemplo, todas las advertencias del compilador se deben evaluar y corregir antes de proteger el código) para cada fase de desarrollo; a continuación, el asesor de seguridad debe aprobarlos y puede agregar aclaraciones específicas del proyecto así como requisitos de seguridad más estrictos según proceda. El equipo de proyecto también debe ilustrar la conformidad con los umbrales de calidad negociados para cumplimentar la </a:t>
            </a:r>
            <a:r>
              <a:rPr lang="es-ES" sz="1200" u="sng" kern="1200" dirty="0">
                <a:solidFill>
                  <a:schemeClr val="tx1"/>
                </a:solidFill>
                <a:effectLst/>
                <a:latin typeface="+mn-lt"/>
                <a:ea typeface="+mn-ea"/>
                <a:cs typeface="+mn-cs"/>
                <a:hlinkClick r:id="rId3" action="ppaction://hlinkfile"/>
              </a:rPr>
              <a:t>revisión de seguridad final.</a:t>
            </a:r>
            <a:r>
              <a:rPr lang="es-ES" sz="1200" kern="1200" dirty="0">
                <a:solidFill>
                  <a:schemeClr val="tx1"/>
                </a:solidFill>
                <a:effectLst/>
                <a:latin typeface="+mn-lt"/>
                <a:ea typeface="+mn-ea"/>
                <a:cs typeface="+mn-cs"/>
              </a:rPr>
              <a:t> </a:t>
            </a:r>
          </a:p>
          <a:p>
            <a:r>
              <a:rPr lang="es-ES" sz="1200" kern="1200" dirty="0">
                <a:solidFill>
                  <a:schemeClr val="tx1"/>
                </a:solidFill>
                <a:effectLst/>
                <a:latin typeface="+mn-lt"/>
                <a:ea typeface="+mn-ea"/>
                <a:cs typeface="+mn-cs"/>
              </a:rPr>
              <a:t>Un límite de errores es un umbral de calidad que se aplica a todo el proyecto de desarrollo de software. Se usa para definir los umbrales de gravedad de las vulnerabilidades de seguridad; por ejemplo, en la aplicación no hay vulnerabilidades conocidas que estén clasificadas como “críticas” o “importantes” en el momento de su lanzamiento. Una vez definido, el límite de errores no debe bajarse nunca. Un límite de errores dinámico es un objetivo no fijo que probablemente no se entienda muy bien en el ámbito del desarrollo.</a:t>
            </a:r>
          </a:p>
          <a:p>
            <a:endParaRPr lang="es-ES" sz="1200" kern="1200" dirty="0">
              <a:solidFill>
                <a:schemeClr val="tx1"/>
              </a:solidFill>
              <a:effectLst/>
              <a:latin typeface="+mn-lt"/>
              <a:ea typeface="+mn-ea"/>
              <a:cs typeface="+mn-cs"/>
            </a:endParaRPr>
          </a:p>
          <a:p>
            <a:r>
              <a:rPr lang="es-ES" sz="1200" b="1" u="sng" kern="1200" dirty="0">
                <a:solidFill>
                  <a:schemeClr val="tx1"/>
                </a:solidFill>
                <a:effectLst/>
                <a:latin typeface="+mn-lt"/>
                <a:ea typeface="+mn-ea"/>
                <a:cs typeface="+mn-cs"/>
              </a:rPr>
              <a:t>Procedimiento 4 de SDL: evaluación de los riesgos de seguridad y privacidad</a:t>
            </a:r>
          </a:p>
          <a:p>
            <a:r>
              <a:rPr lang="es-ES" sz="1200" kern="1200" dirty="0">
                <a:solidFill>
                  <a:schemeClr val="tx1"/>
                </a:solidFill>
                <a:effectLst/>
                <a:latin typeface="+mn-lt"/>
                <a:ea typeface="+mn-ea"/>
                <a:cs typeface="+mn-cs"/>
              </a:rPr>
              <a:t>Las evaluaciones de los riesgos de seguridad (SRA) y de privacidad (PRA) son procesos obligatorios que identifican los aspectos funcionales del software que requieren una revisión exhaustiva. </a:t>
            </a:r>
            <a:r>
              <a:rPr lang="en-US" sz="1200" kern="1200" dirty="0" err="1">
                <a:solidFill>
                  <a:schemeClr val="tx1"/>
                </a:solidFill>
                <a:effectLst/>
                <a:latin typeface="+mn-lt"/>
                <a:ea typeface="+mn-ea"/>
                <a:cs typeface="+mn-cs"/>
              </a:rPr>
              <a:t>Dichas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evaluaciones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deben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incluir</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siguiente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información</a:t>
            </a:r>
            <a:r>
              <a:rPr lang="en-US" sz="1200" kern="1200" dirty="0">
                <a:solidFill>
                  <a:schemeClr val="tx1"/>
                </a:solidFill>
                <a:effectLst/>
                <a:latin typeface="+mn-lt"/>
                <a:ea typeface="+mn-ea"/>
                <a:cs typeface="+mn-cs"/>
              </a:rPr>
              <a:t>:</a:t>
            </a:r>
            <a:endParaRPr lang="es-ES"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(Seguridad) Partes del proyecto que van a requerir </a:t>
            </a:r>
            <a:r>
              <a:rPr lang="es-ES" sz="1200" u="sng" kern="1200" dirty="0">
                <a:solidFill>
                  <a:schemeClr val="tx1"/>
                </a:solidFill>
                <a:effectLst/>
                <a:latin typeface="+mn-lt"/>
                <a:ea typeface="+mn-ea"/>
                <a:cs typeface="+mn-cs"/>
                <a:hlinkClick r:id="rId4" action="ppaction://hlinkfile"/>
              </a:rPr>
              <a:t>modelos de riesgos</a:t>
            </a:r>
            <a:r>
              <a:rPr lang="es-ES" sz="1200" kern="1200" dirty="0">
                <a:solidFill>
                  <a:schemeClr val="tx1"/>
                </a:solidFill>
                <a:effectLst/>
                <a:latin typeface="+mn-lt"/>
                <a:ea typeface="+mn-ea"/>
                <a:cs typeface="+mn-cs"/>
              </a:rPr>
              <a:t> antes del lanzamiento.</a:t>
            </a:r>
          </a:p>
          <a:p>
            <a:pPr lvl="0"/>
            <a:r>
              <a:rPr lang="es-ES" sz="1200" kern="1200" dirty="0">
                <a:solidFill>
                  <a:schemeClr val="tx1"/>
                </a:solidFill>
                <a:effectLst/>
                <a:latin typeface="+mn-lt"/>
                <a:ea typeface="+mn-ea"/>
                <a:cs typeface="+mn-cs"/>
              </a:rPr>
              <a:t>(Seguridad) Las partes del proyecto que van a requerir revisiones del diseño de seguridad antes del lanzamiento.</a:t>
            </a:r>
          </a:p>
          <a:p>
            <a:pPr lvl="0"/>
            <a:r>
              <a:rPr lang="es-ES" sz="1200" kern="1200" dirty="0">
                <a:solidFill>
                  <a:schemeClr val="tx1"/>
                </a:solidFill>
                <a:effectLst/>
                <a:latin typeface="+mn-lt"/>
                <a:ea typeface="+mn-ea"/>
                <a:cs typeface="+mn-cs"/>
              </a:rPr>
              <a:t>(Seguridad) Partes del proyecto (si procede) que van a requerir pruebas de penetración por parte de un grupo externo al equipo de proyecto y acordado mutuamente. </a:t>
            </a:r>
          </a:p>
          <a:p>
            <a:pPr lvl="0"/>
            <a:r>
              <a:rPr lang="es-ES" sz="1200" kern="1200" dirty="0">
                <a:solidFill>
                  <a:schemeClr val="tx1"/>
                </a:solidFill>
                <a:effectLst/>
                <a:latin typeface="+mn-lt"/>
                <a:ea typeface="+mn-ea"/>
                <a:cs typeface="+mn-cs"/>
              </a:rPr>
              <a:t>(Seguridad) Requisitos de análisis o de pruebas adicionales que el asesor de seguridad considera necesarios para mitigar los riesgos de seguridad.</a:t>
            </a:r>
          </a:p>
          <a:p>
            <a:pPr lvl="0"/>
            <a:r>
              <a:rPr lang="es-ES" sz="1200" kern="1200" dirty="0">
                <a:solidFill>
                  <a:schemeClr val="tx1"/>
                </a:solidFill>
                <a:effectLst/>
                <a:latin typeface="+mn-lt"/>
                <a:ea typeface="+mn-ea"/>
                <a:cs typeface="+mn-cs"/>
              </a:rPr>
              <a:t>(Seguridad) Ámbito específico de los </a:t>
            </a:r>
            <a:r>
              <a:rPr lang="es-ES" sz="1200" u="sng" kern="1200" dirty="0">
                <a:solidFill>
                  <a:schemeClr val="tx1"/>
                </a:solidFill>
                <a:effectLst/>
                <a:latin typeface="+mn-lt"/>
                <a:ea typeface="+mn-ea"/>
                <a:cs typeface="+mn-cs"/>
                <a:hlinkClick r:id="rId5" action="ppaction://hlinkfile"/>
              </a:rPr>
              <a:t>requisitos en materia de pruebas de exploración de vulnerabilidades mediante datos aleatorios</a:t>
            </a:r>
            <a:r>
              <a:rPr lang="es-ES" sz="1200" kern="1200" dirty="0">
                <a:solidFill>
                  <a:schemeClr val="tx1"/>
                </a:solidFill>
                <a:effectLst/>
                <a:latin typeface="+mn-lt"/>
                <a:ea typeface="+mn-ea"/>
                <a:cs typeface="+mn-cs"/>
              </a:rPr>
              <a:t>.</a:t>
            </a:r>
          </a:p>
          <a:p>
            <a:pPr lvl="0"/>
            <a:r>
              <a:rPr lang="es-ES" sz="1200" kern="1200" dirty="0">
                <a:solidFill>
                  <a:schemeClr val="tx1"/>
                </a:solidFill>
                <a:effectLst/>
                <a:latin typeface="+mn-lt"/>
                <a:ea typeface="+mn-ea"/>
                <a:cs typeface="+mn-cs"/>
              </a:rPr>
              <a:t>(Privacidad) ¿Cuál es el nivel de impacto sobre la privacidad? La respuesta a esta pregunta se basa en las siguientes pautas: </a:t>
            </a:r>
          </a:p>
          <a:p>
            <a:pPr lvl="0"/>
            <a:r>
              <a:rPr lang="es-ES" sz="1200" kern="1200" dirty="0">
                <a:solidFill>
                  <a:schemeClr val="tx1"/>
                </a:solidFill>
                <a:effectLst/>
                <a:latin typeface="+mn-lt"/>
                <a:ea typeface="+mn-ea"/>
                <a:cs typeface="+mn-cs"/>
              </a:rPr>
              <a:t>P1 Alto riesgo para la privacidad. La característica, el producto o el servicio almacena o transfiere datos de identificación personal, cambia la configuración o las asociaciones de los tipos de archivo, o instala software.</a:t>
            </a:r>
          </a:p>
          <a:p>
            <a:pPr lvl="0"/>
            <a:r>
              <a:rPr lang="es-ES" sz="1200" kern="1200" dirty="0">
                <a:solidFill>
                  <a:schemeClr val="tx1"/>
                </a:solidFill>
                <a:effectLst/>
                <a:latin typeface="+mn-lt"/>
                <a:ea typeface="+mn-ea"/>
                <a:cs typeface="+mn-cs"/>
              </a:rPr>
              <a:t>P2 Riesgo moderado para la privacidad. El único comportamiento que afecta a la privacidad en la característica, el producto o el servicio es una transferencia de datos anónimos única e iniciada por el usuario (por ejemplo, el usuario hace clic en un vínculo y el software abre un sitio web).</a:t>
            </a:r>
          </a:p>
          <a:p>
            <a:pPr lvl="0"/>
            <a:r>
              <a:rPr lang="es-ES" sz="1200" kern="1200" dirty="0">
                <a:solidFill>
                  <a:schemeClr val="tx1"/>
                </a:solidFill>
                <a:effectLst/>
                <a:latin typeface="+mn-lt"/>
                <a:ea typeface="+mn-ea"/>
                <a:cs typeface="+mn-cs"/>
              </a:rPr>
              <a:t>P3 Bajo riesgo para la privacidad. La característica, el producto o el servicio no tiene ningún comportamiento que afecte a la privacidad. No hay ninguna transferencia de datos personales ni anónimos, no se almacenan datos de identificación personal en el equipo, no se modifica ninguna configuración en nombre del usuario y no se instala ningún software.</a:t>
            </a:r>
          </a:p>
          <a:p>
            <a:endParaRPr lang="es-ES" dirty="0"/>
          </a:p>
          <a:p>
            <a:endParaRPr lang="es-ES" dirty="0"/>
          </a:p>
          <a:p>
            <a:endParaRPr lang="es-ES" dirty="0"/>
          </a:p>
        </p:txBody>
      </p:sp>
      <p:sp>
        <p:nvSpPr>
          <p:cNvPr id="4" name="3 Marcador de número de diapositiva"/>
          <p:cNvSpPr>
            <a:spLocks noGrp="1"/>
          </p:cNvSpPr>
          <p:nvPr>
            <p:ph type="sldNum" sz="quarter" idx="10"/>
          </p:nvPr>
        </p:nvSpPr>
        <p:spPr/>
        <p:txBody>
          <a:bodyPr/>
          <a:lstStyle/>
          <a:p>
            <a:fld id="{064AA158-4D4D-427B-8540-6E8BBC9EB3DF}" type="slidenum">
              <a:rPr lang="es-ES" smtClean="0"/>
              <a:t>18</a:t>
            </a:fld>
            <a:endParaRPr lang="es-ES"/>
          </a:p>
        </p:txBody>
      </p:sp>
    </p:spTree>
    <p:extLst>
      <p:ext uri="{BB962C8B-B14F-4D97-AF65-F5344CB8AC3E}">
        <p14:creationId xmlns:p14="http://schemas.microsoft.com/office/powerpoint/2010/main" val="9456915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Requisitos</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La necesidad de considerar la seguridad y la privacidad “desde el primer instante” es un aspecto fundamental del desarrollo de un sistema seguro. La fase de planificación inicial es el momento más apropiado para definir los requisitos de fiabilidad de un proyecto de software. Al definir los requisitos en una fase temprana, los equipos de desarrollo podrán identificar los principales hitos y resultados, y es posible integrar la seguridad y la privacidad de modo que los planes y programaciones se alteren lo menos posible. Al principio de un proyecto, se realiza un análisis de los requisitos de seguridad y privacidad, el cual incluye la especificación de los requisitos de seguridad mínimos de la aplicación en el entorno operativo previsto, así como la especificación y la implementación de un sistema de seguimiento de los elementos de trabajo y de las vulnerabilidades de seguridad. </a:t>
            </a:r>
          </a:p>
          <a:p>
            <a:endParaRPr lang="es-ES" dirty="0"/>
          </a:p>
          <a:p>
            <a:r>
              <a:rPr lang="es-ES" sz="1200" b="1" u="sng" kern="1200" dirty="0">
                <a:solidFill>
                  <a:schemeClr val="tx1"/>
                </a:solidFill>
                <a:effectLst/>
                <a:latin typeface="+mn-lt"/>
                <a:ea typeface="+mn-ea"/>
                <a:cs typeface="+mn-cs"/>
              </a:rPr>
              <a:t>Procedimiento 3 de SDL: umbrales de calidad y límites de errores</a:t>
            </a:r>
          </a:p>
          <a:p>
            <a:r>
              <a:rPr lang="es-ES" sz="1200" kern="1200" dirty="0">
                <a:solidFill>
                  <a:schemeClr val="tx1"/>
                </a:solidFill>
                <a:effectLst/>
                <a:latin typeface="+mn-lt"/>
                <a:ea typeface="+mn-ea"/>
                <a:cs typeface="+mn-cs"/>
              </a:rPr>
              <a:t>Se usan umbrales de calidad y </a:t>
            </a:r>
            <a:r>
              <a:rPr lang="es-ES" sz="1200" i="1" kern="1200" dirty="0">
                <a:solidFill>
                  <a:schemeClr val="tx1"/>
                </a:solidFill>
                <a:effectLst/>
                <a:latin typeface="+mn-lt"/>
                <a:ea typeface="+mn-ea"/>
                <a:cs typeface="+mn-cs"/>
              </a:rPr>
              <a:t>límites de errores</a:t>
            </a:r>
            <a:r>
              <a:rPr lang="es-ES" sz="1200" kern="1200" dirty="0">
                <a:solidFill>
                  <a:schemeClr val="tx1"/>
                </a:solidFill>
                <a:effectLst/>
                <a:latin typeface="+mn-lt"/>
                <a:ea typeface="+mn-ea"/>
                <a:cs typeface="+mn-cs"/>
              </a:rPr>
              <a:t> para establecer niveles mínimos aceptables de calidad en materia de seguridad y privacidad. Al definir estos criterios al comienzo de un proyecto, se comprenderán mejor los riesgos asociados a los problemas de seguridad y los equipos podrán identificar y corregir los errores de seguridad durante el desarrollo. El equipo de proyecto debe negociar los umbrales de calidad (por ejemplo, todas las advertencias del compilador se deben evaluar y corregir antes de proteger el código) para cada fase de desarrollo; a continuación, el asesor de seguridad debe aprobarlos y puede agregar aclaraciones específicas del proyecto así como requisitos de seguridad más estrictos según proceda. El equipo de proyecto también debe ilustrar la conformidad con los umbrales de calidad negociados para cumplimentar la </a:t>
            </a:r>
            <a:r>
              <a:rPr lang="es-ES" sz="1200" u="sng" kern="1200" dirty="0">
                <a:solidFill>
                  <a:schemeClr val="tx1"/>
                </a:solidFill>
                <a:effectLst/>
                <a:latin typeface="+mn-lt"/>
                <a:ea typeface="+mn-ea"/>
                <a:cs typeface="+mn-cs"/>
                <a:hlinkClick r:id="rId3" action="ppaction://hlinkfile"/>
              </a:rPr>
              <a:t>revisión de seguridad final.</a:t>
            </a:r>
            <a:r>
              <a:rPr lang="es-ES" sz="1200" kern="1200" dirty="0">
                <a:solidFill>
                  <a:schemeClr val="tx1"/>
                </a:solidFill>
                <a:effectLst/>
                <a:latin typeface="+mn-lt"/>
                <a:ea typeface="+mn-ea"/>
                <a:cs typeface="+mn-cs"/>
              </a:rPr>
              <a:t> </a:t>
            </a:r>
          </a:p>
          <a:p>
            <a:r>
              <a:rPr lang="es-ES" sz="1200" kern="1200" dirty="0">
                <a:solidFill>
                  <a:schemeClr val="tx1"/>
                </a:solidFill>
                <a:effectLst/>
                <a:latin typeface="+mn-lt"/>
                <a:ea typeface="+mn-ea"/>
                <a:cs typeface="+mn-cs"/>
              </a:rPr>
              <a:t>Un límite de errores es un umbral de calidad que se aplica a todo el proyecto de desarrollo de software. Se usa para definir los umbrales de gravedad de las vulnerabilidades de seguridad; por ejemplo, en la aplicación no hay vulnerabilidades conocidas que estén clasificadas como “críticas” o “importantes” en el momento de su lanzamiento. Una vez definido, el límite de errores no debe bajarse nunca. Un límite de errores dinámico es un objetivo no fijo que probablemente no se entienda muy bien en el ámbito del desarrollo.</a:t>
            </a:r>
          </a:p>
          <a:p>
            <a:endParaRPr lang="es-ES" sz="1200" kern="1200" dirty="0">
              <a:solidFill>
                <a:schemeClr val="tx1"/>
              </a:solidFill>
              <a:effectLst/>
              <a:latin typeface="+mn-lt"/>
              <a:ea typeface="+mn-ea"/>
              <a:cs typeface="+mn-cs"/>
            </a:endParaRPr>
          </a:p>
          <a:p>
            <a:r>
              <a:rPr lang="es-ES" sz="1200" b="1" u="sng" kern="1200" dirty="0">
                <a:solidFill>
                  <a:schemeClr val="tx1"/>
                </a:solidFill>
                <a:effectLst/>
                <a:latin typeface="+mn-lt"/>
                <a:ea typeface="+mn-ea"/>
                <a:cs typeface="+mn-cs"/>
              </a:rPr>
              <a:t>Procedimiento 4 de SDL: evaluación de los riesgos de seguridad y privacidad</a:t>
            </a:r>
          </a:p>
          <a:p>
            <a:r>
              <a:rPr lang="es-ES" sz="1200" kern="1200" dirty="0">
                <a:solidFill>
                  <a:schemeClr val="tx1"/>
                </a:solidFill>
                <a:effectLst/>
                <a:latin typeface="+mn-lt"/>
                <a:ea typeface="+mn-ea"/>
                <a:cs typeface="+mn-cs"/>
              </a:rPr>
              <a:t>Las evaluaciones de los riesgos de seguridad (SRA) y de privacidad (PRA) son procesos obligatorios que identifican los aspectos funcionales del software que requieren una revisión exhaustiva. </a:t>
            </a:r>
            <a:r>
              <a:rPr lang="en-US" sz="1200" kern="1200" dirty="0" err="1">
                <a:solidFill>
                  <a:schemeClr val="tx1"/>
                </a:solidFill>
                <a:effectLst/>
                <a:latin typeface="+mn-lt"/>
                <a:ea typeface="+mn-ea"/>
                <a:cs typeface="+mn-cs"/>
              </a:rPr>
              <a:t>Dichas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evaluaciones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deben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incluir</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siguiente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información</a:t>
            </a:r>
            <a:r>
              <a:rPr lang="en-US" sz="1200" kern="1200" dirty="0">
                <a:solidFill>
                  <a:schemeClr val="tx1"/>
                </a:solidFill>
                <a:effectLst/>
                <a:latin typeface="+mn-lt"/>
                <a:ea typeface="+mn-ea"/>
                <a:cs typeface="+mn-cs"/>
              </a:rPr>
              <a:t>:</a:t>
            </a:r>
            <a:endParaRPr lang="es-ES"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(Seguridad) Partes del proyecto que van a requerir </a:t>
            </a:r>
            <a:r>
              <a:rPr lang="es-ES" sz="1200" u="sng" kern="1200" dirty="0">
                <a:solidFill>
                  <a:schemeClr val="tx1"/>
                </a:solidFill>
                <a:effectLst/>
                <a:latin typeface="+mn-lt"/>
                <a:ea typeface="+mn-ea"/>
                <a:cs typeface="+mn-cs"/>
                <a:hlinkClick r:id="rId4" action="ppaction://hlinkfile"/>
              </a:rPr>
              <a:t>modelos de riesgos</a:t>
            </a:r>
            <a:r>
              <a:rPr lang="es-ES" sz="1200" kern="1200" dirty="0">
                <a:solidFill>
                  <a:schemeClr val="tx1"/>
                </a:solidFill>
                <a:effectLst/>
                <a:latin typeface="+mn-lt"/>
                <a:ea typeface="+mn-ea"/>
                <a:cs typeface="+mn-cs"/>
              </a:rPr>
              <a:t> antes del lanzamiento.</a:t>
            </a:r>
          </a:p>
          <a:p>
            <a:pPr lvl="0"/>
            <a:r>
              <a:rPr lang="es-ES" sz="1200" kern="1200" dirty="0">
                <a:solidFill>
                  <a:schemeClr val="tx1"/>
                </a:solidFill>
                <a:effectLst/>
                <a:latin typeface="+mn-lt"/>
                <a:ea typeface="+mn-ea"/>
                <a:cs typeface="+mn-cs"/>
              </a:rPr>
              <a:t>(Seguridad) Las partes del proyecto que van a requerir revisiones del diseño de seguridad antes del lanzamiento.</a:t>
            </a:r>
          </a:p>
          <a:p>
            <a:pPr lvl="0"/>
            <a:r>
              <a:rPr lang="es-ES" sz="1200" kern="1200" dirty="0">
                <a:solidFill>
                  <a:schemeClr val="tx1"/>
                </a:solidFill>
                <a:effectLst/>
                <a:latin typeface="+mn-lt"/>
                <a:ea typeface="+mn-ea"/>
                <a:cs typeface="+mn-cs"/>
              </a:rPr>
              <a:t>(Seguridad) Partes del proyecto (si procede) que van a requerir pruebas de penetración por parte de un grupo externo al equipo de proyecto y acordado mutuamente. </a:t>
            </a:r>
          </a:p>
          <a:p>
            <a:pPr lvl="0"/>
            <a:r>
              <a:rPr lang="es-ES" sz="1200" kern="1200" dirty="0">
                <a:solidFill>
                  <a:schemeClr val="tx1"/>
                </a:solidFill>
                <a:effectLst/>
                <a:latin typeface="+mn-lt"/>
                <a:ea typeface="+mn-ea"/>
                <a:cs typeface="+mn-cs"/>
              </a:rPr>
              <a:t>(Seguridad) Requisitos de análisis o de pruebas adicionales que el asesor de seguridad considera necesarios para mitigar los riesgos de seguridad.</a:t>
            </a:r>
          </a:p>
          <a:p>
            <a:pPr lvl="0"/>
            <a:r>
              <a:rPr lang="es-ES" sz="1200" kern="1200" dirty="0">
                <a:solidFill>
                  <a:schemeClr val="tx1"/>
                </a:solidFill>
                <a:effectLst/>
                <a:latin typeface="+mn-lt"/>
                <a:ea typeface="+mn-ea"/>
                <a:cs typeface="+mn-cs"/>
              </a:rPr>
              <a:t>(Seguridad) Ámbito específico de los </a:t>
            </a:r>
            <a:r>
              <a:rPr lang="es-ES" sz="1200" u="sng" kern="1200" dirty="0">
                <a:solidFill>
                  <a:schemeClr val="tx1"/>
                </a:solidFill>
                <a:effectLst/>
                <a:latin typeface="+mn-lt"/>
                <a:ea typeface="+mn-ea"/>
                <a:cs typeface="+mn-cs"/>
                <a:hlinkClick r:id="rId5" action="ppaction://hlinkfile"/>
              </a:rPr>
              <a:t>requisitos en materia de pruebas de exploración de vulnerabilidades mediante datos aleatorios</a:t>
            </a:r>
            <a:r>
              <a:rPr lang="es-ES" sz="1200" kern="1200" dirty="0">
                <a:solidFill>
                  <a:schemeClr val="tx1"/>
                </a:solidFill>
                <a:effectLst/>
                <a:latin typeface="+mn-lt"/>
                <a:ea typeface="+mn-ea"/>
                <a:cs typeface="+mn-cs"/>
              </a:rPr>
              <a:t>.</a:t>
            </a:r>
          </a:p>
          <a:p>
            <a:pPr lvl="0"/>
            <a:r>
              <a:rPr lang="es-ES" sz="1200" kern="1200" dirty="0">
                <a:solidFill>
                  <a:schemeClr val="tx1"/>
                </a:solidFill>
                <a:effectLst/>
                <a:latin typeface="+mn-lt"/>
                <a:ea typeface="+mn-ea"/>
                <a:cs typeface="+mn-cs"/>
              </a:rPr>
              <a:t>(Privacidad) ¿Cuál es el nivel de impacto sobre la privacidad? La respuesta a esta pregunta se basa en las siguientes pautas: </a:t>
            </a:r>
          </a:p>
          <a:p>
            <a:pPr lvl="0"/>
            <a:r>
              <a:rPr lang="es-ES" sz="1200" kern="1200" dirty="0">
                <a:solidFill>
                  <a:schemeClr val="tx1"/>
                </a:solidFill>
                <a:effectLst/>
                <a:latin typeface="+mn-lt"/>
                <a:ea typeface="+mn-ea"/>
                <a:cs typeface="+mn-cs"/>
              </a:rPr>
              <a:t>P1 Alto riesgo para la privacidad. La característica, el producto o el servicio almacena o transfiere datos de identificación personal, cambia la configuración o las asociaciones de los tipos de archivo, o instala software.</a:t>
            </a:r>
          </a:p>
          <a:p>
            <a:pPr lvl="0"/>
            <a:r>
              <a:rPr lang="es-ES" sz="1200" kern="1200" dirty="0">
                <a:solidFill>
                  <a:schemeClr val="tx1"/>
                </a:solidFill>
                <a:effectLst/>
                <a:latin typeface="+mn-lt"/>
                <a:ea typeface="+mn-ea"/>
                <a:cs typeface="+mn-cs"/>
              </a:rPr>
              <a:t>P2 Riesgo moderado para la privacidad. El único comportamiento que afecta a la privacidad en la característica, el producto o el servicio es una transferencia de datos anónimos única e iniciada por el usuario (por ejemplo, el usuario hace clic en un vínculo y el software abre un sitio web).</a:t>
            </a:r>
          </a:p>
          <a:p>
            <a:pPr lvl="0"/>
            <a:r>
              <a:rPr lang="es-ES" sz="1200" kern="1200" dirty="0">
                <a:solidFill>
                  <a:schemeClr val="tx1"/>
                </a:solidFill>
                <a:effectLst/>
                <a:latin typeface="+mn-lt"/>
                <a:ea typeface="+mn-ea"/>
                <a:cs typeface="+mn-cs"/>
              </a:rPr>
              <a:t>P3 Bajo riesgo para la privacidad. La característica, el producto o el servicio no tiene ningún comportamiento que afecte a la privacidad. No hay ninguna transferencia de datos personales ni anónimos, no se almacenan datos de identificación personal en el equipo, no se modifica ninguna configuración en nombre del usuario y no se instala ningún software.</a:t>
            </a:r>
          </a:p>
          <a:p>
            <a:endParaRPr lang="es-ES" dirty="0"/>
          </a:p>
          <a:p>
            <a:endParaRPr lang="es-ES" dirty="0"/>
          </a:p>
          <a:p>
            <a:endParaRPr lang="es-ES" dirty="0"/>
          </a:p>
        </p:txBody>
      </p:sp>
      <p:sp>
        <p:nvSpPr>
          <p:cNvPr id="4" name="3 Marcador de número de diapositiva"/>
          <p:cNvSpPr>
            <a:spLocks noGrp="1"/>
          </p:cNvSpPr>
          <p:nvPr>
            <p:ph type="sldNum" sz="quarter" idx="10"/>
          </p:nvPr>
        </p:nvSpPr>
        <p:spPr/>
        <p:txBody>
          <a:bodyPr/>
          <a:lstStyle/>
          <a:p>
            <a:fld id="{064AA158-4D4D-427B-8540-6E8BBC9EB3DF}" type="slidenum">
              <a:rPr lang="es-ES" smtClean="0"/>
              <a:t>19</a:t>
            </a:fld>
            <a:endParaRPr lang="es-ES"/>
          </a:p>
        </p:txBody>
      </p:sp>
    </p:spTree>
    <p:extLst>
      <p:ext uri="{BB962C8B-B14F-4D97-AF65-F5344CB8AC3E}">
        <p14:creationId xmlns:p14="http://schemas.microsoft.com/office/powerpoint/2010/main" val="9456915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Requisitos</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La necesidad de considerar la seguridad y la privacidad “desde el primer instante” es un aspecto fundamental del desarrollo de un sistema seguro. La fase de planificación inicial es el momento más apropiado para definir los requisitos de fiabilidad de un proyecto de software. Al definir los requisitos en una fase temprana, los equipos de desarrollo podrán identificar los principales hitos y resultados, y es posible integrar la seguridad y la privacidad de modo que los planes y programaciones se alteren lo menos posible. Al principio de un proyecto, se realiza un análisis de los requisitos de seguridad y privacidad, el cual incluye la especificación de los requisitos de seguridad mínimos de la aplicación en el entorno operativo previsto, así como la especificación y la implementación de un sistema de seguimiento de los elementos de trabajo y de las vulnerabilidades de seguridad. </a:t>
            </a:r>
          </a:p>
          <a:p>
            <a:endParaRPr lang="es-ES" dirty="0"/>
          </a:p>
          <a:p>
            <a:r>
              <a:rPr lang="es-ES" sz="1200" b="1" u="sng" kern="1200" dirty="0">
                <a:solidFill>
                  <a:schemeClr val="tx1"/>
                </a:solidFill>
                <a:effectLst/>
                <a:latin typeface="+mn-lt"/>
                <a:ea typeface="+mn-ea"/>
                <a:cs typeface="+mn-cs"/>
              </a:rPr>
              <a:t>Procedimiento 3 de SDL: umbrales de calidad y límites de errores</a:t>
            </a:r>
          </a:p>
          <a:p>
            <a:r>
              <a:rPr lang="es-ES" sz="1200" kern="1200" dirty="0">
                <a:solidFill>
                  <a:schemeClr val="tx1"/>
                </a:solidFill>
                <a:effectLst/>
                <a:latin typeface="+mn-lt"/>
                <a:ea typeface="+mn-ea"/>
                <a:cs typeface="+mn-cs"/>
              </a:rPr>
              <a:t>Se usan umbrales de calidad y </a:t>
            </a:r>
            <a:r>
              <a:rPr lang="es-ES" sz="1200" i="1" kern="1200" dirty="0">
                <a:solidFill>
                  <a:schemeClr val="tx1"/>
                </a:solidFill>
                <a:effectLst/>
                <a:latin typeface="+mn-lt"/>
                <a:ea typeface="+mn-ea"/>
                <a:cs typeface="+mn-cs"/>
              </a:rPr>
              <a:t>límites de errores</a:t>
            </a:r>
            <a:r>
              <a:rPr lang="es-ES" sz="1200" kern="1200" dirty="0">
                <a:solidFill>
                  <a:schemeClr val="tx1"/>
                </a:solidFill>
                <a:effectLst/>
                <a:latin typeface="+mn-lt"/>
                <a:ea typeface="+mn-ea"/>
                <a:cs typeface="+mn-cs"/>
              </a:rPr>
              <a:t> para establecer niveles mínimos aceptables de calidad en materia de seguridad y privacidad. Al definir estos criterios al comienzo de un proyecto, se comprenderán mejor los riesgos asociados a los problemas de seguridad y los equipos podrán identificar y corregir los errores de seguridad durante el desarrollo. El equipo de proyecto debe negociar los umbrales de calidad (por ejemplo, todas las advertencias del compilador se deben evaluar y corregir antes de proteger el código) para cada fase de desarrollo; a continuación, el asesor de seguridad debe aprobarlos y puede agregar aclaraciones específicas del proyecto así como requisitos de seguridad más estrictos según proceda. El equipo de proyecto también debe ilustrar la conformidad con los umbrales de calidad negociados para cumplimentar la </a:t>
            </a:r>
            <a:r>
              <a:rPr lang="es-ES" sz="1200" u="sng" kern="1200" dirty="0">
                <a:solidFill>
                  <a:schemeClr val="tx1"/>
                </a:solidFill>
                <a:effectLst/>
                <a:latin typeface="+mn-lt"/>
                <a:ea typeface="+mn-ea"/>
                <a:cs typeface="+mn-cs"/>
                <a:hlinkClick r:id="rId3" action="ppaction://hlinkfile"/>
              </a:rPr>
              <a:t>revisión de seguridad final.</a:t>
            </a:r>
            <a:r>
              <a:rPr lang="es-ES" sz="1200" kern="1200" dirty="0">
                <a:solidFill>
                  <a:schemeClr val="tx1"/>
                </a:solidFill>
                <a:effectLst/>
                <a:latin typeface="+mn-lt"/>
                <a:ea typeface="+mn-ea"/>
                <a:cs typeface="+mn-cs"/>
              </a:rPr>
              <a:t> </a:t>
            </a:r>
          </a:p>
          <a:p>
            <a:r>
              <a:rPr lang="es-ES" sz="1200" kern="1200" dirty="0">
                <a:solidFill>
                  <a:schemeClr val="tx1"/>
                </a:solidFill>
                <a:effectLst/>
                <a:latin typeface="+mn-lt"/>
                <a:ea typeface="+mn-ea"/>
                <a:cs typeface="+mn-cs"/>
              </a:rPr>
              <a:t>Un límite de errores es un umbral de calidad que se aplica a todo el proyecto de desarrollo de software. Se usa para definir los umbrales de gravedad de las vulnerabilidades de seguridad; por ejemplo, en la aplicación no hay vulnerabilidades conocidas que estén clasificadas como “críticas” o “importantes” en el momento de su lanzamiento. Una vez definido, el límite de errores no debe bajarse nunca. Un límite de errores dinámico es un objetivo no fijo que probablemente no se entienda muy bien en el ámbito del desarrollo.</a:t>
            </a:r>
          </a:p>
          <a:p>
            <a:endParaRPr lang="es-ES" sz="1200" kern="1200" dirty="0">
              <a:solidFill>
                <a:schemeClr val="tx1"/>
              </a:solidFill>
              <a:effectLst/>
              <a:latin typeface="+mn-lt"/>
              <a:ea typeface="+mn-ea"/>
              <a:cs typeface="+mn-cs"/>
            </a:endParaRPr>
          </a:p>
          <a:p>
            <a:r>
              <a:rPr lang="es-ES" sz="1200" b="1" u="sng" kern="1200" dirty="0">
                <a:solidFill>
                  <a:schemeClr val="tx1"/>
                </a:solidFill>
                <a:effectLst/>
                <a:latin typeface="+mn-lt"/>
                <a:ea typeface="+mn-ea"/>
                <a:cs typeface="+mn-cs"/>
              </a:rPr>
              <a:t>Procedimiento 4 de SDL: evaluación de los riesgos de seguridad y privacidad</a:t>
            </a:r>
          </a:p>
          <a:p>
            <a:r>
              <a:rPr lang="es-ES" sz="1200" kern="1200" dirty="0">
                <a:solidFill>
                  <a:schemeClr val="tx1"/>
                </a:solidFill>
                <a:effectLst/>
                <a:latin typeface="+mn-lt"/>
                <a:ea typeface="+mn-ea"/>
                <a:cs typeface="+mn-cs"/>
              </a:rPr>
              <a:t>Las evaluaciones de los riesgos de seguridad (SRA) y de privacidad (PRA) son procesos obligatorios que identifican los aspectos funcionales del software que requieren una revisión exhaustiva. </a:t>
            </a:r>
            <a:r>
              <a:rPr lang="en-US" sz="1200" kern="1200" dirty="0" err="1">
                <a:solidFill>
                  <a:schemeClr val="tx1"/>
                </a:solidFill>
                <a:effectLst/>
                <a:latin typeface="+mn-lt"/>
                <a:ea typeface="+mn-ea"/>
                <a:cs typeface="+mn-cs"/>
              </a:rPr>
              <a:t>Dichas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evaluaciones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deben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incluir</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siguiente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información</a:t>
            </a:r>
            <a:r>
              <a:rPr lang="en-US" sz="1200" kern="1200" dirty="0">
                <a:solidFill>
                  <a:schemeClr val="tx1"/>
                </a:solidFill>
                <a:effectLst/>
                <a:latin typeface="+mn-lt"/>
                <a:ea typeface="+mn-ea"/>
                <a:cs typeface="+mn-cs"/>
              </a:rPr>
              <a:t>:</a:t>
            </a:r>
            <a:endParaRPr lang="es-ES"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(Seguridad) Partes del proyecto que van a requerir </a:t>
            </a:r>
            <a:r>
              <a:rPr lang="es-ES" sz="1200" u="sng" kern="1200" dirty="0">
                <a:solidFill>
                  <a:schemeClr val="tx1"/>
                </a:solidFill>
                <a:effectLst/>
                <a:latin typeface="+mn-lt"/>
                <a:ea typeface="+mn-ea"/>
                <a:cs typeface="+mn-cs"/>
                <a:hlinkClick r:id="rId4" action="ppaction://hlinkfile"/>
              </a:rPr>
              <a:t>modelos de riesgos</a:t>
            </a:r>
            <a:r>
              <a:rPr lang="es-ES" sz="1200" kern="1200" dirty="0">
                <a:solidFill>
                  <a:schemeClr val="tx1"/>
                </a:solidFill>
                <a:effectLst/>
                <a:latin typeface="+mn-lt"/>
                <a:ea typeface="+mn-ea"/>
                <a:cs typeface="+mn-cs"/>
              </a:rPr>
              <a:t> antes del lanzamiento.</a:t>
            </a:r>
          </a:p>
          <a:p>
            <a:pPr lvl="0"/>
            <a:r>
              <a:rPr lang="es-ES" sz="1200" kern="1200" dirty="0">
                <a:solidFill>
                  <a:schemeClr val="tx1"/>
                </a:solidFill>
                <a:effectLst/>
                <a:latin typeface="+mn-lt"/>
                <a:ea typeface="+mn-ea"/>
                <a:cs typeface="+mn-cs"/>
              </a:rPr>
              <a:t>(Seguridad) Las partes del proyecto que van a requerir revisiones del diseño de seguridad antes del lanzamiento.</a:t>
            </a:r>
          </a:p>
          <a:p>
            <a:pPr lvl="0"/>
            <a:r>
              <a:rPr lang="es-ES" sz="1200" kern="1200" dirty="0">
                <a:solidFill>
                  <a:schemeClr val="tx1"/>
                </a:solidFill>
                <a:effectLst/>
                <a:latin typeface="+mn-lt"/>
                <a:ea typeface="+mn-ea"/>
                <a:cs typeface="+mn-cs"/>
              </a:rPr>
              <a:t>(Seguridad) Partes del proyecto (si procede) que van a requerir pruebas de penetración por parte de un grupo externo al equipo de proyecto y acordado mutuamente. </a:t>
            </a:r>
          </a:p>
          <a:p>
            <a:pPr lvl="0"/>
            <a:r>
              <a:rPr lang="es-ES" sz="1200" kern="1200" dirty="0">
                <a:solidFill>
                  <a:schemeClr val="tx1"/>
                </a:solidFill>
                <a:effectLst/>
                <a:latin typeface="+mn-lt"/>
                <a:ea typeface="+mn-ea"/>
                <a:cs typeface="+mn-cs"/>
              </a:rPr>
              <a:t>(Seguridad) Requisitos de análisis o de pruebas adicionales que el asesor de seguridad considera necesarios para mitigar los riesgos de seguridad.</a:t>
            </a:r>
          </a:p>
          <a:p>
            <a:pPr lvl="0"/>
            <a:r>
              <a:rPr lang="es-ES" sz="1200" kern="1200" dirty="0">
                <a:solidFill>
                  <a:schemeClr val="tx1"/>
                </a:solidFill>
                <a:effectLst/>
                <a:latin typeface="+mn-lt"/>
                <a:ea typeface="+mn-ea"/>
                <a:cs typeface="+mn-cs"/>
              </a:rPr>
              <a:t>(Seguridad) Ámbito específico de los </a:t>
            </a:r>
            <a:r>
              <a:rPr lang="es-ES" sz="1200" u="sng" kern="1200" dirty="0">
                <a:solidFill>
                  <a:schemeClr val="tx1"/>
                </a:solidFill>
                <a:effectLst/>
                <a:latin typeface="+mn-lt"/>
                <a:ea typeface="+mn-ea"/>
                <a:cs typeface="+mn-cs"/>
                <a:hlinkClick r:id="rId5" action="ppaction://hlinkfile"/>
              </a:rPr>
              <a:t>requisitos en materia de pruebas de exploración de vulnerabilidades mediante datos aleatorios</a:t>
            </a:r>
            <a:r>
              <a:rPr lang="es-ES" sz="1200" kern="1200" dirty="0">
                <a:solidFill>
                  <a:schemeClr val="tx1"/>
                </a:solidFill>
                <a:effectLst/>
                <a:latin typeface="+mn-lt"/>
                <a:ea typeface="+mn-ea"/>
                <a:cs typeface="+mn-cs"/>
              </a:rPr>
              <a:t>.</a:t>
            </a:r>
          </a:p>
          <a:p>
            <a:pPr lvl="0"/>
            <a:r>
              <a:rPr lang="es-ES" sz="1200" kern="1200" dirty="0">
                <a:solidFill>
                  <a:schemeClr val="tx1"/>
                </a:solidFill>
                <a:effectLst/>
                <a:latin typeface="+mn-lt"/>
                <a:ea typeface="+mn-ea"/>
                <a:cs typeface="+mn-cs"/>
              </a:rPr>
              <a:t>(Privacidad) ¿Cuál es el nivel de impacto sobre la privacidad? La respuesta a esta pregunta se basa en las siguientes pautas: </a:t>
            </a:r>
          </a:p>
          <a:p>
            <a:pPr lvl="0"/>
            <a:r>
              <a:rPr lang="es-ES" sz="1200" kern="1200" dirty="0">
                <a:solidFill>
                  <a:schemeClr val="tx1"/>
                </a:solidFill>
                <a:effectLst/>
                <a:latin typeface="+mn-lt"/>
                <a:ea typeface="+mn-ea"/>
                <a:cs typeface="+mn-cs"/>
              </a:rPr>
              <a:t>P1 Alto riesgo para la privacidad. La característica, el producto o el servicio almacena o transfiere datos de identificación personal, cambia la configuración o las asociaciones de los tipos de archivo, o instala software.</a:t>
            </a:r>
          </a:p>
          <a:p>
            <a:pPr lvl="0"/>
            <a:r>
              <a:rPr lang="es-ES" sz="1200" kern="1200" dirty="0">
                <a:solidFill>
                  <a:schemeClr val="tx1"/>
                </a:solidFill>
                <a:effectLst/>
                <a:latin typeface="+mn-lt"/>
                <a:ea typeface="+mn-ea"/>
                <a:cs typeface="+mn-cs"/>
              </a:rPr>
              <a:t>P2 Riesgo moderado para la privacidad. El único comportamiento que afecta a la privacidad en la característica, el producto o el servicio es una transferencia de datos anónimos única e iniciada por el usuario (por ejemplo, el usuario hace clic en un vínculo y el software abre un sitio web).</a:t>
            </a:r>
          </a:p>
          <a:p>
            <a:pPr lvl="0"/>
            <a:r>
              <a:rPr lang="es-ES" sz="1200" kern="1200" dirty="0">
                <a:solidFill>
                  <a:schemeClr val="tx1"/>
                </a:solidFill>
                <a:effectLst/>
                <a:latin typeface="+mn-lt"/>
                <a:ea typeface="+mn-ea"/>
                <a:cs typeface="+mn-cs"/>
              </a:rPr>
              <a:t>P3 Bajo riesgo para la privacidad. La característica, el producto o el servicio no tiene ningún comportamiento que afecte a la privacidad. No hay ninguna transferencia de datos personales ni anónimos, no se almacenan datos de identificación personal en el equipo, no se modifica ninguna configuración en nombre del usuario y no se instala ningún software.</a:t>
            </a:r>
          </a:p>
          <a:p>
            <a:endParaRPr lang="es-ES" dirty="0"/>
          </a:p>
          <a:p>
            <a:endParaRPr lang="es-ES" dirty="0"/>
          </a:p>
          <a:p>
            <a:endParaRPr lang="es-ES" dirty="0"/>
          </a:p>
        </p:txBody>
      </p:sp>
      <p:sp>
        <p:nvSpPr>
          <p:cNvPr id="4" name="3 Marcador de número de diapositiva"/>
          <p:cNvSpPr>
            <a:spLocks noGrp="1"/>
          </p:cNvSpPr>
          <p:nvPr>
            <p:ph type="sldNum" sz="quarter" idx="10"/>
          </p:nvPr>
        </p:nvSpPr>
        <p:spPr/>
        <p:txBody>
          <a:bodyPr/>
          <a:lstStyle/>
          <a:p>
            <a:fld id="{064AA158-4D4D-427B-8540-6E8BBC9EB3DF}" type="slidenum">
              <a:rPr lang="es-ES" smtClean="0"/>
              <a:t>20</a:t>
            </a:fld>
            <a:endParaRPr lang="es-ES"/>
          </a:p>
        </p:txBody>
      </p:sp>
    </p:spTree>
    <p:extLst>
      <p:ext uri="{BB962C8B-B14F-4D97-AF65-F5344CB8AC3E}">
        <p14:creationId xmlns:p14="http://schemas.microsoft.com/office/powerpoint/2010/main" val="9456915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Requisitos</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La necesidad de considerar la seguridad y la privacidad “desde el primer instante” es un aspecto fundamental del desarrollo de un sistema seguro. La fase de planificación inicial es el momento más apropiado para definir los requisitos de fiabilidad de un proyecto de software. Al definir los requisitos en una fase temprana, los equipos de desarrollo podrán identificar los principales hitos y resultados, y es posible integrar la seguridad y la privacidad de modo que los planes y programaciones se alteren lo menos posible. Al principio de un proyecto, se realiza un análisis de los requisitos de seguridad y privacidad, el cual incluye la especificación de los requisitos de seguridad mínimos de la aplicación en el entorno operativo previsto, así como la especificación y la implementación de un sistema de seguimiento de los elementos de trabajo y de las vulnerabilidades de seguridad. </a:t>
            </a:r>
          </a:p>
          <a:p>
            <a:endParaRPr lang="es-ES" dirty="0"/>
          </a:p>
          <a:p>
            <a:r>
              <a:rPr lang="es-ES" sz="1200" b="1" u="sng" kern="1200" dirty="0">
                <a:solidFill>
                  <a:schemeClr val="tx1"/>
                </a:solidFill>
                <a:effectLst/>
                <a:latin typeface="+mn-lt"/>
                <a:ea typeface="+mn-ea"/>
                <a:cs typeface="+mn-cs"/>
              </a:rPr>
              <a:t>Procedimiento 3 de SDL: umbrales de calidad y límites de errores</a:t>
            </a:r>
          </a:p>
          <a:p>
            <a:r>
              <a:rPr lang="es-ES" sz="1200" kern="1200" dirty="0">
                <a:solidFill>
                  <a:schemeClr val="tx1"/>
                </a:solidFill>
                <a:effectLst/>
                <a:latin typeface="+mn-lt"/>
                <a:ea typeface="+mn-ea"/>
                <a:cs typeface="+mn-cs"/>
              </a:rPr>
              <a:t>Se usan umbrales de calidad y </a:t>
            </a:r>
            <a:r>
              <a:rPr lang="es-ES" sz="1200" i="1" kern="1200" dirty="0">
                <a:solidFill>
                  <a:schemeClr val="tx1"/>
                </a:solidFill>
                <a:effectLst/>
                <a:latin typeface="+mn-lt"/>
                <a:ea typeface="+mn-ea"/>
                <a:cs typeface="+mn-cs"/>
              </a:rPr>
              <a:t>límites de errores</a:t>
            </a:r>
            <a:r>
              <a:rPr lang="es-ES" sz="1200" kern="1200" dirty="0">
                <a:solidFill>
                  <a:schemeClr val="tx1"/>
                </a:solidFill>
                <a:effectLst/>
                <a:latin typeface="+mn-lt"/>
                <a:ea typeface="+mn-ea"/>
                <a:cs typeface="+mn-cs"/>
              </a:rPr>
              <a:t> para establecer niveles mínimos aceptables de calidad en materia de seguridad y privacidad. Al definir estos criterios al comienzo de un proyecto, se comprenderán mejor los riesgos asociados a los problemas de seguridad y los equipos podrán identificar y corregir los errores de seguridad durante el desarrollo. El equipo de proyecto debe negociar los umbrales de calidad (por ejemplo, todas las advertencias del compilador se deben evaluar y corregir antes de proteger el código) para cada fase de desarrollo; a continuación, el asesor de seguridad debe aprobarlos y puede agregar aclaraciones específicas del proyecto así como requisitos de seguridad más estrictos según proceda. El equipo de proyecto también debe ilustrar la conformidad con los umbrales de calidad negociados para cumplimentar la </a:t>
            </a:r>
            <a:r>
              <a:rPr lang="es-ES" sz="1200" u="sng" kern="1200" dirty="0">
                <a:solidFill>
                  <a:schemeClr val="tx1"/>
                </a:solidFill>
                <a:effectLst/>
                <a:latin typeface="+mn-lt"/>
                <a:ea typeface="+mn-ea"/>
                <a:cs typeface="+mn-cs"/>
                <a:hlinkClick r:id="rId3" action="ppaction://hlinkfile"/>
              </a:rPr>
              <a:t>revisión de seguridad final.</a:t>
            </a:r>
            <a:r>
              <a:rPr lang="es-ES" sz="1200" kern="1200" dirty="0">
                <a:solidFill>
                  <a:schemeClr val="tx1"/>
                </a:solidFill>
                <a:effectLst/>
                <a:latin typeface="+mn-lt"/>
                <a:ea typeface="+mn-ea"/>
                <a:cs typeface="+mn-cs"/>
              </a:rPr>
              <a:t> </a:t>
            </a:r>
          </a:p>
          <a:p>
            <a:r>
              <a:rPr lang="es-ES" sz="1200" kern="1200" dirty="0">
                <a:solidFill>
                  <a:schemeClr val="tx1"/>
                </a:solidFill>
                <a:effectLst/>
                <a:latin typeface="+mn-lt"/>
                <a:ea typeface="+mn-ea"/>
                <a:cs typeface="+mn-cs"/>
              </a:rPr>
              <a:t>Un límite de errores es un umbral de calidad que se aplica a todo el proyecto de desarrollo de software. Se usa para definir los umbrales de gravedad de las vulnerabilidades de seguridad; por ejemplo, en la aplicación no hay vulnerabilidades conocidas que estén clasificadas como “críticas” o “importantes” en el momento de su lanzamiento. Una vez definido, el límite de errores no debe bajarse nunca. Un límite de errores dinámico es un objetivo no fijo que probablemente no se entienda muy bien en el ámbito del desarrollo.</a:t>
            </a:r>
          </a:p>
          <a:p>
            <a:endParaRPr lang="es-ES" sz="1200" kern="1200" dirty="0">
              <a:solidFill>
                <a:schemeClr val="tx1"/>
              </a:solidFill>
              <a:effectLst/>
              <a:latin typeface="+mn-lt"/>
              <a:ea typeface="+mn-ea"/>
              <a:cs typeface="+mn-cs"/>
            </a:endParaRPr>
          </a:p>
          <a:p>
            <a:r>
              <a:rPr lang="es-ES" sz="1200" b="1" u="sng" kern="1200" dirty="0">
                <a:solidFill>
                  <a:schemeClr val="tx1"/>
                </a:solidFill>
                <a:effectLst/>
                <a:latin typeface="+mn-lt"/>
                <a:ea typeface="+mn-ea"/>
                <a:cs typeface="+mn-cs"/>
              </a:rPr>
              <a:t>Procedimiento 4 de SDL: evaluación de los riesgos de seguridad y privacidad</a:t>
            </a:r>
          </a:p>
          <a:p>
            <a:r>
              <a:rPr lang="es-ES" sz="1200" kern="1200" dirty="0">
                <a:solidFill>
                  <a:schemeClr val="tx1"/>
                </a:solidFill>
                <a:effectLst/>
                <a:latin typeface="+mn-lt"/>
                <a:ea typeface="+mn-ea"/>
                <a:cs typeface="+mn-cs"/>
              </a:rPr>
              <a:t>Las evaluaciones de los riesgos de seguridad (SRA) y de privacidad (PRA) son procesos obligatorios que identifican los aspectos funcionales del software que requieren una revisión exhaustiva. </a:t>
            </a:r>
            <a:r>
              <a:rPr lang="en-US" sz="1200" kern="1200" dirty="0" err="1">
                <a:solidFill>
                  <a:schemeClr val="tx1"/>
                </a:solidFill>
                <a:effectLst/>
                <a:latin typeface="+mn-lt"/>
                <a:ea typeface="+mn-ea"/>
                <a:cs typeface="+mn-cs"/>
              </a:rPr>
              <a:t>Dichas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evaluaciones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deben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incluir</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siguiente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información</a:t>
            </a:r>
            <a:r>
              <a:rPr lang="en-US" sz="1200" kern="1200" dirty="0">
                <a:solidFill>
                  <a:schemeClr val="tx1"/>
                </a:solidFill>
                <a:effectLst/>
                <a:latin typeface="+mn-lt"/>
                <a:ea typeface="+mn-ea"/>
                <a:cs typeface="+mn-cs"/>
              </a:rPr>
              <a:t>:</a:t>
            </a:r>
            <a:endParaRPr lang="es-ES"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(Seguridad) Partes del proyecto que van a requerir </a:t>
            </a:r>
            <a:r>
              <a:rPr lang="es-ES" sz="1200" u="sng" kern="1200" dirty="0">
                <a:solidFill>
                  <a:schemeClr val="tx1"/>
                </a:solidFill>
                <a:effectLst/>
                <a:latin typeface="+mn-lt"/>
                <a:ea typeface="+mn-ea"/>
                <a:cs typeface="+mn-cs"/>
                <a:hlinkClick r:id="rId4" action="ppaction://hlinkfile"/>
              </a:rPr>
              <a:t>modelos de riesgos</a:t>
            </a:r>
            <a:r>
              <a:rPr lang="es-ES" sz="1200" kern="1200" dirty="0">
                <a:solidFill>
                  <a:schemeClr val="tx1"/>
                </a:solidFill>
                <a:effectLst/>
                <a:latin typeface="+mn-lt"/>
                <a:ea typeface="+mn-ea"/>
                <a:cs typeface="+mn-cs"/>
              </a:rPr>
              <a:t> antes del lanzamiento.</a:t>
            </a:r>
          </a:p>
          <a:p>
            <a:pPr lvl="0"/>
            <a:r>
              <a:rPr lang="es-ES" sz="1200" kern="1200" dirty="0">
                <a:solidFill>
                  <a:schemeClr val="tx1"/>
                </a:solidFill>
                <a:effectLst/>
                <a:latin typeface="+mn-lt"/>
                <a:ea typeface="+mn-ea"/>
                <a:cs typeface="+mn-cs"/>
              </a:rPr>
              <a:t>(Seguridad) Las partes del proyecto que van a requerir revisiones del diseño de seguridad antes del lanzamiento.</a:t>
            </a:r>
          </a:p>
          <a:p>
            <a:pPr lvl="0"/>
            <a:r>
              <a:rPr lang="es-ES" sz="1200" kern="1200" dirty="0">
                <a:solidFill>
                  <a:schemeClr val="tx1"/>
                </a:solidFill>
                <a:effectLst/>
                <a:latin typeface="+mn-lt"/>
                <a:ea typeface="+mn-ea"/>
                <a:cs typeface="+mn-cs"/>
              </a:rPr>
              <a:t>(Seguridad) Partes del proyecto (si procede) que van a requerir pruebas de penetración por parte de un grupo externo al equipo de proyecto y acordado mutuamente. </a:t>
            </a:r>
          </a:p>
          <a:p>
            <a:pPr lvl="0"/>
            <a:r>
              <a:rPr lang="es-ES" sz="1200" kern="1200" dirty="0">
                <a:solidFill>
                  <a:schemeClr val="tx1"/>
                </a:solidFill>
                <a:effectLst/>
                <a:latin typeface="+mn-lt"/>
                <a:ea typeface="+mn-ea"/>
                <a:cs typeface="+mn-cs"/>
              </a:rPr>
              <a:t>(Seguridad) Requisitos de análisis o de pruebas adicionales que el asesor de seguridad considera necesarios para mitigar los riesgos de seguridad.</a:t>
            </a:r>
          </a:p>
          <a:p>
            <a:pPr lvl="0"/>
            <a:r>
              <a:rPr lang="es-ES" sz="1200" kern="1200" dirty="0">
                <a:solidFill>
                  <a:schemeClr val="tx1"/>
                </a:solidFill>
                <a:effectLst/>
                <a:latin typeface="+mn-lt"/>
                <a:ea typeface="+mn-ea"/>
                <a:cs typeface="+mn-cs"/>
              </a:rPr>
              <a:t>(Seguridad) Ámbito específico de los </a:t>
            </a:r>
            <a:r>
              <a:rPr lang="es-ES" sz="1200" u="sng" kern="1200" dirty="0">
                <a:solidFill>
                  <a:schemeClr val="tx1"/>
                </a:solidFill>
                <a:effectLst/>
                <a:latin typeface="+mn-lt"/>
                <a:ea typeface="+mn-ea"/>
                <a:cs typeface="+mn-cs"/>
                <a:hlinkClick r:id="rId5" action="ppaction://hlinkfile"/>
              </a:rPr>
              <a:t>requisitos en materia de pruebas de exploración de vulnerabilidades mediante datos aleatorios</a:t>
            </a:r>
            <a:r>
              <a:rPr lang="es-ES" sz="1200" kern="1200" dirty="0">
                <a:solidFill>
                  <a:schemeClr val="tx1"/>
                </a:solidFill>
                <a:effectLst/>
                <a:latin typeface="+mn-lt"/>
                <a:ea typeface="+mn-ea"/>
                <a:cs typeface="+mn-cs"/>
              </a:rPr>
              <a:t>.</a:t>
            </a:r>
          </a:p>
          <a:p>
            <a:pPr lvl="0"/>
            <a:r>
              <a:rPr lang="es-ES" sz="1200" kern="1200" dirty="0">
                <a:solidFill>
                  <a:schemeClr val="tx1"/>
                </a:solidFill>
                <a:effectLst/>
                <a:latin typeface="+mn-lt"/>
                <a:ea typeface="+mn-ea"/>
                <a:cs typeface="+mn-cs"/>
              </a:rPr>
              <a:t>(Privacidad) ¿Cuál es el nivel de impacto sobre la privacidad? La respuesta a esta pregunta se basa en las siguientes pautas: </a:t>
            </a:r>
          </a:p>
          <a:p>
            <a:pPr lvl="0"/>
            <a:r>
              <a:rPr lang="es-ES" sz="1200" kern="1200" dirty="0">
                <a:solidFill>
                  <a:schemeClr val="tx1"/>
                </a:solidFill>
                <a:effectLst/>
                <a:latin typeface="+mn-lt"/>
                <a:ea typeface="+mn-ea"/>
                <a:cs typeface="+mn-cs"/>
              </a:rPr>
              <a:t>P1 Alto riesgo para la privacidad. La característica, el producto o el servicio almacena o transfiere datos de identificación personal, cambia la configuración o las asociaciones de los tipos de archivo, o instala software.</a:t>
            </a:r>
          </a:p>
          <a:p>
            <a:pPr lvl="0"/>
            <a:r>
              <a:rPr lang="es-ES" sz="1200" kern="1200" dirty="0">
                <a:solidFill>
                  <a:schemeClr val="tx1"/>
                </a:solidFill>
                <a:effectLst/>
                <a:latin typeface="+mn-lt"/>
                <a:ea typeface="+mn-ea"/>
                <a:cs typeface="+mn-cs"/>
              </a:rPr>
              <a:t>P2 Riesgo moderado para la privacidad. El único comportamiento que afecta a la privacidad en la característica, el producto o el servicio es una transferencia de datos anónimos única e iniciada por el usuario (por ejemplo, el usuario hace clic en un vínculo y el software abre un sitio web).</a:t>
            </a:r>
          </a:p>
          <a:p>
            <a:pPr lvl="0"/>
            <a:r>
              <a:rPr lang="es-ES" sz="1200" kern="1200" dirty="0">
                <a:solidFill>
                  <a:schemeClr val="tx1"/>
                </a:solidFill>
                <a:effectLst/>
                <a:latin typeface="+mn-lt"/>
                <a:ea typeface="+mn-ea"/>
                <a:cs typeface="+mn-cs"/>
              </a:rPr>
              <a:t>P3 Bajo riesgo para la privacidad. La característica, el producto o el servicio no tiene ningún comportamiento que afecte a la privacidad. No hay ninguna transferencia de datos personales ni anónimos, no se almacenan datos de identificación personal en el equipo, no se modifica ninguna configuración en nombre del usuario y no se instala ningún software.</a:t>
            </a:r>
          </a:p>
          <a:p>
            <a:endParaRPr lang="es-ES" dirty="0"/>
          </a:p>
          <a:p>
            <a:endParaRPr lang="es-ES" dirty="0"/>
          </a:p>
          <a:p>
            <a:endParaRPr lang="es-ES" dirty="0"/>
          </a:p>
        </p:txBody>
      </p:sp>
      <p:sp>
        <p:nvSpPr>
          <p:cNvPr id="4" name="3 Marcador de número de diapositiva"/>
          <p:cNvSpPr>
            <a:spLocks noGrp="1"/>
          </p:cNvSpPr>
          <p:nvPr>
            <p:ph type="sldNum" sz="quarter" idx="10"/>
          </p:nvPr>
        </p:nvSpPr>
        <p:spPr/>
        <p:txBody>
          <a:bodyPr/>
          <a:lstStyle/>
          <a:p>
            <a:fld id="{064AA158-4D4D-427B-8540-6E8BBC9EB3DF}" type="slidenum">
              <a:rPr lang="es-ES" smtClean="0"/>
              <a:t>21</a:t>
            </a:fld>
            <a:endParaRPr lang="es-ES"/>
          </a:p>
        </p:txBody>
      </p:sp>
    </p:spTree>
    <p:extLst>
      <p:ext uri="{BB962C8B-B14F-4D97-AF65-F5344CB8AC3E}">
        <p14:creationId xmlns:p14="http://schemas.microsoft.com/office/powerpoint/2010/main" val="9456915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Requisitos</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La necesidad de considerar la seguridad y la privacidad “desde el primer instante” es un aspecto fundamental del desarrollo de un sistema seguro. La fase de planificación inicial es el momento más apropiado para definir los requisitos de fiabilidad de un proyecto de software. Al definir los requisitos en una fase temprana, los equipos de desarrollo podrán identificar los principales hitos y resultados, y es posible integrar la seguridad y la privacidad de modo que los planes y programaciones se alteren lo menos posible. Al principio de un proyecto, se realiza un análisis de los requisitos de seguridad y privacidad, el cual incluye la especificación de los requisitos de seguridad mínimos de la aplicación en el entorno operativo previsto, así como la especificación y la implementación de un sistema de seguimiento de los elementos de trabajo y de las vulnerabilidades de seguridad. </a:t>
            </a:r>
          </a:p>
          <a:p>
            <a:endParaRPr lang="es-ES" dirty="0"/>
          </a:p>
          <a:p>
            <a:r>
              <a:rPr lang="es-ES" sz="1200" b="1" u="sng" kern="1200" dirty="0">
                <a:solidFill>
                  <a:schemeClr val="tx1"/>
                </a:solidFill>
                <a:effectLst/>
                <a:latin typeface="+mn-lt"/>
                <a:ea typeface="+mn-ea"/>
                <a:cs typeface="+mn-cs"/>
              </a:rPr>
              <a:t>Procedimiento 3 de SDL: umbrales de calidad y límites de errores</a:t>
            </a:r>
          </a:p>
          <a:p>
            <a:r>
              <a:rPr lang="es-ES" sz="1200" kern="1200" dirty="0">
                <a:solidFill>
                  <a:schemeClr val="tx1"/>
                </a:solidFill>
                <a:effectLst/>
                <a:latin typeface="+mn-lt"/>
                <a:ea typeface="+mn-ea"/>
                <a:cs typeface="+mn-cs"/>
              </a:rPr>
              <a:t>Se usan umbrales de calidad y </a:t>
            </a:r>
            <a:r>
              <a:rPr lang="es-ES" sz="1200" i="1" kern="1200" dirty="0">
                <a:solidFill>
                  <a:schemeClr val="tx1"/>
                </a:solidFill>
                <a:effectLst/>
                <a:latin typeface="+mn-lt"/>
                <a:ea typeface="+mn-ea"/>
                <a:cs typeface="+mn-cs"/>
              </a:rPr>
              <a:t>límites de errores</a:t>
            </a:r>
            <a:r>
              <a:rPr lang="es-ES" sz="1200" kern="1200" dirty="0">
                <a:solidFill>
                  <a:schemeClr val="tx1"/>
                </a:solidFill>
                <a:effectLst/>
                <a:latin typeface="+mn-lt"/>
                <a:ea typeface="+mn-ea"/>
                <a:cs typeface="+mn-cs"/>
              </a:rPr>
              <a:t> para establecer niveles mínimos aceptables de calidad en materia de seguridad y privacidad. Al definir estos criterios al comienzo de un proyecto, se comprenderán mejor los riesgos asociados a los problemas de seguridad y los equipos podrán identificar y corregir los errores de seguridad durante el desarrollo. El equipo de proyecto debe negociar los umbrales de calidad (por ejemplo, todas las advertencias del compilador se deben evaluar y corregir antes de proteger el código) para cada fase de desarrollo; a continuación, el asesor de seguridad debe aprobarlos y puede agregar aclaraciones específicas del proyecto así como requisitos de seguridad más estrictos según proceda. El equipo de proyecto también debe ilustrar la conformidad con los umbrales de calidad negociados para cumplimentar la </a:t>
            </a:r>
            <a:r>
              <a:rPr lang="es-ES" sz="1200" u="sng" kern="1200" dirty="0">
                <a:solidFill>
                  <a:schemeClr val="tx1"/>
                </a:solidFill>
                <a:effectLst/>
                <a:latin typeface="+mn-lt"/>
                <a:ea typeface="+mn-ea"/>
                <a:cs typeface="+mn-cs"/>
                <a:hlinkClick r:id="rId3" action="ppaction://hlinkfile"/>
              </a:rPr>
              <a:t>revisión de seguridad final.</a:t>
            </a:r>
            <a:r>
              <a:rPr lang="es-ES" sz="1200" kern="1200" dirty="0">
                <a:solidFill>
                  <a:schemeClr val="tx1"/>
                </a:solidFill>
                <a:effectLst/>
                <a:latin typeface="+mn-lt"/>
                <a:ea typeface="+mn-ea"/>
                <a:cs typeface="+mn-cs"/>
              </a:rPr>
              <a:t> </a:t>
            </a:r>
          </a:p>
          <a:p>
            <a:r>
              <a:rPr lang="es-ES" sz="1200" kern="1200" dirty="0">
                <a:solidFill>
                  <a:schemeClr val="tx1"/>
                </a:solidFill>
                <a:effectLst/>
                <a:latin typeface="+mn-lt"/>
                <a:ea typeface="+mn-ea"/>
                <a:cs typeface="+mn-cs"/>
              </a:rPr>
              <a:t>Un límite de errores es un umbral de calidad que se aplica a todo el proyecto de desarrollo de software. Se usa para definir los umbrales de gravedad de las vulnerabilidades de seguridad; por ejemplo, en la aplicación no hay vulnerabilidades conocidas que estén clasificadas como “críticas” o “importantes” en el momento de su lanzamiento. Una vez definido, el límite de errores no debe bajarse nunca. Un límite de errores dinámico es un objetivo no fijo que probablemente no se entienda muy bien en el ámbito del desarrollo.</a:t>
            </a:r>
          </a:p>
          <a:p>
            <a:endParaRPr lang="es-ES" sz="1200" kern="1200" dirty="0">
              <a:solidFill>
                <a:schemeClr val="tx1"/>
              </a:solidFill>
              <a:effectLst/>
              <a:latin typeface="+mn-lt"/>
              <a:ea typeface="+mn-ea"/>
              <a:cs typeface="+mn-cs"/>
            </a:endParaRPr>
          </a:p>
          <a:p>
            <a:r>
              <a:rPr lang="es-ES" sz="1200" b="1" u="sng" kern="1200" dirty="0">
                <a:solidFill>
                  <a:schemeClr val="tx1"/>
                </a:solidFill>
                <a:effectLst/>
                <a:latin typeface="+mn-lt"/>
                <a:ea typeface="+mn-ea"/>
                <a:cs typeface="+mn-cs"/>
              </a:rPr>
              <a:t>Procedimiento 4 de SDL: evaluación de los riesgos de seguridad y privacidad</a:t>
            </a:r>
          </a:p>
          <a:p>
            <a:r>
              <a:rPr lang="es-ES" sz="1200" kern="1200" dirty="0">
                <a:solidFill>
                  <a:schemeClr val="tx1"/>
                </a:solidFill>
                <a:effectLst/>
                <a:latin typeface="+mn-lt"/>
                <a:ea typeface="+mn-ea"/>
                <a:cs typeface="+mn-cs"/>
              </a:rPr>
              <a:t>Las evaluaciones de los riesgos de seguridad (SRA) y de privacidad (PRA) son procesos obligatorios que identifican los aspectos funcionales del software que requieren una revisión exhaustiva. </a:t>
            </a:r>
            <a:r>
              <a:rPr lang="en-US" sz="1200" kern="1200" dirty="0" err="1">
                <a:solidFill>
                  <a:schemeClr val="tx1"/>
                </a:solidFill>
                <a:effectLst/>
                <a:latin typeface="+mn-lt"/>
                <a:ea typeface="+mn-ea"/>
                <a:cs typeface="+mn-cs"/>
              </a:rPr>
              <a:t>Dichas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evaluaciones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deben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incluir</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siguiente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información</a:t>
            </a:r>
            <a:r>
              <a:rPr lang="en-US" sz="1200" kern="1200" dirty="0">
                <a:solidFill>
                  <a:schemeClr val="tx1"/>
                </a:solidFill>
                <a:effectLst/>
                <a:latin typeface="+mn-lt"/>
                <a:ea typeface="+mn-ea"/>
                <a:cs typeface="+mn-cs"/>
              </a:rPr>
              <a:t>:</a:t>
            </a:r>
            <a:endParaRPr lang="es-ES"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(Seguridad) Partes del proyecto que van a requerir </a:t>
            </a:r>
            <a:r>
              <a:rPr lang="es-ES" sz="1200" u="sng" kern="1200" dirty="0">
                <a:solidFill>
                  <a:schemeClr val="tx1"/>
                </a:solidFill>
                <a:effectLst/>
                <a:latin typeface="+mn-lt"/>
                <a:ea typeface="+mn-ea"/>
                <a:cs typeface="+mn-cs"/>
                <a:hlinkClick r:id="rId4" action="ppaction://hlinkfile"/>
              </a:rPr>
              <a:t>modelos de riesgos</a:t>
            </a:r>
            <a:r>
              <a:rPr lang="es-ES" sz="1200" kern="1200" dirty="0">
                <a:solidFill>
                  <a:schemeClr val="tx1"/>
                </a:solidFill>
                <a:effectLst/>
                <a:latin typeface="+mn-lt"/>
                <a:ea typeface="+mn-ea"/>
                <a:cs typeface="+mn-cs"/>
              </a:rPr>
              <a:t> antes del lanzamiento.</a:t>
            </a:r>
          </a:p>
          <a:p>
            <a:pPr lvl="0"/>
            <a:r>
              <a:rPr lang="es-ES" sz="1200" kern="1200" dirty="0">
                <a:solidFill>
                  <a:schemeClr val="tx1"/>
                </a:solidFill>
                <a:effectLst/>
                <a:latin typeface="+mn-lt"/>
                <a:ea typeface="+mn-ea"/>
                <a:cs typeface="+mn-cs"/>
              </a:rPr>
              <a:t>(Seguridad) Las partes del proyecto que van a requerir revisiones del diseño de seguridad antes del lanzamiento.</a:t>
            </a:r>
          </a:p>
          <a:p>
            <a:pPr lvl="0"/>
            <a:r>
              <a:rPr lang="es-ES" sz="1200" kern="1200" dirty="0">
                <a:solidFill>
                  <a:schemeClr val="tx1"/>
                </a:solidFill>
                <a:effectLst/>
                <a:latin typeface="+mn-lt"/>
                <a:ea typeface="+mn-ea"/>
                <a:cs typeface="+mn-cs"/>
              </a:rPr>
              <a:t>(Seguridad) Partes del proyecto (si procede) que van a requerir pruebas de penetración por parte de un grupo externo al equipo de proyecto y acordado mutuamente. </a:t>
            </a:r>
          </a:p>
          <a:p>
            <a:pPr lvl="0"/>
            <a:r>
              <a:rPr lang="es-ES" sz="1200" kern="1200" dirty="0">
                <a:solidFill>
                  <a:schemeClr val="tx1"/>
                </a:solidFill>
                <a:effectLst/>
                <a:latin typeface="+mn-lt"/>
                <a:ea typeface="+mn-ea"/>
                <a:cs typeface="+mn-cs"/>
              </a:rPr>
              <a:t>(Seguridad) Requisitos de análisis o de pruebas adicionales que el asesor de seguridad considera necesarios para mitigar los riesgos de seguridad.</a:t>
            </a:r>
          </a:p>
          <a:p>
            <a:pPr lvl="0"/>
            <a:r>
              <a:rPr lang="es-ES" sz="1200" kern="1200" dirty="0">
                <a:solidFill>
                  <a:schemeClr val="tx1"/>
                </a:solidFill>
                <a:effectLst/>
                <a:latin typeface="+mn-lt"/>
                <a:ea typeface="+mn-ea"/>
                <a:cs typeface="+mn-cs"/>
              </a:rPr>
              <a:t>(Seguridad) Ámbito específico de los </a:t>
            </a:r>
            <a:r>
              <a:rPr lang="es-ES" sz="1200" u="sng" kern="1200" dirty="0">
                <a:solidFill>
                  <a:schemeClr val="tx1"/>
                </a:solidFill>
                <a:effectLst/>
                <a:latin typeface="+mn-lt"/>
                <a:ea typeface="+mn-ea"/>
                <a:cs typeface="+mn-cs"/>
                <a:hlinkClick r:id="rId5" action="ppaction://hlinkfile"/>
              </a:rPr>
              <a:t>requisitos en materia de pruebas de exploración de vulnerabilidades mediante datos aleatorios</a:t>
            </a:r>
            <a:r>
              <a:rPr lang="es-ES" sz="1200" kern="1200" dirty="0">
                <a:solidFill>
                  <a:schemeClr val="tx1"/>
                </a:solidFill>
                <a:effectLst/>
                <a:latin typeface="+mn-lt"/>
                <a:ea typeface="+mn-ea"/>
                <a:cs typeface="+mn-cs"/>
              </a:rPr>
              <a:t>.</a:t>
            </a:r>
          </a:p>
          <a:p>
            <a:pPr lvl="0"/>
            <a:r>
              <a:rPr lang="es-ES" sz="1200" kern="1200" dirty="0">
                <a:solidFill>
                  <a:schemeClr val="tx1"/>
                </a:solidFill>
                <a:effectLst/>
                <a:latin typeface="+mn-lt"/>
                <a:ea typeface="+mn-ea"/>
                <a:cs typeface="+mn-cs"/>
              </a:rPr>
              <a:t>(Privacidad) ¿Cuál es el nivel de impacto sobre la privacidad? La respuesta a esta pregunta se basa en las siguientes pautas: </a:t>
            </a:r>
          </a:p>
          <a:p>
            <a:pPr lvl="0"/>
            <a:r>
              <a:rPr lang="es-ES" sz="1200" kern="1200" dirty="0">
                <a:solidFill>
                  <a:schemeClr val="tx1"/>
                </a:solidFill>
                <a:effectLst/>
                <a:latin typeface="+mn-lt"/>
                <a:ea typeface="+mn-ea"/>
                <a:cs typeface="+mn-cs"/>
              </a:rPr>
              <a:t>P1 Alto riesgo para la privacidad. La característica, el producto o el servicio almacena o transfiere datos de identificación personal, cambia la configuración o las asociaciones de los tipos de archivo, o instala software.</a:t>
            </a:r>
          </a:p>
          <a:p>
            <a:pPr lvl="0"/>
            <a:r>
              <a:rPr lang="es-ES" sz="1200" kern="1200" dirty="0">
                <a:solidFill>
                  <a:schemeClr val="tx1"/>
                </a:solidFill>
                <a:effectLst/>
                <a:latin typeface="+mn-lt"/>
                <a:ea typeface="+mn-ea"/>
                <a:cs typeface="+mn-cs"/>
              </a:rPr>
              <a:t>P2 Riesgo moderado para la privacidad. El único comportamiento que afecta a la privacidad en la característica, el producto o el servicio es una transferencia de datos anónimos única e iniciada por el usuario (por ejemplo, el usuario hace clic en un vínculo y el software abre un sitio web).</a:t>
            </a:r>
          </a:p>
          <a:p>
            <a:pPr lvl="0"/>
            <a:r>
              <a:rPr lang="es-ES" sz="1200" kern="1200" dirty="0">
                <a:solidFill>
                  <a:schemeClr val="tx1"/>
                </a:solidFill>
                <a:effectLst/>
                <a:latin typeface="+mn-lt"/>
                <a:ea typeface="+mn-ea"/>
                <a:cs typeface="+mn-cs"/>
              </a:rPr>
              <a:t>P3 Bajo riesgo para la privacidad. La característica, el producto o el servicio no tiene ningún comportamiento que afecte a la privacidad. No hay ninguna transferencia de datos personales ni anónimos, no se almacenan datos de identificación personal en el equipo, no se modifica ninguna configuración en nombre del usuario y no se instala ningún software.</a:t>
            </a:r>
          </a:p>
          <a:p>
            <a:endParaRPr lang="es-ES" dirty="0"/>
          </a:p>
          <a:p>
            <a:endParaRPr lang="es-ES" dirty="0"/>
          </a:p>
          <a:p>
            <a:endParaRPr lang="es-ES" dirty="0"/>
          </a:p>
        </p:txBody>
      </p:sp>
      <p:sp>
        <p:nvSpPr>
          <p:cNvPr id="4" name="3 Marcador de número de diapositiva"/>
          <p:cNvSpPr>
            <a:spLocks noGrp="1"/>
          </p:cNvSpPr>
          <p:nvPr>
            <p:ph type="sldNum" sz="quarter" idx="10"/>
          </p:nvPr>
        </p:nvSpPr>
        <p:spPr/>
        <p:txBody>
          <a:bodyPr/>
          <a:lstStyle/>
          <a:p>
            <a:fld id="{064AA158-4D4D-427B-8540-6E8BBC9EB3DF}" type="slidenum">
              <a:rPr lang="es-ES" smtClean="0"/>
              <a:t>22</a:t>
            </a:fld>
            <a:endParaRPr lang="es-ES"/>
          </a:p>
        </p:txBody>
      </p:sp>
    </p:spTree>
    <p:extLst>
      <p:ext uri="{BB962C8B-B14F-4D97-AF65-F5344CB8AC3E}">
        <p14:creationId xmlns:p14="http://schemas.microsoft.com/office/powerpoint/2010/main" val="9456915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Requisitos</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La necesidad de considerar la seguridad y la privacidad “desde el primer instante” es un aspecto fundamental del desarrollo de un sistema seguro. La fase de planificación inicial es el momento más apropiado para definir los requisitos de fiabilidad de un proyecto de software. Al definir los requisitos en una fase temprana, los equipos de desarrollo podrán identificar los principales hitos y resultados, y es posible integrar la seguridad y la privacidad de modo que los planes y programaciones se alteren lo menos posible. Al principio de un proyecto, se realiza un análisis de los requisitos de seguridad y privacidad, el cual incluye la especificación de los requisitos de seguridad mínimos de la aplicación en el entorno operativo previsto, así como la especificación y la implementación de un sistema de seguimiento de los elementos de trabajo y de las vulnerabilidades de seguridad. </a:t>
            </a:r>
          </a:p>
          <a:p>
            <a:endParaRPr lang="es-ES" dirty="0"/>
          </a:p>
          <a:p>
            <a:r>
              <a:rPr lang="es-ES" sz="1200" b="1" u="sng" kern="1200" dirty="0">
                <a:solidFill>
                  <a:schemeClr val="tx1"/>
                </a:solidFill>
                <a:effectLst/>
                <a:latin typeface="+mn-lt"/>
                <a:ea typeface="+mn-ea"/>
                <a:cs typeface="+mn-cs"/>
              </a:rPr>
              <a:t>Procedimiento 3 de SDL: umbrales de calidad y límites de errores</a:t>
            </a:r>
          </a:p>
          <a:p>
            <a:r>
              <a:rPr lang="es-ES" sz="1200" kern="1200" dirty="0">
                <a:solidFill>
                  <a:schemeClr val="tx1"/>
                </a:solidFill>
                <a:effectLst/>
                <a:latin typeface="+mn-lt"/>
                <a:ea typeface="+mn-ea"/>
                <a:cs typeface="+mn-cs"/>
              </a:rPr>
              <a:t>Se usan umbrales de calidad y </a:t>
            </a:r>
            <a:r>
              <a:rPr lang="es-ES" sz="1200" i="1" kern="1200" dirty="0">
                <a:solidFill>
                  <a:schemeClr val="tx1"/>
                </a:solidFill>
                <a:effectLst/>
                <a:latin typeface="+mn-lt"/>
                <a:ea typeface="+mn-ea"/>
                <a:cs typeface="+mn-cs"/>
              </a:rPr>
              <a:t>límites de errores</a:t>
            </a:r>
            <a:r>
              <a:rPr lang="es-ES" sz="1200" kern="1200" dirty="0">
                <a:solidFill>
                  <a:schemeClr val="tx1"/>
                </a:solidFill>
                <a:effectLst/>
                <a:latin typeface="+mn-lt"/>
                <a:ea typeface="+mn-ea"/>
                <a:cs typeface="+mn-cs"/>
              </a:rPr>
              <a:t> para establecer niveles mínimos aceptables de calidad en materia de seguridad y privacidad. Al definir estos criterios al comienzo de un proyecto, se comprenderán mejor los riesgos asociados a los problemas de seguridad y los equipos podrán identificar y corregir los errores de seguridad durante el desarrollo. El equipo de proyecto debe negociar los umbrales de calidad (por ejemplo, todas las advertencias del compilador se deben evaluar y corregir antes de proteger el código) para cada fase de desarrollo; a continuación, el asesor de seguridad debe aprobarlos y puede agregar aclaraciones específicas del proyecto así como requisitos de seguridad más estrictos según proceda. El equipo de proyecto también debe ilustrar la conformidad con los umbrales de calidad negociados para cumplimentar la </a:t>
            </a:r>
            <a:r>
              <a:rPr lang="es-ES" sz="1200" u="sng" kern="1200" dirty="0">
                <a:solidFill>
                  <a:schemeClr val="tx1"/>
                </a:solidFill>
                <a:effectLst/>
                <a:latin typeface="+mn-lt"/>
                <a:ea typeface="+mn-ea"/>
                <a:cs typeface="+mn-cs"/>
                <a:hlinkClick r:id="rId3" action="ppaction://hlinkfile"/>
              </a:rPr>
              <a:t>revisión de seguridad final.</a:t>
            </a:r>
            <a:r>
              <a:rPr lang="es-ES" sz="1200" kern="1200" dirty="0">
                <a:solidFill>
                  <a:schemeClr val="tx1"/>
                </a:solidFill>
                <a:effectLst/>
                <a:latin typeface="+mn-lt"/>
                <a:ea typeface="+mn-ea"/>
                <a:cs typeface="+mn-cs"/>
              </a:rPr>
              <a:t> </a:t>
            </a:r>
          </a:p>
          <a:p>
            <a:r>
              <a:rPr lang="es-ES" sz="1200" kern="1200" dirty="0">
                <a:solidFill>
                  <a:schemeClr val="tx1"/>
                </a:solidFill>
                <a:effectLst/>
                <a:latin typeface="+mn-lt"/>
                <a:ea typeface="+mn-ea"/>
                <a:cs typeface="+mn-cs"/>
              </a:rPr>
              <a:t>Un límite de errores es un umbral de calidad que se aplica a todo el proyecto de desarrollo de software. Se usa para definir los umbrales de gravedad de las vulnerabilidades de seguridad; por ejemplo, en la aplicación no hay vulnerabilidades conocidas que estén clasificadas como “críticas” o “importantes” en el momento de su lanzamiento. Una vez definido, el límite de errores no debe bajarse nunca. Un límite de errores dinámico es un objetivo no fijo que probablemente no se entienda muy bien en el ámbito del desarrollo.</a:t>
            </a:r>
          </a:p>
          <a:p>
            <a:endParaRPr lang="es-ES" sz="1200" kern="1200" dirty="0">
              <a:solidFill>
                <a:schemeClr val="tx1"/>
              </a:solidFill>
              <a:effectLst/>
              <a:latin typeface="+mn-lt"/>
              <a:ea typeface="+mn-ea"/>
              <a:cs typeface="+mn-cs"/>
            </a:endParaRPr>
          </a:p>
          <a:p>
            <a:r>
              <a:rPr lang="es-ES" sz="1200" b="1" u="sng" kern="1200" dirty="0">
                <a:solidFill>
                  <a:schemeClr val="tx1"/>
                </a:solidFill>
                <a:effectLst/>
                <a:latin typeface="+mn-lt"/>
                <a:ea typeface="+mn-ea"/>
                <a:cs typeface="+mn-cs"/>
              </a:rPr>
              <a:t>Procedimiento 4 de SDL: evaluación de los riesgos de seguridad y privacidad</a:t>
            </a:r>
          </a:p>
          <a:p>
            <a:r>
              <a:rPr lang="es-ES" sz="1200" kern="1200" dirty="0">
                <a:solidFill>
                  <a:schemeClr val="tx1"/>
                </a:solidFill>
                <a:effectLst/>
                <a:latin typeface="+mn-lt"/>
                <a:ea typeface="+mn-ea"/>
                <a:cs typeface="+mn-cs"/>
              </a:rPr>
              <a:t>Las evaluaciones de los riesgos de seguridad (SRA) y de privacidad (PRA) son procesos obligatorios que identifican los aspectos funcionales del software que requieren una revisión exhaustiva. </a:t>
            </a:r>
            <a:r>
              <a:rPr lang="en-US" sz="1200" kern="1200" dirty="0" err="1">
                <a:solidFill>
                  <a:schemeClr val="tx1"/>
                </a:solidFill>
                <a:effectLst/>
                <a:latin typeface="+mn-lt"/>
                <a:ea typeface="+mn-ea"/>
                <a:cs typeface="+mn-cs"/>
              </a:rPr>
              <a:t>Dichas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evaluaciones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deben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incluir</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siguiente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información</a:t>
            </a:r>
            <a:r>
              <a:rPr lang="en-US" sz="1200" kern="1200" dirty="0">
                <a:solidFill>
                  <a:schemeClr val="tx1"/>
                </a:solidFill>
                <a:effectLst/>
                <a:latin typeface="+mn-lt"/>
                <a:ea typeface="+mn-ea"/>
                <a:cs typeface="+mn-cs"/>
              </a:rPr>
              <a:t>:</a:t>
            </a:r>
            <a:endParaRPr lang="es-ES"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(Seguridad) Partes del proyecto que van a requerir </a:t>
            </a:r>
            <a:r>
              <a:rPr lang="es-ES" sz="1200" u="sng" kern="1200" dirty="0">
                <a:solidFill>
                  <a:schemeClr val="tx1"/>
                </a:solidFill>
                <a:effectLst/>
                <a:latin typeface="+mn-lt"/>
                <a:ea typeface="+mn-ea"/>
                <a:cs typeface="+mn-cs"/>
                <a:hlinkClick r:id="rId4" action="ppaction://hlinkfile"/>
              </a:rPr>
              <a:t>modelos de riesgos</a:t>
            </a:r>
            <a:r>
              <a:rPr lang="es-ES" sz="1200" kern="1200" dirty="0">
                <a:solidFill>
                  <a:schemeClr val="tx1"/>
                </a:solidFill>
                <a:effectLst/>
                <a:latin typeface="+mn-lt"/>
                <a:ea typeface="+mn-ea"/>
                <a:cs typeface="+mn-cs"/>
              </a:rPr>
              <a:t> antes del lanzamiento.</a:t>
            </a:r>
          </a:p>
          <a:p>
            <a:pPr lvl="0"/>
            <a:r>
              <a:rPr lang="es-ES" sz="1200" kern="1200" dirty="0">
                <a:solidFill>
                  <a:schemeClr val="tx1"/>
                </a:solidFill>
                <a:effectLst/>
                <a:latin typeface="+mn-lt"/>
                <a:ea typeface="+mn-ea"/>
                <a:cs typeface="+mn-cs"/>
              </a:rPr>
              <a:t>(Seguridad) Las partes del proyecto que van a requerir revisiones del diseño de seguridad antes del lanzamiento.</a:t>
            </a:r>
          </a:p>
          <a:p>
            <a:pPr lvl="0"/>
            <a:r>
              <a:rPr lang="es-ES" sz="1200" kern="1200" dirty="0">
                <a:solidFill>
                  <a:schemeClr val="tx1"/>
                </a:solidFill>
                <a:effectLst/>
                <a:latin typeface="+mn-lt"/>
                <a:ea typeface="+mn-ea"/>
                <a:cs typeface="+mn-cs"/>
              </a:rPr>
              <a:t>(Seguridad) Partes del proyecto (si procede) que van a requerir pruebas de penetración por parte de un grupo externo al equipo de proyecto y acordado mutuamente. </a:t>
            </a:r>
          </a:p>
          <a:p>
            <a:pPr lvl="0"/>
            <a:r>
              <a:rPr lang="es-ES" sz="1200" kern="1200" dirty="0">
                <a:solidFill>
                  <a:schemeClr val="tx1"/>
                </a:solidFill>
                <a:effectLst/>
                <a:latin typeface="+mn-lt"/>
                <a:ea typeface="+mn-ea"/>
                <a:cs typeface="+mn-cs"/>
              </a:rPr>
              <a:t>(Seguridad) Requisitos de análisis o de pruebas adicionales que el asesor de seguridad considera necesarios para mitigar los riesgos de seguridad.</a:t>
            </a:r>
          </a:p>
          <a:p>
            <a:pPr lvl="0"/>
            <a:r>
              <a:rPr lang="es-ES" sz="1200" kern="1200" dirty="0">
                <a:solidFill>
                  <a:schemeClr val="tx1"/>
                </a:solidFill>
                <a:effectLst/>
                <a:latin typeface="+mn-lt"/>
                <a:ea typeface="+mn-ea"/>
                <a:cs typeface="+mn-cs"/>
              </a:rPr>
              <a:t>(Seguridad) Ámbito específico de los </a:t>
            </a:r>
            <a:r>
              <a:rPr lang="es-ES" sz="1200" u="sng" kern="1200" dirty="0">
                <a:solidFill>
                  <a:schemeClr val="tx1"/>
                </a:solidFill>
                <a:effectLst/>
                <a:latin typeface="+mn-lt"/>
                <a:ea typeface="+mn-ea"/>
                <a:cs typeface="+mn-cs"/>
                <a:hlinkClick r:id="rId5" action="ppaction://hlinkfile"/>
              </a:rPr>
              <a:t>requisitos en materia de pruebas de exploración de vulnerabilidades mediante datos aleatorios</a:t>
            </a:r>
            <a:r>
              <a:rPr lang="es-ES" sz="1200" kern="1200" dirty="0">
                <a:solidFill>
                  <a:schemeClr val="tx1"/>
                </a:solidFill>
                <a:effectLst/>
                <a:latin typeface="+mn-lt"/>
                <a:ea typeface="+mn-ea"/>
                <a:cs typeface="+mn-cs"/>
              </a:rPr>
              <a:t>.</a:t>
            </a:r>
          </a:p>
          <a:p>
            <a:pPr lvl="0"/>
            <a:r>
              <a:rPr lang="es-ES" sz="1200" kern="1200" dirty="0">
                <a:solidFill>
                  <a:schemeClr val="tx1"/>
                </a:solidFill>
                <a:effectLst/>
                <a:latin typeface="+mn-lt"/>
                <a:ea typeface="+mn-ea"/>
                <a:cs typeface="+mn-cs"/>
              </a:rPr>
              <a:t>(Privacidad) ¿Cuál es el nivel de impacto sobre la privacidad? La respuesta a esta pregunta se basa en las siguientes pautas: </a:t>
            </a:r>
          </a:p>
          <a:p>
            <a:pPr lvl="0"/>
            <a:r>
              <a:rPr lang="es-ES" sz="1200" kern="1200" dirty="0">
                <a:solidFill>
                  <a:schemeClr val="tx1"/>
                </a:solidFill>
                <a:effectLst/>
                <a:latin typeface="+mn-lt"/>
                <a:ea typeface="+mn-ea"/>
                <a:cs typeface="+mn-cs"/>
              </a:rPr>
              <a:t>P1 Alto riesgo para la privacidad. La característica, el producto o el servicio almacena o transfiere datos de identificación personal, cambia la configuración o las asociaciones de los tipos de archivo, o instala software.</a:t>
            </a:r>
          </a:p>
          <a:p>
            <a:pPr lvl="0"/>
            <a:r>
              <a:rPr lang="es-ES" sz="1200" kern="1200" dirty="0">
                <a:solidFill>
                  <a:schemeClr val="tx1"/>
                </a:solidFill>
                <a:effectLst/>
                <a:latin typeface="+mn-lt"/>
                <a:ea typeface="+mn-ea"/>
                <a:cs typeface="+mn-cs"/>
              </a:rPr>
              <a:t>P2 Riesgo moderado para la privacidad. El único comportamiento que afecta a la privacidad en la característica, el producto o el servicio es una transferencia de datos anónimos única e iniciada por el usuario (por ejemplo, el usuario hace clic en un vínculo y el software abre un sitio web).</a:t>
            </a:r>
          </a:p>
          <a:p>
            <a:pPr lvl="0"/>
            <a:r>
              <a:rPr lang="es-ES" sz="1200" kern="1200" dirty="0">
                <a:solidFill>
                  <a:schemeClr val="tx1"/>
                </a:solidFill>
                <a:effectLst/>
                <a:latin typeface="+mn-lt"/>
                <a:ea typeface="+mn-ea"/>
                <a:cs typeface="+mn-cs"/>
              </a:rPr>
              <a:t>P3 Bajo riesgo para la privacidad. La característica, el producto o el servicio no tiene ningún comportamiento que afecte a la privacidad. No hay ninguna transferencia de datos personales ni anónimos, no se almacenan datos de identificación personal en el equipo, no se modifica ninguna configuración en nombre del usuario y no se instala ningún software.</a:t>
            </a:r>
          </a:p>
          <a:p>
            <a:endParaRPr lang="es-ES" dirty="0"/>
          </a:p>
          <a:p>
            <a:endParaRPr lang="es-ES" dirty="0"/>
          </a:p>
          <a:p>
            <a:endParaRPr lang="es-ES" dirty="0"/>
          </a:p>
        </p:txBody>
      </p:sp>
      <p:sp>
        <p:nvSpPr>
          <p:cNvPr id="4" name="3 Marcador de número de diapositiva"/>
          <p:cNvSpPr>
            <a:spLocks noGrp="1"/>
          </p:cNvSpPr>
          <p:nvPr>
            <p:ph type="sldNum" sz="quarter" idx="10"/>
          </p:nvPr>
        </p:nvSpPr>
        <p:spPr/>
        <p:txBody>
          <a:bodyPr/>
          <a:lstStyle/>
          <a:p>
            <a:fld id="{064AA158-4D4D-427B-8540-6E8BBC9EB3DF}" type="slidenum">
              <a:rPr lang="es-ES" smtClean="0"/>
              <a:t>23</a:t>
            </a:fld>
            <a:endParaRPr lang="es-ES"/>
          </a:p>
        </p:txBody>
      </p:sp>
    </p:spTree>
    <p:extLst>
      <p:ext uri="{BB962C8B-B14F-4D97-AF65-F5344CB8AC3E}">
        <p14:creationId xmlns:p14="http://schemas.microsoft.com/office/powerpoint/2010/main" val="9456915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Requisitos</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La necesidad de considerar la seguridad y la privacidad “desde el primer instante” es un aspecto fundamental del desarrollo de un sistema seguro. La fase de planificación inicial es el momento más apropiado para definir los requisitos de fiabilidad de un proyecto de software. Al definir los requisitos en una fase temprana, los equipos de desarrollo podrán identificar los principales hitos y resultados, y es posible integrar la seguridad y la privacidad de modo que los planes y programaciones se alteren lo menos posible. Al principio de un proyecto, se realiza un análisis de los requisitos de seguridad y privacidad, el cual incluye la especificación de los requisitos de seguridad mínimos de la aplicación en el entorno operativo previsto, así como la especificación y la implementación de un sistema de seguimiento de los elementos de trabajo y de las vulnerabilidades de seguridad. </a:t>
            </a:r>
          </a:p>
          <a:p>
            <a:endParaRPr lang="es-ES" dirty="0"/>
          </a:p>
          <a:p>
            <a:r>
              <a:rPr lang="es-ES" sz="1200" b="1" u="sng" kern="1200" dirty="0">
                <a:solidFill>
                  <a:schemeClr val="tx1"/>
                </a:solidFill>
                <a:effectLst/>
                <a:latin typeface="+mn-lt"/>
                <a:ea typeface="+mn-ea"/>
                <a:cs typeface="+mn-cs"/>
              </a:rPr>
              <a:t>Procedimiento 3 de SDL: umbrales de calidad y límites de errores</a:t>
            </a:r>
          </a:p>
          <a:p>
            <a:r>
              <a:rPr lang="es-ES" sz="1200" kern="1200" dirty="0">
                <a:solidFill>
                  <a:schemeClr val="tx1"/>
                </a:solidFill>
                <a:effectLst/>
                <a:latin typeface="+mn-lt"/>
                <a:ea typeface="+mn-ea"/>
                <a:cs typeface="+mn-cs"/>
              </a:rPr>
              <a:t>Se usan umbrales de calidad y </a:t>
            </a:r>
            <a:r>
              <a:rPr lang="es-ES" sz="1200" i="1" kern="1200" dirty="0">
                <a:solidFill>
                  <a:schemeClr val="tx1"/>
                </a:solidFill>
                <a:effectLst/>
                <a:latin typeface="+mn-lt"/>
                <a:ea typeface="+mn-ea"/>
                <a:cs typeface="+mn-cs"/>
              </a:rPr>
              <a:t>límites de errores</a:t>
            </a:r>
            <a:r>
              <a:rPr lang="es-ES" sz="1200" kern="1200" dirty="0">
                <a:solidFill>
                  <a:schemeClr val="tx1"/>
                </a:solidFill>
                <a:effectLst/>
                <a:latin typeface="+mn-lt"/>
                <a:ea typeface="+mn-ea"/>
                <a:cs typeface="+mn-cs"/>
              </a:rPr>
              <a:t> para establecer niveles mínimos aceptables de calidad en materia de seguridad y privacidad. Al definir estos criterios al comienzo de un proyecto, se comprenderán mejor los riesgos asociados a los problemas de seguridad y los equipos podrán identificar y corregir los errores de seguridad durante el desarrollo. El equipo de proyecto debe negociar los umbrales de calidad (por ejemplo, todas las advertencias del compilador se deben evaluar y corregir antes de proteger el código) para cada fase de desarrollo; a continuación, el asesor de seguridad debe aprobarlos y puede agregar aclaraciones específicas del proyecto así como requisitos de seguridad más estrictos según proceda. El equipo de proyecto también debe ilustrar la conformidad con los umbrales de calidad negociados para cumplimentar la </a:t>
            </a:r>
            <a:r>
              <a:rPr lang="es-ES" sz="1200" u="sng" kern="1200" dirty="0">
                <a:solidFill>
                  <a:schemeClr val="tx1"/>
                </a:solidFill>
                <a:effectLst/>
                <a:latin typeface="+mn-lt"/>
                <a:ea typeface="+mn-ea"/>
                <a:cs typeface="+mn-cs"/>
                <a:hlinkClick r:id="rId3" action="ppaction://hlinkfile"/>
              </a:rPr>
              <a:t>revisión de seguridad final.</a:t>
            </a:r>
            <a:r>
              <a:rPr lang="es-ES" sz="1200" kern="1200" dirty="0">
                <a:solidFill>
                  <a:schemeClr val="tx1"/>
                </a:solidFill>
                <a:effectLst/>
                <a:latin typeface="+mn-lt"/>
                <a:ea typeface="+mn-ea"/>
                <a:cs typeface="+mn-cs"/>
              </a:rPr>
              <a:t> </a:t>
            </a:r>
          </a:p>
          <a:p>
            <a:r>
              <a:rPr lang="es-ES" sz="1200" kern="1200" dirty="0">
                <a:solidFill>
                  <a:schemeClr val="tx1"/>
                </a:solidFill>
                <a:effectLst/>
                <a:latin typeface="+mn-lt"/>
                <a:ea typeface="+mn-ea"/>
                <a:cs typeface="+mn-cs"/>
              </a:rPr>
              <a:t>Un límite de errores es un umbral de calidad que se aplica a todo el proyecto de desarrollo de software. Se usa para definir los umbrales de gravedad de las vulnerabilidades de seguridad; por ejemplo, en la aplicación no hay vulnerabilidades conocidas que estén clasificadas como “críticas” o “importantes” en el momento de su lanzamiento. Una vez definido, el límite de errores no debe bajarse nunca. Un límite de errores dinámico es un objetivo no fijo que probablemente no se entienda muy bien en el ámbito del desarrollo.</a:t>
            </a:r>
          </a:p>
          <a:p>
            <a:endParaRPr lang="es-ES" sz="1200" kern="1200" dirty="0">
              <a:solidFill>
                <a:schemeClr val="tx1"/>
              </a:solidFill>
              <a:effectLst/>
              <a:latin typeface="+mn-lt"/>
              <a:ea typeface="+mn-ea"/>
              <a:cs typeface="+mn-cs"/>
            </a:endParaRPr>
          </a:p>
          <a:p>
            <a:r>
              <a:rPr lang="es-ES" sz="1200" b="1" u="sng" kern="1200" dirty="0">
                <a:solidFill>
                  <a:schemeClr val="tx1"/>
                </a:solidFill>
                <a:effectLst/>
                <a:latin typeface="+mn-lt"/>
                <a:ea typeface="+mn-ea"/>
                <a:cs typeface="+mn-cs"/>
              </a:rPr>
              <a:t>Procedimiento 4 de SDL: evaluación de los riesgos de seguridad y privacidad</a:t>
            </a:r>
          </a:p>
          <a:p>
            <a:r>
              <a:rPr lang="es-ES" sz="1200" kern="1200" dirty="0">
                <a:solidFill>
                  <a:schemeClr val="tx1"/>
                </a:solidFill>
                <a:effectLst/>
                <a:latin typeface="+mn-lt"/>
                <a:ea typeface="+mn-ea"/>
                <a:cs typeface="+mn-cs"/>
              </a:rPr>
              <a:t>Las evaluaciones de los riesgos de seguridad (SRA) y de privacidad (PRA) son procesos obligatorios que identifican los aspectos funcionales del software que requieren una revisión exhaustiva. </a:t>
            </a:r>
            <a:r>
              <a:rPr lang="en-US" sz="1200" kern="1200" dirty="0" err="1">
                <a:solidFill>
                  <a:schemeClr val="tx1"/>
                </a:solidFill>
                <a:effectLst/>
                <a:latin typeface="+mn-lt"/>
                <a:ea typeface="+mn-ea"/>
                <a:cs typeface="+mn-cs"/>
              </a:rPr>
              <a:t>Dichas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evaluaciones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deben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incluir</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siguiente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información</a:t>
            </a:r>
            <a:r>
              <a:rPr lang="en-US" sz="1200" kern="1200" dirty="0">
                <a:solidFill>
                  <a:schemeClr val="tx1"/>
                </a:solidFill>
                <a:effectLst/>
                <a:latin typeface="+mn-lt"/>
                <a:ea typeface="+mn-ea"/>
                <a:cs typeface="+mn-cs"/>
              </a:rPr>
              <a:t>:</a:t>
            </a:r>
            <a:endParaRPr lang="es-ES"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(Seguridad) Partes del proyecto que van a requerir </a:t>
            </a:r>
            <a:r>
              <a:rPr lang="es-ES" sz="1200" u="sng" kern="1200" dirty="0">
                <a:solidFill>
                  <a:schemeClr val="tx1"/>
                </a:solidFill>
                <a:effectLst/>
                <a:latin typeface="+mn-lt"/>
                <a:ea typeface="+mn-ea"/>
                <a:cs typeface="+mn-cs"/>
                <a:hlinkClick r:id="rId4" action="ppaction://hlinkfile"/>
              </a:rPr>
              <a:t>modelos de riesgos</a:t>
            </a:r>
            <a:r>
              <a:rPr lang="es-ES" sz="1200" kern="1200" dirty="0">
                <a:solidFill>
                  <a:schemeClr val="tx1"/>
                </a:solidFill>
                <a:effectLst/>
                <a:latin typeface="+mn-lt"/>
                <a:ea typeface="+mn-ea"/>
                <a:cs typeface="+mn-cs"/>
              </a:rPr>
              <a:t> antes del lanzamiento.</a:t>
            </a:r>
          </a:p>
          <a:p>
            <a:pPr lvl="0"/>
            <a:r>
              <a:rPr lang="es-ES" sz="1200" kern="1200" dirty="0">
                <a:solidFill>
                  <a:schemeClr val="tx1"/>
                </a:solidFill>
                <a:effectLst/>
                <a:latin typeface="+mn-lt"/>
                <a:ea typeface="+mn-ea"/>
                <a:cs typeface="+mn-cs"/>
              </a:rPr>
              <a:t>(Seguridad) Las partes del proyecto que van a requerir revisiones del diseño de seguridad antes del lanzamiento.</a:t>
            </a:r>
          </a:p>
          <a:p>
            <a:pPr lvl="0"/>
            <a:r>
              <a:rPr lang="es-ES" sz="1200" kern="1200" dirty="0">
                <a:solidFill>
                  <a:schemeClr val="tx1"/>
                </a:solidFill>
                <a:effectLst/>
                <a:latin typeface="+mn-lt"/>
                <a:ea typeface="+mn-ea"/>
                <a:cs typeface="+mn-cs"/>
              </a:rPr>
              <a:t>(Seguridad) Partes del proyecto (si procede) que van a requerir pruebas de penetración por parte de un grupo externo al equipo de proyecto y acordado mutuamente. </a:t>
            </a:r>
          </a:p>
          <a:p>
            <a:pPr lvl="0"/>
            <a:r>
              <a:rPr lang="es-ES" sz="1200" kern="1200" dirty="0">
                <a:solidFill>
                  <a:schemeClr val="tx1"/>
                </a:solidFill>
                <a:effectLst/>
                <a:latin typeface="+mn-lt"/>
                <a:ea typeface="+mn-ea"/>
                <a:cs typeface="+mn-cs"/>
              </a:rPr>
              <a:t>(Seguridad) Requisitos de análisis o de pruebas adicionales que el asesor de seguridad considera necesarios para mitigar los riesgos de seguridad.</a:t>
            </a:r>
          </a:p>
          <a:p>
            <a:pPr lvl="0"/>
            <a:r>
              <a:rPr lang="es-ES" sz="1200" kern="1200" dirty="0">
                <a:solidFill>
                  <a:schemeClr val="tx1"/>
                </a:solidFill>
                <a:effectLst/>
                <a:latin typeface="+mn-lt"/>
                <a:ea typeface="+mn-ea"/>
                <a:cs typeface="+mn-cs"/>
              </a:rPr>
              <a:t>(Seguridad) Ámbito específico de los </a:t>
            </a:r>
            <a:r>
              <a:rPr lang="es-ES" sz="1200" u="sng" kern="1200" dirty="0">
                <a:solidFill>
                  <a:schemeClr val="tx1"/>
                </a:solidFill>
                <a:effectLst/>
                <a:latin typeface="+mn-lt"/>
                <a:ea typeface="+mn-ea"/>
                <a:cs typeface="+mn-cs"/>
                <a:hlinkClick r:id="rId5" action="ppaction://hlinkfile"/>
              </a:rPr>
              <a:t>requisitos en materia de pruebas de exploración de vulnerabilidades mediante datos aleatorios</a:t>
            </a:r>
            <a:r>
              <a:rPr lang="es-ES" sz="1200" kern="1200" dirty="0">
                <a:solidFill>
                  <a:schemeClr val="tx1"/>
                </a:solidFill>
                <a:effectLst/>
                <a:latin typeface="+mn-lt"/>
                <a:ea typeface="+mn-ea"/>
                <a:cs typeface="+mn-cs"/>
              </a:rPr>
              <a:t>.</a:t>
            </a:r>
          </a:p>
          <a:p>
            <a:pPr lvl="0"/>
            <a:r>
              <a:rPr lang="es-ES" sz="1200" kern="1200" dirty="0">
                <a:solidFill>
                  <a:schemeClr val="tx1"/>
                </a:solidFill>
                <a:effectLst/>
                <a:latin typeface="+mn-lt"/>
                <a:ea typeface="+mn-ea"/>
                <a:cs typeface="+mn-cs"/>
              </a:rPr>
              <a:t>(Privacidad) ¿Cuál es el nivel de impacto sobre la privacidad? La respuesta a esta pregunta se basa en las siguientes pautas: </a:t>
            </a:r>
          </a:p>
          <a:p>
            <a:pPr lvl="0"/>
            <a:r>
              <a:rPr lang="es-ES" sz="1200" kern="1200" dirty="0">
                <a:solidFill>
                  <a:schemeClr val="tx1"/>
                </a:solidFill>
                <a:effectLst/>
                <a:latin typeface="+mn-lt"/>
                <a:ea typeface="+mn-ea"/>
                <a:cs typeface="+mn-cs"/>
              </a:rPr>
              <a:t>P1 Alto riesgo para la privacidad. La característica, el producto o el servicio almacena o transfiere datos de identificación personal, cambia la configuración o las asociaciones de los tipos de archivo, o instala software.</a:t>
            </a:r>
          </a:p>
          <a:p>
            <a:pPr lvl="0"/>
            <a:r>
              <a:rPr lang="es-ES" sz="1200" kern="1200" dirty="0">
                <a:solidFill>
                  <a:schemeClr val="tx1"/>
                </a:solidFill>
                <a:effectLst/>
                <a:latin typeface="+mn-lt"/>
                <a:ea typeface="+mn-ea"/>
                <a:cs typeface="+mn-cs"/>
              </a:rPr>
              <a:t>P2 Riesgo moderado para la privacidad. El único comportamiento que afecta a la privacidad en la característica, el producto o el servicio es una transferencia de datos anónimos única e iniciada por el usuario (por ejemplo, el usuario hace clic en un vínculo y el software abre un sitio web).</a:t>
            </a:r>
          </a:p>
          <a:p>
            <a:pPr lvl="0"/>
            <a:r>
              <a:rPr lang="es-ES" sz="1200" kern="1200" dirty="0">
                <a:solidFill>
                  <a:schemeClr val="tx1"/>
                </a:solidFill>
                <a:effectLst/>
                <a:latin typeface="+mn-lt"/>
                <a:ea typeface="+mn-ea"/>
                <a:cs typeface="+mn-cs"/>
              </a:rPr>
              <a:t>P3 Bajo riesgo para la privacidad. La característica, el producto o el servicio no tiene ningún comportamiento que afecte a la privacidad. No hay ninguna transferencia de datos personales ni anónimos, no se almacenan datos de identificación personal en el equipo, no se modifica ninguna configuración en nombre del usuario y no se instala ningún software.</a:t>
            </a:r>
          </a:p>
          <a:p>
            <a:endParaRPr lang="es-ES" dirty="0"/>
          </a:p>
          <a:p>
            <a:endParaRPr lang="es-ES" dirty="0"/>
          </a:p>
          <a:p>
            <a:endParaRPr lang="es-ES" dirty="0"/>
          </a:p>
        </p:txBody>
      </p:sp>
      <p:sp>
        <p:nvSpPr>
          <p:cNvPr id="4" name="3 Marcador de número de diapositiva"/>
          <p:cNvSpPr>
            <a:spLocks noGrp="1"/>
          </p:cNvSpPr>
          <p:nvPr>
            <p:ph type="sldNum" sz="quarter" idx="10"/>
          </p:nvPr>
        </p:nvSpPr>
        <p:spPr/>
        <p:txBody>
          <a:bodyPr/>
          <a:lstStyle/>
          <a:p>
            <a:fld id="{064AA158-4D4D-427B-8540-6E8BBC9EB3DF}" type="slidenum">
              <a:rPr lang="es-ES" smtClean="0"/>
              <a:t>24</a:t>
            </a:fld>
            <a:endParaRPr lang="es-ES"/>
          </a:p>
        </p:txBody>
      </p:sp>
    </p:spTree>
    <p:extLst>
      <p:ext uri="{BB962C8B-B14F-4D97-AF65-F5344CB8AC3E}">
        <p14:creationId xmlns:p14="http://schemas.microsoft.com/office/powerpoint/2010/main" val="9456915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Requisitos</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La necesidad de considerar la seguridad y la privacidad “desde el primer instante” es un aspecto fundamental del desarrollo de un sistema seguro. La fase de planificación inicial es el momento más apropiado para definir los requisitos de fiabilidad de un proyecto de software. Al definir los requisitos en una fase temprana, los equipos de desarrollo podrán identificar los principales hitos y resultados, y es posible integrar la seguridad y la privacidad de modo que los planes y programaciones se alteren lo menos posible. Al principio de un proyecto, se realiza un análisis de los requisitos de seguridad y privacidad, el cual incluye la especificación de los requisitos de seguridad mínimos de la aplicación en el entorno operativo previsto, así como la especificación y la implementación de un sistema de seguimiento de los elementos de trabajo y de las vulnerabilidades de seguridad. </a:t>
            </a:r>
          </a:p>
          <a:p>
            <a:endParaRPr lang="es-ES" dirty="0"/>
          </a:p>
          <a:p>
            <a:r>
              <a:rPr lang="es-ES" sz="1200" b="1" u="sng" kern="1200" dirty="0">
                <a:solidFill>
                  <a:schemeClr val="tx1"/>
                </a:solidFill>
                <a:effectLst/>
                <a:latin typeface="+mn-lt"/>
                <a:ea typeface="+mn-ea"/>
                <a:cs typeface="+mn-cs"/>
              </a:rPr>
              <a:t>Procedimiento 3 de SDL: umbrales de calidad y límites de errores</a:t>
            </a:r>
          </a:p>
          <a:p>
            <a:r>
              <a:rPr lang="es-ES" sz="1200" kern="1200" dirty="0">
                <a:solidFill>
                  <a:schemeClr val="tx1"/>
                </a:solidFill>
                <a:effectLst/>
                <a:latin typeface="+mn-lt"/>
                <a:ea typeface="+mn-ea"/>
                <a:cs typeface="+mn-cs"/>
              </a:rPr>
              <a:t>Se usan umbrales de calidad y </a:t>
            </a:r>
            <a:r>
              <a:rPr lang="es-ES" sz="1200" i="1" kern="1200" dirty="0">
                <a:solidFill>
                  <a:schemeClr val="tx1"/>
                </a:solidFill>
                <a:effectLst/>
                <a:latin typeface="+mn-lt"/>
                <a:ea typeface="+mn-ea"/>
                <a:cs typeface="+mn-cs"/>
              </a:rPr>
              <a:t>límites de errores</a:t>
            </a:r>
            <a:r>
              <a:rPr lang="es-ES" sz="1200" kern="1200" dirty="0">
                <a:solidFill>
                  <a:schemeClr val="tx1"/>
                </a:solidFill>
                <a:effectLst/>
                <a:latin typeface="+mn-lt"/>
                <a:ea typeface="+mn-ea"/>
                <a:cs typeface="+mn-cs"/>
              </a:rPr>
              <a:t> para establecer niveles mínimos aceptables de calidad en materia de seguridad y privacidad. Al definir estos criterios al comienzo de un proyecto, se comprenderán mejor los riesgos asociados a los problemas de seguridad y los equipos podrán identificar y corregir los errores de seguridad durante el desarrollo. El equipo de proyecto debe negociar los umbrales de calidad (por ejemplo, todas las advertencias del compilador se deben evaluar y corregir antes de proteger el código) para cada fase de desarrollo; a continuación, el asesor de seguridad debe aprobarlos y puede agregar aclaraciones específicas del proyecto así como requisitos de seguridad más estrictos según proceda. El equipo de proyecto también debe ilustrar la conformidad con los umbrales de calidad negociados para cumplimentar la </a:t>
            </a:r>
            <a:r>
              <a:rPr lang="es-ES" sz="1200" u="sng" kern="1200" dirty="0">
                <a:solidFill>
                  <a:schemeClr val="tx1"/>
                </a:solidFill>
                <a:effectLst/>
                <a:latin typeface="+mn-lt"/>
                <a:ea typeface="+mn-ea"/>
                <a:cs typeface="+mn-cs"/>
                <a:hlinkClick r:id="rId3" action="ppaction://hlinkfile"/>
              </a:rPr>
              <a:t>revisión de seguridad final.</a:t>
            </a:r>
            <a:r>
              <a:rPr lang="es-ES" sz="1200" kern="1200" dirty="0">
                <a:solidFill>
                  <a:schemeClr val="tx1"/>
                </a:solidFill>
                <a:effectLst/>
                <a:latin typeface="+mn-lt"/>
                <a:ea typeface="+mn-ea"/>
                <a:cs typeface="+mn-cs"/>
              </a:rPr>
              <a:t> </a:t>
            </a:r>
          </a:p>
          <a:p>
            <a:r>
              <a:rPr lang="es-ES" sz="1200" kern="1200" dirty="0">
                <a:solidFill>
                  <a:schemeClr val="tx1"/>
                </a:solidFill>
                <a:effectLst/>
                <a:latin typeface="+mn-lt"/>
                <a:ea typeface="+mn-ea"/>
                <a:cs typeface="+mn-cs"/>
              </a:rPr>
              <a:t>Un límite de errores es un umbral de calidad que se aplica a todo el proyecto de desarrollo de software. Se usa para definir los umbrales de gravedad de las vulnerabilidades de seguridad; por ejemplo, en la aplicación no hay vulnerabilidades conocidas que estén clasificadas como “críticas” o “importantes” en el momento de su lanzamiento. Una vez definido, el límite de errores no debe bajarse nunca. Un límite de errores dinámico es un objetivo no fijo que probablemente no se entienda muy bien en el ámbito del desarrollo.</a:t>
            </a:r>
          </a:p>
          <a:p>
            <a:endParaRPr lang="es-ES" sz="1200" kern="1200" dirty="0">
              <a:solidFill>
                <a:schemeClr val="tx1"/>
              </a:solidFill>
              <a:effectLst/>
              <a:latin typeface="+mn-lt"/>
              <a:ea typeface="+mn-ea"/>
              <a:cs typeface="+mn-cs"/>
            </a:endParaRPr>
          </a:p>
          <a:p>
            <a:r>
              <a:rPr lang="es-ES" sz="1200" b="1" u="sng" kern="1200" dirty="0">
                <a:solidFill>
                  <a:schemeClr val="tx1"/>
                </a:solidFill>
                <a:effectLst/>
                <a:latin typeface="+mn-lt"/>
                <a:ea typeface="+mn-ea"/>
                <a:cs typeface="+mn-cs"/>
              </a:rPr>
              <a:t>Procedimiento 4 de SDL: evaluación de los riesgos de seguridad y privacidad</a:t>
            </a:r>
          </a:p>
          <a:p>
            <a:r>
              <a:rPr lang="es-ES" sz="1200" kern="1200" dirty="0">
                <a:solidFill>
                  <a:schemeClr val="tx1"/>
                </a:solidFill>
                <a:effectLst/>
                <a:latin typeface="+mn-lt"/>
                <a:ea typeface="+mn-ea"/>
                <a:cs typeface="+mn-cs"/>
              </a:rPr>
              <a:t>Las evaluaciones de los riesgos de seguridad (SRA) y de privacidad (PRA) son procesos obligatorios que identifican los aspectos funcionales del software que requieren una revisión exhaustiva. </a:t>
            </a:r>
            <a:r>
              <a:rPr lang="en-US" sz="1200" kern="1200" dirty="0" err="1">
                <a:solidFill>
                  <a:schemeClr val="tx1"/>
                </a:solidFill>
                <a:effectLst/>
                <a:latin typeface="+mn-lt"/>
                <a:ea typeface="+mn-ea"/>
                <a:cs typeface="+mn-cs"/>
              </a:rPr>
              <a:t>Dichas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evaluaciones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deben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incluir</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siguiente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información</a:t>
            </a:r>
            <a:r>
              <a:rPr lang="en-US" sz="1200" kern="1200" dirty="0">
                <a:solidFill>
                  <a:schemeClr val="tx1"/>
                </a:solidFill>
                <a:effectLst/>
                <a:latin typeface="+mn-lt"/>
                <a:ea typeface="+mn-ea"/>
                <a:cs typeface="+mn-cs"/>
              </a:rPr>
              <a:t>:</a:t>
            </a:r>
            <a:endParaRPr lang="es-ES"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(Seguridad) Partes del proyecto que van a requerir </a:t>
            </a:r>
            <a:r>
              <a:rPr lang="es-ES" sz="1200" u="sng" kern="1200" dirty="0">
                <a:solidFill>
                  <a:schemeClr val="tx1"/>
                </a:solidFill>
                <a:effectLst/>
                <a:latin typeface="+mn-lt"/>
                <a:ea typeface="+mn-ea"/>
                <a:cs typeface="+mn-cs"/>
                <a:hlinkClick r:id="rId4" action="ppaction://hlinkfile"/>
              </a:rPr>
              <a:t>modelos de riesgos</a:t>
            </a:r>
            <a:r>
              <a:rPr lang="es-ES" sz="1200" kern="1200" dirty="0">
                <a:solidFill>
                  <a:schemeClr val="tx1"/>
                </a:solidFill>
                <a:effectLst/>
                <a:latin typeface="+mn-lt"/>
                <a:ea typeface="+mn-ea"/>
                <a:cs typeface="+mn-cs"/>
              </a:rPr>
              <a:t> antes del lanzamiento.</a:t>
            </a:r>
          </a:p>
          <a:p>
            <a:pPr lvl="0"/>
            <a:r>
              <a:rPr lang="es-ES" sz="1200" kern="1200" dirty="0">
                <a:solidFill>
                  <a:schemeClr val="tx1"/>
                </a:solidFill>
                <a:effectLst/>
                <a:latin typeface="+mn-lt"/>
                <a:ea typeface="+mn-ea"/>
                <a:cs typeface="+mn-cs"/>
              </a:rPr>
              <a:t>(Seguridad) Las partes del proyecto que van a requerir revisiones del diseño de seguridad antes del lanzamiento.</a:t>
            </a:r>
          </a:p>
          <a:p>
            <a:pPr lvl="0"/>
            <a:r>
              <a:rPr lang="es-ES" sz="1200" kern="1200" dirty="0">
                <a:solidFill>
                  <a:schemeClr val="tx1"/>
                </a:solidFill>
                <a:effectLst/>
                <a:latin typeface="+mn-lt"/>
                <a:ea typeface="+mn-ea"/>
                <a:cs typeface="+mn-cs"/>
              </a:rPr>
              <a:t>(Seguridad) Partes del proyecto (si procede) que van a requerir pruebas de penetración por parte de un grupo externo al equipo de proyecto y acordado mutuamente. </a:t>
            </a:r>
          </a:p>
          <a:p>
            <a:pPr lvl="0"/>
            <a:r>
              <a:rPr lang="es-ES" sz="1200" kern="1200" dirty="0">
                <a:solidFill>
                  <a:schemeClr val="tx1"/>
                </a:solidFill>
                <a:effectLst/>
                <a:latin typeface="+mn-lt"/>
                <a:ea typeface="+mn-ea"/>
                <a:cs typeface="+mn-cs"/>
              </a:rPr>
              <a:t>(Seguridad) Requisitos de análisis o de pruebas adicionales que el asesor de seguridad considera necesarios para mitigar los riesgos de seguridad.</a:t>
            </a:r>
          </a:p>
          <a:p>
            <a:pPr lvl="0"/>
            <a:r>
              <a:rPr lang="es-ES" sz="1200" kern="1200" dirty="0">
                <a:solidFill>
                  <a:schemeClr val="tx1"/>
                </a:solidFill>
                <a:effectLst/>
                <a:latin typeface="+mn-lt"/>
                <a:ea typeface="+mn-ea"/>
                <a:cs typeface="+mn-cs"/>
              </a:rPr>
              <a:t>(Seguridad) Ámbito específico de los </a:t>
            </a:r>
            <a:r>
              <a:rPr lang="es-ES" sz="1200" u="sng" kern="1200" dirty="0">
                <a:solidFill>
                  <a:schemeClr val="tx1"/>
                </a:solidFill>
                <a:effectLst/>
                <a:latin typeface="+mn-lt"/>
                <a:ea typeface="+mn-ea"/>
                <a:cs typeface="+mn-cs"/>
                <a:hlinkClick r:id="rId5" action="ppaction://hlinkfile"/>
              </a:rPr>
              <a:t>requisitos en materia de pruebas de exploración de vulnerabilidades mediante datos aleatorios</a:t>
            </a:r>
            <a:r>
              <a:rPr lang="es-ES" sz="1200" kern="1200" dirty="0">
                <a:solidFill>
                  <a:schemeClr val="tx1"/>
                </a:solidFill>
                <a:effectLst/>
                <a:latin typeface="+mn-lt"/>
                <a:ea typeface="+mn-ea"/>
                <a:cs typeface="+mn-cs"/>
              </a:rPr>
              <a:t>.</a:t>
            </a:r>
          </a:p>
          <a:p>
            <a:pPr lvl="0"/>
            <a:r>
              <a:rPr lang="es-ES" sz="1200" kern="1200" dirty="0">
                <a:solidFill>
                  <a:schemeClr val="tx1"/>
                </a:solidFill>
                <a:effectLst/>
                <a:latin typeface="+mn-lt"/>
                <a:ea typeface="+mn-ea"/>
                <a:cs typeface="+mn-cs"/>
              </a:rPr>
              <a:t>(Privacidad) ¿Cuál es el nivel de impacto sobre la privacidad? La respuesta a esta pregunta se basa en las siguientes pautas: </a:t>
            </a:r>
          </a:p>
          <a:p>
            <a:pPr lvl="0"/>
            <a:r>
              <a:rPr lang="es-ES" sz="1200" kern="1200" dirty="0">
                <a:solidFill>
                  <a:schemeClr val="tx1"/>
                </a:solidFill>
                <a:effectLst/>
                <a:latin typeface="+mn-lt"/>
                <a:ea typeface="+mn-ea"/>
                <a:cs typeface="+mn-cs"/>
              </a:rPr>
              <a:t>P1 Alto riesgo para la privacidad. La característica, el producto o el servicio almacena o transfiere datos de identificación personal, cambia la configuración o las asociaciones de los tipos de archivo, o instala software.</a:t>
            </a:r>
          </a:p>
          <a:p>
            <a:pPr lvl="0"/>
            <a:r>
              <a:rPr lang="es-ES" sz="1200" kern="1200" dirty="0">
                <a:solidFill>
                  <a:schemeClr val="tx1"/>
                </a:solidFill>
                <a:effectLst/>
                <a:latin typeface="+mn-lt"/>
                <a:ea typeface="+mn-ea"/>
                <a:cs typeface="+mn-cs"/>
              </a:rPr>
              <a:t>P2 Riesgo moderado para la privacidad. El único comportamiento que afecta a la privacidad en la característica, el producto o el servicio es una transferencia de datos anónimos única e iniciada por el usuario (por ejemplo, el usuario hace clic en un vínculo y el software abre un sitio web).</a:t>
            </a:r>
          </a:p>
          <a:p>
            <a:pPr lvl="0"/>
            <a:r>
              <a:rPr lang="es-ES" sz="1200" kern="1200" dirty="0">
                <a:solidFill>
                  <a:schemeClr val="tx1"/>
                </a:solidFill>
                <a:effectLst/>
                <a:latin typeface="+mn-lt"/>
                <a:ea typeface="+mn-ea"/>
                <a:cs typeface="+mn-cs"/>
              </a:rPr>
              <a:t>P3 Bajo riesgo para la privacidad. La característica, el producto o el servicio no tiene ningún comportamiento que afecte a la privacidad. No hay ninguna transferencia de datos personales ni anónimos, no se almacenan datos de identificación personal en el equipo, no se modifica ninguna configuración en nombre del usuario y no se instala ningún software.</a:t>
            </a:r>
          </a:p>
          <a:p>
            <a:endParaRPr lang="es-ES" dirty="0"/>
          </a:p>
          <a:p>
            <a:endParaRPr lang="es-ES" dirty="0"/>
          </a:p>
          <a:p>
            <a:endParaRPr lang="es-ES" dirty="0"/>
          </a:p>
        </p:txBody>
      </p:sp>
      <p:sp>
        <p:nvSpPr>
          <p:cNvPr id="4" name="3 Marcador de número de diapositiva"/>
          <p:cNvSpPr>
            <a:spLocks noGrp="1"/>
          </p:cNvSpPr>
          <p:nvPr>
            <p:ph type="sldNum" sz="quarter" idx="10"/>
          </p:nvPr>
        </p:nvSpPr>
        <p:spPr/>
        <p:txBody>
          <a:bodyPr/>
          <a:lstStyle/>
          <a:p>
            <a:fld id="{064AA158-4D4D-427B-8540-6E8BBC9EB3DF}" type="slidenum">
              <a:rPr lang="es-ES" smtClean="0"/>
              <a:t>29</a:t>
            </a:fld>
            <a:endParaRPr lang="es-ES"/>
          </a:p>
        </p:txBody>
      </p:sp>
    </p:spTree>
    <p:extLst>
      <p:ext uri="{BB962C8B-B14F-4D97-AF65-F5344CB8AC3E}">
        <p14:creationId xmlns:p14="http://schemas.microsoft.com/office/powerpoint/2010/main" val="9456915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Requisitos</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La necesidad de considerar la seguridad y la privacidad “desde el primer instante” es un aspecto fundamental del desarrollo de un sistema seguro. La fase de planificación inicial es el momento más apropiado para definir los requisitos de fiabilidad de un proyecto de software. Al definir los requisitos en una fase temprana, los equipos de desarrollo podrán identificar los principales hitos y resultados, y es posible integrar la seguridad y la privacidad de modo que los planes y programaciones se alteren lo menos posible. Al principio de un proyecto, se realiza un análisis de los requisitos de seguridad y privacidad, el cual incluye la especificación de los requisitos de seguridad mínimos de la aplicación en el entorno operativo previsto, así como la especificación y la implementación de un sistema de seguimiento de los elementos de trabajo y de las vulnerabilidades de seguridad. </a:t>
            </a:r>
          </a:p>
          <a:p>
            <a:endParaRPr lang="es-ES" dirty="0"/>
          </a:p>
          <a:p>
            <a:r>
              <a:rPr lang="es-ES" sz="1200" b="1" u="sng" kern="1200" dirty="0">
                <a:solidFill>
                  <a:schemeClr val="tx1"/>
                </a:solidFill>
                <a:effectLst/>
                <a:latin typeface="+mn-lt"/>
                <a:ea typeface="+mn-ea"/>
                <a:cs typeface="+mn-cs"/>
              </a:rPr>
              <a:t>Procedimiento 3 de SDL: umbrales de calidad y límites de errores</a:t>
            </a:r>
          </a:p>
          <a:p>
            <a:r>
              <a:rPr lang="es-ES" sz="1200" kern="1200" dirty="0">
                <a:solidFill>
                  <a:schemeClr val="tx1"/>
                </a:solidFill>
                <a:effectLst/>
                <a:latin typeface="+mn-lt"/>
                <a:ea typeface="+mn-ea"/>
                <a:cs typeface="+mn-cs"/>
              </a:rPr>
              <a:t>Se usan umbrales de calidad y </a:t>
            </a:r>
            <a:r>
              <a:rPr lang="es-ES" sz="1200" i="1" kern="1200" dirty="0">
                <a:solidFill>
                  <a:schemeClr val="tx1"/>
                </a:solidFill>
                <a:effectLst/>
                <a:latin typeface="+mn-lt"/>
                <a:ea typeface="+mn-ea"/>
                <a:cs typeface="+mn-cs"/>
              </a:rPr>
              <a:t>límites de errores</a:t>
            </a:r>
            <a:r>
              <a:rPr lang="es-ES" sz="1200" kern="1200" dirty="0">
                <a:solidFill>
                  <a:schemeClr val="tx1"/>
                </a:solidFill>
                <a:effectLst/>
                <a:latin typeface="+mn-lt"/>
                <a:ea typeface="+mn-ea"/>
                <a:cs typeface="+mn-cs"/>
              </a:rPr>
              <a:t> para establecer niveles mínimos aceptables de calidad en materia de seguridad y privacidad. Al definir estos criterios al comienzo de un proyecto, se comprenderán mejor los riesgos asociados a los problemas de seguridad y los equipos podrán identificar y corregir los errores de seguridad durante el desarrollo. El equipo de proyecto debe negociar los umbrales de calidad (por ejemplo, todas las advertencias del compilador se deben evaluar y corregir antes de proteger el código) para cada fase de desarrollo; a continuación, el asesor de seguridad debe aprobarlos y puede agregar aclaraciones específicas del proyecto así como requisitos de seguridad más estrictos según proceda. El equipo de proyecto también debe ilustrar la conformidad con los umbrales de calidad negociados para cumplimentar la </a:t>
            </a:r>
            <a:r>
              <a:rPr lang="es-ES" sz="1200" u="sng" kern="1200" dirty="0">
                <a:solidFill>
                  <a:schemeClr val="tx1"/>
                </a:solidFill>
                <a:effectLst/>
                <a:latin typeface="+mn-lt"/>
                <a:ea typeface="+mn-ea"/>
                <a:cs typeface="+mn-cs"/>
                <a:hlinkClick r:id="rId3" action="ppaction://hlinkfile"/>
              </a:rPr>
              <a:t>revisión de seguridad final.</a:t>
            </a:r>
            <a:r>
              <a:rPr lang="es-ES" sz="1200" kern="1200" dirty="0">
                <a:solidFill>
                  <a:schemeClr val="tx1"/>
                </a:solidFill>
                <a:effectLst/>
                <a:latin typeface="+mn-lt"/>
                <a:ea typeface="+mn-ea"/>
                <a:cs typeface="+mn-cs"/>
              </a:rPr>
              <a:t> </a:t>
            </a:r>
          </a:p>
          <a:p>
            <a:r>
              <a:rPr lang="es-ES" sz="1200" kern="1200" dirty="0">
                <a:solidFill>
                  <a:schemeClr val="tx1"/>
                </a:solidFill>
                <a:effectLst/>
                <a:latin typeface="+mn-lt"/>
                <a:ea typeface="+mn-ea"/>
                <a:cs typeface="+mn-cs"/>
              </a:rPr>
              <a:t>Un límite de errores es un umbral de calidad que se aplica a todo el proyecto de desarrollo de software. Se usa para definir los umbrales de gravedad de las vulnerabilidades de seguridad; por ejemplo, en la aplicación no hay vulnerabilidades conocidas que estén clasificadas como “críticas” o “importantes” en el momento de su lanzamiento. Una vez definido, el límite de errores no debe bajarse nunca. Un límite de errores dinámico es un objetivo no fijo que probablemente no se entienda muy bien en el ámbito del desarrollo.</a:t>
            </a:r>
          </a:p>
          <a:p>
            <a:endParaRPr lang="es-ES" sz="1200" kern="1200" dirty="0">
              <a:solidFill>
                <a:schemeClr val="tx1"/>
              </a:solidFill>
              <a:effectLst/>
              <a:latin typeface="+mn-lt"/>
              <a:ea typeface="+mn-ea"/>
              <a:cs typeface="+mn-cs"/>
            </a:endParaRPr>
          </a:p>
          <a:p>
            <a:r>
              <a:rPr lang="es-ES" sz="1200" b="1" u="sng" kern="1200" dirty="0">
                <a:solidFill>
                  <a:schemeClr val="tx1"/>
                </a:solidFill>
                <a:effectLst/>
                <a:latin typeface="+mn-lt"/>
                <a:ea typeface="+mn-ea"/>
                <a:cs typeface="+mn-cs"/>
              </a:rPr>
              <a:t>Procedimiento 4 de SDL: evaluación de los riesgos de seguridad y privacidad</a:t>
            </a:r>
          </a:p>
          <a:p>
            <a:r>
              <a:rPr lang="es-ES" sz="1200" kern="1200" dirty="0">
                <a:solidFill>
                  <a:schemeClr val="tx1"/>
                </a:solidFill>
                <a:effectLst/>
                <a:latin typeface="+mn-lt"/>
                <a:ea typeface="+mn-ea"/>
                <a:cs typeface="+mn-cs"/>
              </a:rPr>
              <a:t>Las evaluaciones de los riesgos de seguridad (SRA) y de privacidad (PRA) son procesos obligatorios que identifican los aspectos funcionales del software que requieren una revisión exhaustiva. </a:t>
            </a:r>
            <a:r>
              <a:rPr lang="en-US" sz="1200" kern="1200" dirty="0" err="1">
                <a:solidFill>
                  <a:schemeClr val="tx1"/>
                </a:solidFill>
                <a:effectLst/>
                <a:latin typeface="+mn-lt"/>
                <a:ea typeface="+mn-ea"/>
                <a:cs typeface="+mn-cs"/>
              </a:rPr>
              <a:t>Dichas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evaluaciones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deben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incluir</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siguiente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información</a:t>
            </a:r>
            <a:r>
              <a:rPr lang="en-US" sz="1200" kern="1200" dirty="0">
                <a:solidFill>
                  <a:schemeClr val="tx1"/>
                </a:solidFill>
                <a:effectLst/>
                <a:latin typeface="+mn-lt"/>
                <a:ea typeface="+mn-ea"/>
                <a:cs typeface="+mn-cs"/>
              </a:rPr>
              <a:t>:</a:t>
            </a:r>
            <a:endParaRPr lang="es-ES"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(Seguridad) Partes del proyecto que van a requerir </a:t>
            </a:r>
            <a:r>
              <a:rPr lang="es-ES" sz="1200" u="sng" kern="1200" dirty="0">
                <a:solidFill>
                  <a:schemeClr val="tx1"/>
                </a:solidFill>
                <a:effectLst/>
                <a:latin typeface="+mn-lt"/>
                <a:ea typeface="+mn-ea"/>
                <a:cs typeface="+mn-cs"/>
                <a:hlinkClick r:id="rId4" action="ppaction://hlinkfile"/>
              </a:rPr>
              <a:t>modelos de riesgos</a:t>
            </a:r>
            <a:r>
              <a:rPr lang="es-ES" sz="1200" kern="1200" dirty="0">
                <a:solidFill>
                  <a:schemeClr val="tx1"/>
                </a:solidFill>
                <a:effectLst/>
                <a:latin typeface="+mn-lt"/>
                <a:ea typeface="+mn-ea"/>
                <a:cs typeface="+mn-cs"/>
              </a:rPr>
              <a:t> antes del lanzamiento.</a:t>
            </a:r>
          </a:p>
          <a:p>
            <a:pPr lvl="0"/>
            <a:r>
              <a:rPr lang="es-ES" sz="1200" kern="1200" dirty="0">
                <a:solidFill>
                  <a:schemeClr val="tx1"/>
                </a:solidFill>
                <a:effectLst/>
                <a:latin typeface="+mn-lt"/>
                <a:ea typeface="+mn-ea"/>
                <a:cs typeface="+mn-cs"/>
              </a:rPr>
              <a:t>(Seguridad) Las partes del proyecto que van a requerir revisiones del diseño de seguridad antes del lanzamiento.</a:t>
            </a:r>
          </a:p>
          <a:p>
            <a:pPr lvl="0"/>
            <a:r>
              <a:rPr lang="es-ES" sz="1200" kern="1200" dirty="0">
                <a:solidFill>
                  <a:schemeClr val="tx1"/>
                </a:solidFill>
                <a:effectLst/>
                <a:latin typeface="+mn-lt"/>
                <a:ea typeface="+mn-ea"/>
                <a:cs typeface="+mn-cs"/>
              </a:rPr>
              <a:t>(Seguridad) Partes del proyecto (si procede) que van a requerir pruebas de penetración por parte de un grupo externo al equipo de proyecto y acordado mutuamente. </a:t>
            </a:r>
          </a:p>
          <a:p>
            <a:pPr lvl="0"/>
            <a:r>
              <a:rPr lang="es-ES" sz="1200" kern="1200" dirty="0">
                <a:solidFill>
                  <a:schemeClr val="tx1"/>
                </a:solidFill>
                <a:effectLst/>
                <a:latin typeface="+mn-lt"/>
                <a:ea typeface="+mn-ea"/>
                <a:cs typeface="+mn-cs"/>
              </a:rPr>
              <a:t>(Seguridad) Requisitos de análisis o de pruebas adicionales que el asesor de seguridad considera necesarios para mitigar los riesgos de seguridad.</a:t>
            </a:r>
          </a:p>
          <a:p>
            <a:pPr lvl="0"/>
            <a:r>
              <a:rPr lang="es-ES" sz="1200" kern="1200" dirty="0">
                <a:solidFill>
                  <a:schemeClr val="tx1"/>
                </a:solidFill>
                <a:effectLst/>
                <a:latin typeface="+mn-lt"/>
                <a:ea typeface="+mn-ea"/>
                <a:cs typeface="+mn-cs"/>
              </a:rPr>
              <a:t>(Seguridad) Ámbito específico de los </a:t>
            </a:r>
            <a:r>
              <a:rPr lang="es-ES" sz="1200" u="sng" kern="1200" dirty="0">
                <a:solidFill>
                  <a:schemeClr val="tx1"/>
                </a:solidFill>
                <a:effectLst/>
                <a:latin typeface="+mn-lt"/>
                <a:ea typeface="+mn-ea"/>
                <a:cs typeface="+mn-cs"/>
                <a:hlinkClick r:id="rId5" action="ppaction://hlinkfile"/>
              </a:rPr>
              <a:t>requisitos en materia de pruebas de exploración de vulnerabilidades mediante datos aleatorios</a:t>
            </a:r>
            <a:r>
              <a:rPr lang="es-ES" sz="1200" kern="1200" dirty="0">
                <a:solidFill>
                  <a:schemeClr val="tx1"/>
                </a:solidFill>
                <a:effectLst/>
                <a:latin typeface="+mn-lt"/>
                <a:ea typeface="+mn-ea"/>
                <a:cs typeface="+mn-cs"/>
              </a:rPr>
              <a:t>.</a:t>
            </a:r>
          </a:p>
          <a:p>
            <a:pPr lvl="0"/>
            <a:r>
              <a:rPr lang="es-ES" sz="1200" kern="1200" dirty="0">
                <a:solidFill>
                  <a:schemeClr val="tx1"/>
                </a:solidFill>
                <a:effectLst/>
                <a:latin typeface="+mn-lt"/>
                <a:ea typeface="+mn-ea"/>
                <a:cs typeface="+mn-cs"/>
              </a:rPr>
              <a:t>(Privacidad) ¿Cuál es el nivel de impacto sobre la privacidad? La respuesta a esta pregunta se basa en las siguientes pautas: </a:t>
            </a:r>
          </a:p>
          <a:p>
            <a:pPr lvl="0"/>
            <a:r>
              <a:rPr lang="es-ES" sz="1200" kern="1200" dirty="0">
                <a:solidFill>
                  <a:schemeClr val="tx1"/>
                </a:solidFill>
                <a:effectLst/>
                <a:latin typeface="+mn-lt"/>
                <a:ea typeface="+mn-ea"/>
                <a:cs typeface="+mn-cs"/>
              </a:rPr>
              <a:t>P1 Alto riesgo para la privacidad. La característica, el producto o el servicio almacena o transfiere datos de identificación personal, cambia la configuración o las asociaciones de los tipos de archivo, o instala software.</a:t>
            </a:r>
          </a:p>
          <a:p>
            <a:pPr lvl="0"/>
            <a:r>
              <a:rPr lang="es-ES" sz="1200" kern="1200" dirty="0">
                <a:solidFill>
                  <a:schemeClr val="tx1"/>
                </a:solidFill>
                <a:effectLst/>
                <a:latin typeface="+mn-lt"/>
                <a:ea typeface="+mn-ea"/>
                <a:cs typeface="+mn-cs"/>
              </a:rPr>
              <a:t>P2 Riesgo moderado para la privacidad. El único comportamiento que afecta a la privacidad en la característica, el producto o el servicio es una transferencia de datos anónimos única e iniciada por el usuario (por ejemplo, el usuario hace clic en un vínculo y el software abre un sitio web).</a:t>
            </a:r>
          </a:p>
          <a:p>
            <a:pPr lvl="0"/>
            <a:r>
              <a:rPr lang="es-ES" sz="1200" kern="1200" dirty="0">
                <a:solidFill>
                  <a:schemeClr val="tx1"/>
                </a:solidFill>
                <a:effectLst/>
                <a:latin typeface="+mn-lt"/>
                <a:ea typeface="+mn-ea"/>
                <a:cs typeface="+mn-cs"/>
              </a:rPr>
              <a:t>P3 Bajo riesgo para la privacidad. La característica, el producto o el servicio no tiene ningún comportamiento que afecte a la privacidad. No hay ninguna transferencia de datos personales ni anónimos, no se almacenan datos de identificación personal en el equipo, no se modifica ninguna configuración en nombre del usuario y no se instala ningún software.</a:t>
            </a:r>
          </a:p>
          <a:p>
            <a:endParaRPr lang="es-ES" dirty="0"/>
          </a:p>
          <a:p>
            <a:endParaRPr lang="es-ES" dirty="0"/>
          </a:p>
          <a:p>
            <a:endParaRPr lang="es-ES" dirty="0"/>
          </a:p>
        </p:txBody>
      </p:sp>
      <p:sp>
        <p:nvSpPr>
          <p:cNvPr id="4" name="3 Marcador de número de diapositiva"/>
          <p:cNvSpPr>
            <a:spLocks noGrp="1"/>
          </p:cNvSpPr>
          <p:nvPr>
            <p:ph type="sldNum" sz="quarter" idx="10"/>
          </p:nvPr>
        </p:nvSpPr>
        <p:spPr/>
        <p:txBody>
          <a:bodyPr/>
          <a:lstStyle/>
          <a:p>
            <a:fld id="{064AA158-4D4D-427B-8540-6E8BBC9EB3DF}" type="slidenum">
              <a:rPr lang="es-ES" smtClean="0"/>
              <a:t>30</a:t>
            </a:fld>
            <a:endParaRPr lang="es-ES"/>
          </a:p>
        </p:txBody>
      </p:sp>
    </p:spTree>
    <p:extLst>
      <p:ext uri="{BB962C8B-B14F-4D97-AF65-F5344CB8AC3E}">
        <p14:creationId xmlns:p14="http://schemas.microsoft.com/office/powerpoint/2010/main" val="9456915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Requisitos</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La necesidad de considerar la seguridad y la privacidad “desde el primer instante” es un aspecto fundamental del desarrollo de un sistema seguro. La fase de planificación inicial es el momento más apropiado para definir los requisitos de fiabilidad de un proyecto de software. Al definir los requisitos en una fase temprana, los equipos de desarrollo podrán identificar los principales hitos y resultados, y es posible integrar la seguridad y la privacidad de modo que los planes y programaciones se alteren lo menos posible. Al principio de un proyecto, se realiza un análisis de los requisitos de seguridad y privacidad, el cual incluye la especificación de los requisitos de seguridad mínimos de la aplicación en el entorno operativo previsto, así como la especificación y la implementación de un sistema de seguimiento de los elementos de trabajo y de las vulnerabilidades de seguridad. </a:t>
            </a:r>
          </a:p>
          <a:p>
            <a:endParaRPr lang="es-ES" dirty="0"/>
          </a:p>
          <a:p>
            <a:r>
              <a:rPr lang="es-ES" sz="1200" b="1" u="sng" kern="1200" dirty="0">
                <a:solidFill>
                  <a:schemeClr val="tx1"/>
                </a:solidFill>
                <a:effectLst/>
                <a:latin typeface="+mn-lt"/>
                <a:ea typeface="+mn-ea"/>
                <a:cs typeface="+mn-cs"/>
              </a:rPr>
              <a:t>Procedimiento 3 de SDL: umbrales de calidad y límites de errores</a:t>
            </a:r>
          </a:p>
          <a:p>
            <a:r>
              <a:rPr lang="es-ES" sz="1200" kern="1200" dirty="0">
                <a:solidFill>
                  <a:schemeClr val="tx1"/>
                </a:solidFill>
                <a:effectLst/>
                <a:latin typeface="+mn-lt"/>
                <a:ea typeface="+mn-ea"/>
                <a:cs typeface="+mn-cs"/>
              </a:rPr>
              <a:t>Se usan umbrales de calidad y </a:t>
            </a:r>
            <a:r>
              <a:rPr lang="es-ES" sz="1200" i="1" kern="1200" dirty="0">
                <a:solidFill>
                  <a:schemeClr val="tx1"/>
                </a:solidFill>
                <a:effectLst/>
                <a:latin typeface="+mn-lt"/>
                <a:ea typeface="+mn-ea"/>
                <a:cs typeface="+mn-cs"/>
              </a:rPr>
              <a:t>límites de errores</a:t>
            </a:r>
            <a:r>
              <a:rPr lang="es-ES" sz="1200" kern="1200" dirty="0">
                <a:solidFill>
                  <a:schemeClr val="tx1"/>
                </a:solidFill>
                <a:effectLst/>
                <a:latin typeface="+mn-lt"/>
                <a:ea typeface="+mn-ea"/>
                <a:cs typeface="+mn-cs"/>
              </a:rPr>
              <a:t> para establecer niveles mínimos aceptables de calidad en materia de seguridad y privacidad. Al definir estos criterios al comienzo de un proyecto, se comprenderán mejor los riesgos asociados a los problemas de seguridad y los equipos podrán identificar y corregir los errores de seguridad durante el desarrollo. El equipo de proyecto debe negociar los umbrales de calidad (por ejemplo, todas las advertencias del compilador se deben evaluar y corregir antes de proteger el código) para cada fase de desarrollo; a continuación, el asesor de seguridad debe aprobarlos y puede agregar aclaraciones específicas del proyecto así como requisitos de seguridad más estrictos según proceda. El equipo de proyecto también debe ilustrar la conformidad con los umbrales de calidad negociados para cumplimentar la </a:t>
            </a:r>
            <a:r>
              <a:rPr lang="es-ES" sz="1200" u="sng" kern="1200" dirty="0">
                <a:solidFill>
                  <a:schemeClr val="tx1"/>
                </a:solidFill>
                <a:effectLst/>
                <a:latin typeface="+mn-lt"/>
                <a:ea typeface="+mn-ea"/>
                <a:cs typeface="+mn-cs"/>
                <a:hlinkClick r:id="rId3" action="ppaction://hlinkfile"/>
              </a:rPr>
              <a:t>revisión de seguridad final.</a:t>
            </a:r>
            <a:r>
              <a:rPr lang="es-ES" sz="1200" kern="1200" dirty="0">
                <a:solidFill>
                  <a:schemeClr val="tx1"/>
                </a:solidFill>
                <a:effectLst/>
                <a:latin typeface="+mn-lt"/>
                <a:ea typeface="+mn-ea"/>
                <a:cs typeface="+mn-cs"/>
              </a:rPr>
              <a:t> </a:t>
            </a:r>
          </a:p>
          <a:p>
            <a:r>
              <a:rPr lang="es-ES" sz="1200" kern="1200" dirty="0">
                <a:solidFill>
                  <a:schemeClr val="tx1"/>
                </a:solidFill>
                <a:effectLst/>
                <a:latin typeface="+mn-lt"/>
                <a:ea typeface="+mn-ea"/>
                <a:cs typeface="+mn-cs"/>
              </a:rPr>
              <a:t>Un límite de errores es un umbral de calidad que se aplica a todo el proyecto de desarrollo de software. Se usa para definir los umbrales de gravedad de las vulnerabilidades de seguridad; por ejemplo, en la aplicación no hay vulnerabilidades conocidas que estén clasificadas como “críticas” o “importantes” en el momento de su lanzamiento. Una vez definido, el límite de errores no debe bajarse nunca. Un límite de errores dinámico es un objetivo no fijo que probablemente no se entienda muy bien en el ámbito del desarrollo.</a:t>
            </a:r>
          </a:p>
          <a:p>
            <a:endParaRPr lang="es-ES" sz="1200" kern="1200" dirty="0">
              <a:solidFill>
                <a:schemeClr val="tx1"/>
              </a:solidFill>
              <a:effectLst/>
              <a:latin typeface="+mn-lt"/>
              <a:ea typeface="+mn-ea"/>
              <a:cs typeface="+mn-cs"/>
            </a:endParaRPr>
          </a:p>
          <a:p>
            <a:r>
              <a:rPr lang="es-ES" sz="1200" b="1" u="sng" kern="1200" dirty="0">
                <a:solidFill>
                  <a:schemeClr val="tx1"/>
                </a:solidFill>
                <a:effectLst/>
                <a:latin typeface="+mn-lt"/>
                <a:ea typeface="+mn-ea"/>
                <a:cs typeface="+mn-cs"/>
              </a:rPr>
              <a:t>Procedimiento 4 de SDL: evaluación de los riesgos de seguridad y privacidad</a:t>
            </a:r>
          </a:p>
          <a:p>
            <a:r>
              <a:rPr lang="es-ES" sz="1200" kern="1200" dirty="0">
                <a:solidFill>
                  <a:schemeClr val="tx1"/>
                </a:solidFill>
                <a:effectLst/>
                <a:latin typeface="+mn-lt"/>
                <a:ea typeface="+mn-ea"/>
                <a:cs typeface="+mn-cs"/>
              </a:rPr>
              <a:t>Las evaluaciones de los riesgos de seguridad (SRA) y de privacidad (PRA) son procesos obligatorios que identifican los aspectos funcionales del software que requieren una revisión exhaustiva. </a:t>
            </a:r>
            <a:r>
              <a:rPr lang="en-US" sz="1200" kern="1200" dirty="0" err="1">
                <a:solidFill>
                  <a:schemeClr val="tx1"/>
                </a:solidFill>
                <a:effectLst/>
                <a:latin typeface="+mn-lt"/>
                <a:ea typeface="+mn-ea"/>
                <a:cs typeface="+mn-cs"/>
              </a:rPr>
              <a:t>Dichas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evaluaciones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deben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incluir</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siguiente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información</a:t>
            </a:r>
            <a:r>
              <a:rPr lang="en-US" sz="1200" kern="1200" dirty="0">
                <a:solidFill>
                  <a:schemeClr val="tx1"/>
                </a:solidFill>
                <a:effectLst/>
                <a:latin typeface="+mn-lt"/>
                <a:ea typeface="+mn-ea"/>
                <a:cs typeface="+mn-cs"/>
              </a:rPr>
              <a:t>:</a:t>
            </a:r>
            <a:endParaRPr lang="es-ES"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(Seguridad) Partes del proyecto que van a requerir </a:t>
            </a:r>
            <a:r>
              <a:rPr lang="es-ES" sz="1200" u="sng" kern="1200" dirty="0">
                <a:solidFill>
                  <a:schemeClr val="tx1"/>
                </a:solidFill>
                <a:effectLst/>
                <a:latin typeface="+mn-lt"/>
                <a:ea typeface="+mn-ea"/>
                <a:cs typeface="+mn-cs"/>
                <a:hlinkClick r:id="rId4" action="ppaction://hlinkfile"/>
              </a:rPr>
              <a:t>modelos de riesgos</a:t>
            </a:r>
            <a:r>
              <a:rPr lang="es-ES" sz="1200" kern="1200" dirty="0">
                <a:solidFill>
                  <a:schemeClr val="tx1"/>
                </a:solidFill>
                <a:effectLst/>
                <a:latin typeface="+mn-lt"/>
                <a:ea typeface="+mn-ea"/>
                <a:cs typeface="+mn-cs"/>
              </a:rPr>
              <a:t> antes del lanzamiento.</a:t>
            </a:r>
          </a:p>
          <a:p>
            <a:pPr lvl="0"/>
            <a:r>
              <a:rPr lang="es-ES" sz="1200" kern="1200" dirty="0">
                <a:solidFill>
                  <a:schemeClr val="tx1"/>
                </a:solidFill>
                <a:effectLst/>
                <a:latin typeface="+mn-lt"/>
                <a:ea typeface="+mn-ea"/>
                <a:cs typeface="+mn-cs"/>
              </a:rPr>
              <a:t>(Seguridad) Las partes del proyecto que van a requerir revisiones del diseño de seguridad antes del lanzamiento.</a:t>
            </a:r>
          </a:p>
          <a:p>
            <a:pPr lvl="0"/>
            <a:r>
              <a:rPr lang="es-ES" sz="1200" kern="1200" dirty="0">
                <a:solidFill>
                  <a:schemeClr val="tx1"/>
                </a:solidFill>
                <a:effectLst/>
                <a:latin typeface="+mn-lt"/>
                <a:ea typeface="+mn-ea"/>
                <a:cs typeface="+mn-cs"/>
              </a:rPr>
              <a:t>(Seguridad) Partes del proyecto (si procede) que van a requerir pruebas de penetración por parte de un grupo externo al equipo de proyecto y acordado mutuamente. </a:t>
            </a:r>
          </a:p>
          <a:p>
            <a:pPr lvl="0"/>
            <a:r>
              <a:rPr lang="es-ES" sz="1200" kern="1200" dirty="0">
                <a:solidFill>
                  <a:schemeClr val="tx1"/>
                </a:solidFill>
                <a:effectLst/>
                <a:latin typeface="+mn-lt"/>
                <a:ea typeface="+mn-ea"/>
                <a:cs typeface="+mn-cs"/>
              </a:rPr>
              <a:t>(Seguridad) Requisitos de análisis o de pruebas adicionales que el asesor de seguridad considera necesarios para mitigar los riesgos de seguridad.</a:t>
            </a:r>
          </a:p>
          <a:p>
            <a:pPr lvl="0"/>
            <a:r>
              <a:rPr lang="es-ES" sz="1200" kern="1200" dirty="0">
                <a:solidFill>
                  <a:schemeClr val="tx1"/>
                </a:solidFill>
                <a:effectLst/>
                <a:latin typeface="+mn-lt"/>
                <a:ea typeface="+mn-ea"/>
                <a:cs typeface="+mn-cs"/>
              </a:rPr>
              <a:t>(Seguridad) Ámbito específico de los </a:t>
            </a:r>
            <a:r>
              <a:rPr lang="es-ES" sz="1200" u="sng" kern="1200" dirty="0">
                <a:solidFill>
                  <a:schemeClr val="tx1"/>
                </a:solidFill>
                <a:effectLst/>
                <a:latin typeface="+mn-lt"/>
                <a:ea typeface="+mn-ea"/>
                <a:cs typeface="+mn-cs"/>
                <a:hlinkClick r:id="rId5" action="ppaction://hlinkfile"/>
              </a:rPr>
              <a:t>requisitos en materia de pruebas de exploración de vulnerabilidades mediante datos aleatorios</a:t>
            </a:r>
            <a:r>
              <a:rPr lang="es-ES" sz="1200" kern="1200" dirty="0">
                <a:solidFill>
                  <a:schemeClr val="tx1"/>
                </a:solidFill>
                <a:effectLst/>
                <a:latin typeface="+mn-lt"/>
                <a:ea typeface="+mn-ea"/>
                <a:cs typeface="+mn-cs"/>
              </a:rPr>
              <a:t>.</a:t>
            </a:r>
          </a:p>
          <a:p>
            <a:pPr lvl="0"/>
            <a:r>
              <a:rPr lang="es-ES" sz="1200" kern="1200" dirty="0">
                <a:solidFill>
                  <a:schemeClr val="tx1"/>
                </a:solidFill>
                <a:effectLst/>
                <a:latin typeface="+mn-lt"/>
                <a:ea typeface="+mn-ea"/>
                <a:cs typeface="+mn-cs"/>
              </a:rPr>
              <a:t>(Privacidad) ¿Cuál es el nivel de impacto sobre la privacidad? La respuesta a esta pregunta se basa en las siguientes pautas: </a:t>
            </a:r>
          </a:p>
          <a:p>
            <a:pPr lvl="0"/>
            <a:r>
              <a:rPr lang="es-ES" sz="1200" kern="1200" dirty="0">
                <a:solidFill>
                  <a:schemeClr val="tx1"/>
                </a:solidFill>
                <a:effectLst/>
                <a:latin typeface="+mn-lt"/>
                <a:ea typeface="+mn-ea"/>
                <a:cs typeface="+mn-cs"/>
              </a:rPr>
              <a:t>P1 Alto riesgo para la privacidad. La característica, el producto o el servicio almacena o transfiere datos de identificación personal, cambia la configuración o las asociaciones de los tipos de archivo, o instala software.</a:t>
            </a:r>
          </a:p>
          <a:p>
            <a:pPr lvl="0"/>
            <a:r>
              <a:rPr lang="es-ES" sz="1200" kern="1200" dirty="0">
                <a:solidFill>
                  <a:schemeClr val="tx1"/>
                </a:solidFill>
                <a:effectLst/>
                <a:latin typeface="+mn-lt"/>
                <a:ea typeface="+mn-ea"/>
                <a:cs typeface="+mn-cs"/>
              </a:rPr>
              <a:t>P2 Riesgo moderado para la privacidad. El único comportamiento que afecta a la privacidad en la característica, el producto o el servicio es una transferencia de datos anónimos única e iniciada por el usuario (por ejemplo, el usuario hace clic en un vínculo y el software abre un sitio web).</a:t>
            </a:r>
          </a:p>
          <a:p>
            <a:pPr lvl="0"/>
            <a:r>
              <a:rPr lang="es-ES" sz="1200" kern="1200" dirty="0">
                <a:solidFill>
                  <a:schemeClr val="tx1"/>
                </a:solidFill>
                <a:effectLst/>
                <a:latin typeface="+mn-lt"/>
                <a:ea typeface="+mn-ea"/>
                <a:cs typeface="+mn-cs"/>
              </a:rPr>
              <a:t>P3 Bajo riesgo para la privacidad. La característica, el producto o el servicio no tiene ningún comportamiento que afecte a la privacidad. No hay ninguna transferencia de datos personales ni anónimos, no se almacenan datos de identificación personal en el equipo, no se modifica ninguna configuración en nombre del usuario y no se instala ningún software.</a:t>
            </a:r>
          </a:p>
          <a:p>
            <a:endParaRPr lang="es-ES" dirty="0"/>
          </a:p>
          <a:p>
            <a:endParaRPr lang="es-ES" dirty="0"/>
          </a:p>
          <a:p>
            <a:endParaRPr lang="es-ES" dirty="0"/>
          </a:p>
        </p:txBody>
      </p:sp>
      <p:sp>
        <p:nvSpPr>
          <p:cNvPr id="4" name="3 Marcador de número de diapositiva"/>
          <p:cNvSpPr>
            <a:spLocks noGrp="1"/>
          </p:cNvSpPr>
          <p:nvPr>
            <p:ph type="sldNum" sz="quarter" idx="10"/>
          </p:nvPr>
        </p:nvSpPr>
        <p:spPr/>
        <p:txBody>
          <a:bodyPr/>
          <a:lstStyle/>
          <a:p>
            <a:fld id="{064AA158-4D4D-427B-8540-6E8BBC9EB3DF}" type="slidenum">
              <a:rPr lang="es-ES" smtClean="0"/>
              <a:t>31</a:t>
            </a:fld>
            <a:endParaRPr lang="es-ES"/>
          </a:p>
        </p:txBody>
      </p:sp>
    </p:spTree>
    <p:extLst>
      <p:ext uri="{BB962C8B-B14F-4D97-AF65-F5344CB8AC3E}">
        <p14:creationId xmlns:p14="http://schemas.microsoft.com/office/powerpoint/2010/main" val="9456915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Requisitos</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La necesidad de considerar la seguridad y la privacidad “desde el primer instante” es un aspecto fundamental del desarrollo de un sistema seguro. La fase de planificación inicial es el momento más apropiado para definir los requisitos de fiabilidad de un proyecto de software. Al definir los requisitos en una fase temprana, los equipos de desarrollo podrán identificar los principales hitos y resultados, y es posible integrar la seguridad y la privacidad de modo que los planes y programaciones se alteren lo menos posible. Al principio de un proyecto, se realiza un análisis de los requisitos de seguridad y privacidad, el cual incluye la especificación de los requisitos de seguridad mínimos de la aplicación en el entorno operativo previsto, así como la especificación y la implementación de un sistema de seguimiento de los elementos de trabajo y de las vulnerabilidades de seguridad. </a:t>
            </a:r>
          </a:p>
          <a:p>
            <a:endParaRPr lang="es-ES" dirty="0"/>
          </a:p>
          <a:p>
            <a:r>
              <a:rPr lang="es-ES" sz="1200" b="1" u="sng" kern="1200" dirty="0">
                <a:solidFill>
                  <a:schemeClr val="tx1"/>
                </a:solidFill>
                <a:effectLst/>
                <a:latin typeface="+mn-lt"/>
                <a:ea typeface="+mn-ea"/>
                <a:cs typeface="+mn-cs"/>
              </a:rPr>
              <a:t>Procedimiento 3 de SDL: umbrales de calidad y límites de errores</a:t>
            </a:r>
          </a:p>
          <a:p>
            <a:r>
              <a:rPr lang="es-ES" sz="1200" kern="1200" dirty="0">
                <a:solidFill>
                  <a:schemeClr val="tx1"/>
                </a:solidFill>
                <a:effectLst/>
                <a:latin typeface="+mn-lt"/>
                <a:ea typeface="+mn-ea"/>
                <a:cs typeface="+mn-cs"/>
              </a:rPr>
              <a:t>Se usan umbrales de calidad y </a:t>
            </a:r>
            <a:r>
              <a:rPr lang="es-ES" sz="1200" i="1" kern="1200" dirty="0">
                <a:solidFill>
                  <a:schemeClr val="tx1"/>
                </a:solidFill>
                <a:effectLst/>
                <a:latin typeface="+mn-lt"/>
                <a:ea typeface="+mn-ea"/>
                <a:cs typeface="+mn-cs"/>
              </a:rPr>
              <a:t>límites de errores</a:t>
            </a:r>
            <a:r>
              <a:rPr lang="es-ES" sz="1200" kern="1200" dirty="0">
                <a:solidFill>
                  <a:schemeClr val="tx1"/>
                </a:solidFill>
                <a:effectLst/>
                <a:latin typeface="+mn-lt"/>
                <a:ea typeface="+mn-ea"/>
                <a:cs typeface="+mn-cs"/>
              </a:rPr>
              <a:t> para establecer niveles mínimos aceptables de calidad en materia de seguridad y privacidad. Al definir estos criterios al comienzo de un proyecto, se comprenderán mejor los riesgos asociados a los problemas de seguridad y los equipos podrán identificar y corregir los errores de seguridad durante el desarrollo. El equipo de proyecto debe negociar los umbrales de calidad (por ejemplo, todas las advertencias del compilador se deben evaluar y corregir antes de proteger el código) para cada fase de desarrollo; a continuación, el asesor de seguridad debe aprobarlos y puede agregar aclaraciones específicas del proyecto así como requisitos de seguridad más estrictos según proceda. El equipo de proyecto también debe ilustrar la conformidad con los umbrales de calidad negociados para cumplimentar la </a:t>
            </a:r>
            <a:r>
              <a:rPr lang="es-ES" sz="1200" u="sng" kern="1200" dirty="0">
                <a:solidFill>
                  <a:schemeClr val="tx1"/>
                </a:solidFill>
                <a:effectLst/>
                <a:latin typeface="+mn-lt"/>
                <a:ea typeface="+mn-ea"/>
                <a:cs typeface="+mn-cs"/>
                <a:hlinkClick r:id="rId3" action="ppaction://hlinkfile"/>
              </a:rPr>
              <a:t>revisión de seguridad final.</a:t>
            </a:r>
            <a:r>
              <a:rPr lang="es-ES" sz="1200" kern="1200" dirty="0">
                <a:solidFill>
                  <a:schemeClr val="tx1"/>
                </a:solidFill>
                <a:effectLst/>
                <a:latin typeface="+mn-lt"/>
                <a:ea typeface="+mn-ea"/>
                <a:cs typeface="+mn-cs"/>
              </a:rPr>
              <a:t> </a:t>
            </a:r>
          </a:p>
          <a:p>
            <a:r>
              <a:rPr lang="es-ES" sz="1200" kern="1200" dirty="0">
                <a:solidFill>
                  <a:schemeClr val="tx1"/>
                </a:solidFill>
                <a:effectLst/>
                <a:latin typeface="+mn-lt"/>
                <a:ea typeface="+mn-ea"/>
                <a:cs typeface="+mn-cs"/>
              </a:rPr>
              <a:t>Un límite de errores es un umbral de calidad que se aplica a todo el proyecto de desarrollo de software. Se usa para definir los umbrales de gravedad de las vulnerabilidades de seguridad; por ejemplo, en la aplicación no hay vulnerabilidades conocidas que estén clasificadas como “críticas” o “importantes” en el momento de su lanzamiento. Una vez definido, el límite de errores no debe bajarse nunca. Un límite de errores dinámico es un objetivo no fijo que probablemente no se entienda muy bien en el ámbito del desarrollo.</a:t>
            </a:r>
          </a:p>
          <a:p>
            <a:endParaRPr lang="es-ES" sz="1200" kern="1200" dirty="0">
              <a:solidFill>
                <a:schemeClr val="tx1"/>
              </a:solidFill>
              <a:effectLst/>
              <a:latin typeface="+mn-lt"/>
              <a:ea typeface="+mn-ea"/>
              <a:cs typeface="+mn-cs"/>
            </a:endParaRPr>
          </a:p>
          <a:p>
            <a:r>
              <a:rPr lang="es-ES" sz="1200" b="1" u="sng" kern="1200" dirty="0">
                <a:solidFill>
                  <a:schemeClr val="tx1"/>
                </a:solidFill>
                <a:effectLst/>
                <a:latin typeface="+mn-lt"/>
                <a:ea typeface="+mn-ea"/>
                <a:cs typeface="+mn-cs"/>
              </a:rPr>
              <a:t>Procedimiento 4 de SDL: evaluación de los riesgos de seguridad y privacidad</a:t>
            </a:r>
          </a:p>
          <a:p>
            <a:r>
              <a:rPr lang="es-ES" sz="1200" kern="1200" dirty="0">
                <a:solidFill>
                  <a:schemeClr val="tx1"/>
                </a:solidFill>
                <a:effectLst/>
                <a:latin typeface="+mn-lt"/>
                <a:ea typeface="+mn-ea"/>
                <a:cs typeface="+mn-cs"/>
              </a:rPr>
              <a:t>Las evaluaciones de los riesgos de seguridad (SRA) y de privacidad (PRA) son procesos obligatorios que identifican los aspectos funcionales del software que requieren una revisión exhaustiva. </a:t>
            </a:r>
            <a:r>
              <a:rPr lang="en-US" sz="1200" kern="1200" dirty="0" err="1">
                <a:solidFill>
                  <a:schemeClr val="tx1"/>
                </a:solidFill>
                <a:effectLst/>
                <a:latin typeface="+mn-lt"/>
                <a:ea typeface="+mn-ea"/>
                <a:cs typeface="+mn-cs"/>
              </a:rPr>
              <a:t>Dichas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evaluaciones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deben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incluir</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siguiente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información</a:t>
            </a:r>
            <a:r>
              <a:rPr lang="en-US" sz="1200" kern="1200" dirty="0">
                <a:solidFill>
                  <a:schemeClr val="tx1"/>
                </a:solidFill>
                <a:effectLst/>
                <a:latin typeface="+mn-lt"/>
                <a:ea typeface="+mn-ea"/>
                <a:cs typeface="+mn-cs"/>
              </a:rPr>
              <a:t>:</a:t>
            </a:r>
            <a:endParaRPr lang="es-ES"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(Seguridad) Partes del proyecto que van a requerir </a:t>
            </a:r>
            <a:r>
              <a:rPr lang="es-ES" sz="1200" u="sng" kern="1200" dirty="0">
                <a:solidFill>
                  <a:schemeClr val="tx1"/>
                </a:solidFill>
                <a:effectLst/>
                <a:latin typeface="+mn-lt"/>
                <a:ea typeface="+mn-ea"/>
                <a:cs typeface="+mn-cs"/>
                <a:hlinkClick r:id="rId4" action="ppaction://hlinkfile"/>
              </a:rPr>
              <a:t>modelos de riesgos</a:t>
            </a:r>
            <a:r>
              <a:rPr lang="es-ES" sz="1200" kern="1200" dirty="0">
                <a:solidFill>
                  <a:schemeClr val="tx1"/>
                </a:solidFill>
                <a:effectLst/>
                <a:latin typeface="+mn-lt"/>
                <a:ea typeface="+mn-ea"/>
                <a:cs typeface="+mn-cs"/>
              </a:rPr>
              <a:t> antes del lanzamiento.</a:t>
            </a:r>
          </a:p>
          <a:p>
            <a:pPr lvl="0"/>
            <a:r>
              <a:rPr lang="es-ES" sz="1200" kern="1200" dirty="0">
                <a:solidFill>
                  <a:schemeClr val="tx1"/>
                </a:solidFill>
                <a:effectLst/>
                <a:latin typeface="+mn-lt"/>
                <a:ea typeface="+mn-ea"/>
                <a:cs typeface="+mn-cs"/>
              </a:rPr>
              <a:t>(Seguridad) Las partes del proyecto que van a requerir revisiones del diseño de seguridad antes del lanzamiento.</a:t>
            </a:r>
          </a:p>
          <a:p>
            <a:pPr lvl="0"/>
            <a:r>
              <a:rPr lang="es-ES" sz="1200" kern="1200" dirty="0">
                <a:solidFill>
                  <a:schemeClr val="tx1"/>
                </a:solidFill>
                <a:effectLst/>
                <a:latin typeface="+mn-lt"/>
                <a:ea typeface="+mn-ea"/>
                <a:cs typeface="+mn-cs"/>
              </a:rPr>
              <a:t>(Seguridad) Partes del proyecto (si procede) que van a requerir pruebas de penetración por parte de un grupo externo al equipo de proyecto y acordado mutuamente. </a:t>
            </a:r>
          </a:p>
          <a:p>
            <a:pPr lvl="0"/>
            <a:r>
              <a:rPr lang="es-ES" sz="1200" kern="1200" dirty="0">
                <a:solidFill>
                  <a:schemeClr val="tx1"/>
                </a:solidFill>
                <a:effectLst/>
                <a:latin typeface="+mn-lt"/>
                <a:ea typeface="+mn-ea"/>
                <a:cs typeface="+mn-cs"/>
              </a:rPr>
              <a:t>(Seguridad) Requisitos de análisis o de pruebas adicionales que el asesor de seguridad considera necesarios para mitigar los riesgos de seguridad.</a:t>
            </a:r>
          </a:p>
          <a:p>
            <a:pPr lvl="0"/>
            <a:r>
              <a:rPr lang="es-ES" sz="1200" kern="1200" dirty="0">
                <a:solidFill>
                  <a:schemeClr val="tx1"/>
                </a:solidFill>
                <a:effectLst/>
                <a:latin typeface="+mn-lt"/>
                <a:ea typeface="+mn-ea"/>
                <a:cs typeface="+mn-cs"/>
              </a:rPr>
              <a:t>(Seguridad) Ámbito específico de los </a:t>
            </a:r>
            <a:r>
              <a:rPr lang="es-ES" sz="1200" u="sng" kern="1200" dirty="0">
                <a:solidFill>
                  <a:schemeClr val="tx1"/>
                </a:solidFill>
                <a:effectLst/>
                <a:latin typeface="+mn-lt"/>
                <a:ea typeface="+mn-ea"/>
                <a:cs typeface="+mn-cs"/>
                <a:hlinkClick r:id="rId5" action="ppaction://hlinkfile"/>
              </a:rPr>
              <a:t>requisitos en materia de pruebas de exploración de vulnerabilidades mediante datos aleatorios</a:t>
            </a:r>
            <a:r>
              <a:rPr lang="es-ES" sz="1200" kern="1200" dirty="0">
                <a:solidFill>
                  <a:schemeClr val="tx1"/>
                </a:solidFill>
                <a:effectLst/>
                <a:latin typeface="+mn-lt"/>
                <a:ea typeface="+mn-ea"/>
                <a:cs typeface="+mn-cs"/>
              </a:rPr>
              <a:t>.</a:t>
            </a:r>
          </a:p>
          <a:p>
            <a:pPr lvl="0"/>
            <a:r>
              <a:rPr lang="es-ES" sz="1200" kern="1200" dirty="0">
                <a:solidFill>
                  <a:schemeClr val="tx1"/>
                </a:solidFill>
                <a:effectLst/>
                <a:latin typeface="+mn-lt"/>
                <a:ea typeface="+mn-ea"/>
                <a:cs typeface="+mn-cs"/>
              </a:rPr>
              <a:t>(Privacidad) ¿Cuál es el nivel de impacto sobre la privacidad? La respuesta a esta pregunta se basa en las siguientes pautas: </a:t>
            </a:r>
          </a:p>
          <a:p>
            <a:pPr lvl="0"/>
            <a:r>
              <a:rPr lang="es-ES" sz="1200" kern="1200" dirty="0">
                <a:solidFill>
                  <a:schemeClr val="tx1"/>
                </a:solidFill>
                <a:effectLst/>
                <a:latin typeface="+mn-lt"/>
                <a:ea typeface="+mn-ea"/>
                <a:cs typeface="+mn-cs"/>
              </a:rPr>
              <a:t>P1 Alto riesgo para la privacidad. La característica, el producto o el servicio almacena o transfiere datos de identificación personal, cambia la configuración o las asociaciones de los tipos de archivo, o instala software.</a:t>
            </a:r>
          </a:p>
          <a:p>
            <a:pPr lvl="0"/>
            <a:r>
              <a:rPr lang="es-ES" sz="1200" kern="1200" dirty="0">
                <a:solidFill>
                  <a:schemeClr val="tx1"/>
                </a:solidFill>
                <a:effectLst/>
                <a:latin typeface="+mn-lt"/>
                <a:ea typeface="+mn-ea"/>
                <a:cs typeface="+mn-cs"/>
              </a:rPr>
              <a:t>P2 Riesgo moderado para la privacidad. El único comportamiento que afecta a la privacidad en la característica, el producto o el servicio es una transferencia de datos anónimos única e iniciada por el usuario (por ejemplo, el usuario hace clic en un vínculo y el software abre un sitio web).</a:t>
            </a:r>
          </a:p>
          <a:p>
            <a:pPr lvl="0"/>
            <a:r>
              <a:rPr lang="es-ES" sz="1200" kern="1200" dirty="0">
                <a:solidFill>
                  <a:schemeClr val="tx1"/>
                </a:solidFill>
                <a:effectLst/>
                <a:latin typeface="+mn-lt"/>
                <a:ea typeface="+mn-ea"/>
                <a:cs typeface="+mn-cs"/>
              </a:rPr>
              <a:t>P3 Bajo riesgo para la privacidad. La característica, el producto o el servicio no tiene ningún comportamiento que afecte a la privacidad. No hay ninguna transferencia de datos personales ni anónimos, no se almacenan datos de identificación personal en el equipo, no se modifica ninguna configuración en nombre del usuario y no se instala ningún software.</a:t>
            </a:r>
          </a:p>
          <a:p>
            <a:endParaRPr lang="es-ES" dirty="0"/>
          </a:p>
          <a:p>
            <a:endParaRPr lang="es-ES" dirty="0"/>
          </a:p>
          <a:p>
            <a:endParaRPr lang="es-ES" dirty="0"/>
          </a:p>
        </p:txBody>
      </p:sp>
      <p:sp>
        <p:nvSpPr>
          <p:cNvPr id="4" name="3 Marcador de número de diapositiva"/>
          <p:cNvSpPr>
            <a:spLocks noGrp="1"/>
          </p:cNvSpPr>
          <p:nvPr>
            <p:ph type="sldNum" sz="quarter" idx="10"/>
          </p:nvPr>
        </p:nvSpPr>
        <p:spPr/>
        <p:txBody>
          <a:bodyPr/>
          <a:lstStyle/>
          <a:p>
            <a:fld id="{064AA158-4D4D-427B-8540-6E8BBC9EB3DF}" type="slidenum">
              <a:rPr lang="es-ES" smtClean="0"/>
              <a:t>32</a:t>
            </a:fld>
            <a:endParaRPr lang="es-ES"/>
          </a:p>
        </p:txBody>
      </p:sp>
    </p:spTree>
    <p:extLst>
      <p:ext uri="{BB962C8B-B14F-4D97-AF65-F5344CB8AC3E}">
        <p14:creationId xmlns:p14="http://schemas.microsoft.com/office/powerpoint/2010/main" val="9456915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Requisitos</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dirty="0">
                <a:solidFill>
                  <a:schemeClr val="tx1"/>
                </a:solidFill>
                <a:effectLst/>
                <a:latin typeface="+mn-lt"/>
                <a:ea typeface="+mn-ea"/>
                <a:cs typeface="+mn-cs"/>
              </a:rPr>
              <a:t>La necesidad de considerar la seguridad y la privacidad “desde el primer instante” es un aspecto fundamental del desarrollo de un sistema seguro. La fase de planificación inicial es el momento más apropiado para definir los requisitos de fiabilidad de un proyecto de software. Al definir los requisitos en una fase temprana, los equipos de desarrollo podrán identificar los principales hitos y resultados, y es posible integrar la seguridad y la privacidad de modo que los planes y programaciones se alteren lo menos posible. Al principio de un proyecto, se realiza un análisis de los requisitos de seguridad y privacidad, el cual incluye la especificación de los requisitos de seguridad mínimos de la aplicación en el entorno operativo previsto, así como la especificación y la implementación de un sistema de seguimiento de los elementos de trabajo y de las vulnerabilidades de seguridad. </a:t>
            </a:r>
          </a:p>
          <a:p>
            <a:endParaRPr lang="es-ES" dirty="0"/>
          </a:p>
          <a:p>
            <a:r>
              <a:rPr lang="es-ES" sz="1200" b="1" u="sng" kern="1200" dirty="0">
                <a:solidFill>
                  <a:schemeClr val="tx1"/>
                </a:solidFill>
                <a:effectLst/>
                <a:latin typeface="+mn-lt"/>
                <a:ea typeface="+mn-ea"/>
                <a:cs typeface="+mn-cs"/>
              </a:rPr>
              <a:t>Procedimiento 3 de SDL: umbrales de calidad y límites de errores</a:t>
            </a:r>
          </a:p>
          <a:p>
            <a:r>
              <a:rPr lang="es-ES" sz="1200" kern="1200" dirty="0">
                <a:solidFill>
                  <a:schemeClr val="tx1"/>
                </a:solidFill>
                <a:effectLst/>
                <a:latin typeface="+mn-lt"/>
                <a:ea typeface="+mn-ea"/>
                <a:cs typeface="+mn-cs"/>
              </a:rPr>
              <a:t>Se usan umbrales de calidad y </a:t>
            </a:r>
            <a:r>
              <a:rPr lang="es-ES" sz="1200" i="1" kern="1200" dirty="0">
                <a:solidFill>
                  <a:schemeClr val="tx1"/>
                </a:solidFill>
                <a:effectLst/>
                <a:latin typeface="+mn-lt"/>
                <a:ea typeface="+mn-ea"/>
                <a:cs typeface="+mn-cs"/>
              </a:rPr>
              <a:t>límites de errores</a:t>
            </a:r>
            <a:r>
              <a:rPr lang="es-ES" sz="1200" kern="1200" dirty="0">
                <a:solidFill>
                  <a:schemeClr val="tx1"/>
                </a:solidFill>
                <a:effectLst/>
                <a:latin typeface="+mn-lt"/>
                <a:ea typeface="+mn-ea"/>
                <a:cs typeface="+mn-cs"/>
              </a:rPr>
              <a:t> para establecer niveles mínimos aceptables de calidad en materia de seguridad y privacidad. Al definir estos criterios al comienzo de un proyecto, se comprenderán mejor los riesgos asociados a los problemas de seguridad y los equipos podrán identificar y corregir los errores de seguridad durante el desarrollo. El equipo de proyecto debe negociar los umbrales de calidad (por ejemplo, todas las advertencias del compilador se deben evaluar y corregir antes de proteger el código) para cada fase de desarrollo; a continuación, el asesor de seguridad debe aprobarlos y puede agregar aclaraciones específicas del proyecto así como requisitos de seguridad más estrictos según proceda. El equipo de proyecto también debe ilustrar la conformidad con los umbrales de calidad negociados para cumplimentar la </a:t>
            </a:r>
            <a:r>
              <a:rPr lang="es-ES" sz="1200" u="sng" kern="1200" dirty="0">
                <a:solidFill>
                  <a:schemeClr val="tx1"/>
                </a:solidFill>
                <a:effectLst/>
                <a:latin typeface="+mn-lt"/>
                <a:ea typeface="+mn-ea"/>
                <a:cs typeface="+mn-cs"/>
                <a:hlinkClick r:id="rId3" action="ppaction://hlinkfile"/>
              </a:rPr>
              <a:t>revisión de seguridad final.</a:t>
            </a:r>
            <a:r>
              <a:rPr lang="es-ES" sz="1200" kern="1200" dirty="0">
                <a:solidFill>
                  <a:schemeClr val="tx1"/>
                </a:solidFill>
                <a:effectLst/>
                <a:latin typeface="+mn-lt"/>
                <a:ea typeface="+mn-ea"/>
                <a:cs typeface="+mn-cs"/>
              </a:rPr>
              <a:t> </a:t>
            </a:r>
          </a:p>
          <a:p>
            <a:r>
              <a:rPr lang="es-ES" sz="1200" kern="1200" dirty="0">
                <a:solidFill>
                  <a:schemeClr val="tx1"/>
                </a:solidFill>
                <a:effectLst/>
                <a:latin typeface="+mn-lt"/>
                <a:ea typeface="+mn-ea"/>
                <a:cs typeface="+mn-cs"/>
              </a:rPr>
              <a:t>Un límite de errores es un umbral de calidad que se aplica a todo el proyecto de desarrollo de software. Se usa para definir los umbrales de gravedad de las vulnerabilidades de seguridad; por ejemplo, en la aplicación no hay vulnerabilidades conocidas que estén clasificadas como “críticas” o “importantes” en el momento de su lanzamiento. Una vez definido, el límite de errores no debe bajarse nunca. Un límite de errores dinámico es un objetivo no fijo que probablemente no se entienda muy bien en el ámbito del desarrollo.</a:t>
            </a:r>
          </a:p>
          <a:p>
            <a:endParaRPr lang="es-ES" sz="1200" kern="1200" dirty="0">
              <a:solidFill>
                <a:schemeClr val="tx1"/>
              </a:solidFill>
              <a:effectLst/>
              <a:latin typeface="+mn-lt"/>
              <a:ea typeface="+mn-ea"/>
              <a:cs typeface="+mn-cs"/>
            </a:endParaRPr>
          </a:p>
          <a:p>
            <a:r>
              <a:rPr lang="es-ES" sz="1200" b="1" u="sng" kern="1200" dirty="0">
                <a:solidFill>
                  <a:schemeClr val="tx1"/>
                </a:solidFill>
                <a:effectLst/>
                <a:latin typeface="+mn-lt"/>
                <a:ea typeface="+mn-ea"/>
                <a:cs typeface="+mn-cs"/>
              </a:rPr>
              <a:t>Procedimiento 4 de SDL: evaluación de los riesgos de seguridad y privacidad</a:t>
            </a:r>
          </a:p>
          <a:p>
            <a:r>
              <a:rPr lang="es-ES" sz="1200" kern="1200" dirty="0">
                <a:solidFill>
                  <a:schemeClr val="tx1"/>
                </a:solidFill>
                <a:effectLst/>
                <a:latin typeface="+mn-lt"/>
                <a:ea typeface="+mn-ea"/>
                <a:cs typeface="+mn-cs"/>
              </a:rPr>
              <a:t>Las evaluaciones de los riesgos de seguridad (SRA) y de privacidad (PRA) son procesos obligatorios que identifican los aspectos funcionales del software que requieren una revisión exhaustiva. </a:t>
            </a:r>
            <a:r>
              <a:rPr lang="en-US" sz="1200" kern="1200" dirty="0" err="1">
                <a:solidFill>
                  <a:schemeClr val="tx1"/>
                </a:solidFill>
                <a:effectLst/>
                <a:latin typeface="+mn-lt"/>
                <a:ea typeface="+mn-ea"/>
                <a:cs typeface="+mn-cs"/>
              </a:rPr>
              <a:t>Dichas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evaluaciones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deben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incluir</a:t>
            </a:r>
            <a:r>
              <a:rPr lang="en-US" sz="1200" kern="1200" dirty="0">
                <a:solidFill>
                  <a:schemeClr val="tx1"/>
                </a:solidFill>
                <a:effectLst/>
                <a:latin typeface="+mn-lt"/>
                <a:ea typeface="+mn-ea"/>
                <a:cs typeface="+mn-cs"/>
              </a:rPr>
              <a:t> la </a:t>
            </a:r>
            <a:r>
              <a:rPr lang="en-US" sz="1200" kern="1200" dirty="0" err="1">
                <a:solidFill>
                  <a:schemeClr val="tx1"/>
                </a:solidFill>
                <a:effectLst/>
                <a:latin typeface="+mn-lt"/>
                <a:ea typeface="+mn-ea"/>
                <a:cs typeface="+mn-cs"/>
              </a:rPr>
              <a:t>siguiente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información</a:t>
            </a:r>
            <a:r>
              <a:rPr lang="en-US" sz="1200" kern="1200" dirty="0">
                <a:solidFill>
                  <a:schemeClr val="tx1"/>
                </a:solidFill>
                <a:effectLst/>
                <a:latin typeface="+mn-lt"/>
                <a:ea typeface="+mn-ea"/>
                <a:cs typeface="+mn-cs"/>
              </a:rPr>
              <a:t>:</a:t>
            </a:r>
            <a:endParaRPr lang="es-ES" sz="1200" kern="1200" dirty="0">
              <a:solidFill>
                <a:schemeClr val="tx1"/>
              </a:solidFill>
              <a:effectLst/>
              <a:latin typeface="+mn-lt"/>
              <a:ea typeface="+mn-ea"/>
              <a:cs typeface="+mn-cs"/>
            </a:endParaRPr>
          </a:p>
          <a:p>
            <a:pPr lvl="0"/>
            <a:r>
              <a:rPr lang="es-ES" sz="1200" kern="1200" dirty="0">
                <a:solidFill>
                  <a:schemeClr val="tx1"/>
                </a:solidFill>
                <a:effectLst/>
                <a:latin typeface="+mn-lt"/>
                <a:ea typeface="+mn-ea"/>
                <a:cs typeface="+mn-cs"/>
              </a:rPr>
              <a:t>(Seguridad) Partes del proyecto que van a requerir </a:t>
            </a:r>
            <a:r>
              <a:rPr lang="es-ES" sz="1200" u="sng" kern="1200" dirty="0">
                <a:solidFill>
                  <a:schemeClr val="tx1"/>
                </a:solidFill>
                <a:effectLst/>
                <a:latin typeface="+mn-lt"/>
                <a:ea typeface="+mn-ea"/>
                <a:cs typeface="+mn-cs"/>
                <a:hlinkClick r:id="rId4" action="ppaction://hlinkfile"/>
              </a:rPr>
              <a:t>modelos de riesgos</a:t>
            </a:r>
            <a:r>
              <a:rPr lang="es-ES" sz="1200" kern="1200" dirty="0">
                <a:solidFill>
                  <a:schemeClr val="tx1"/>
                </a:solidFill>
                <a:effectLst/>
                <a:latin typeface="+mn-lt"/>
                <a:ea typeface="+mn-ea"/>
                <a:cs typeface="+mn-cs"/>
              </a:rPr>
              <a:t> antes del lanzamiento.</a:t>
            </a:r>
          </a:p>
          <a:p>
            <a:pPr lvl="0"/>
            <a:r>
              <a:rPr lang="es-ES" sz="1200" kern="1200" dirty="0">
                <a:solidFill>
                  <a:schemeClr val="tx1"/>
                </a:solidFill>
                <a:effectLst/>
                <a:latin typeface="+mn-lt"/>
                <a:ea typeface="+mn-ea"/>
                <a:cs typeface="+mn-cs"/>
              </a:rPr>
              <a:t>(Seguridad) Las partes del proyecto que van a requerir revisiones del diseño de seguridad antes del lanzamiento.</a:t>
            </a:r>
          </a:p>
          <a:p>
            <a:pPr lvl="0"/>
            <a:r>
              <a:rPr lang="es-ES" sz="1200" kern="1200" dirty="0">
                <a:solidFill>
                  <a:schemeClr val="tx1"/>
                </a:solidFill>
                <a:effectLst/>
                <a:latin typeface="+mn-lt"/>
                <a:ea typeface="+mn-ea"/>
                <a:cs typeface="+mn-cs"/>
              </a:rPr>
              <a:t>(Seguridad) Partes del proyecto (si procede) que van a requerir pruebas de penetración por parte de un grupo externo al equipo de proyecto y acordado mutuamente. </a:t>
            </a:r>
          </a:p>
          <a:p>
            <a:pPr lvl="0"/>
            <a:r>
              <a:rPr lang="es-ES" sz="1200" kern="1200" dirty="0">
                <a:solidFill>
                  <a:schemeClr val="tx1"/>
                </a:solidFill>
                <a:effectLst/>
                <a:latin typeface="+mn-lt"/>
                <a:ea typeface="+mn-ea"/>
                <a:cs typeface="+mn-cs"/>
              </a:rPr>
              <a:t>(Seguridad) Requisitos de análisis o de pruebas adicionales que el asesor de seguridad considera necesarios para mitigar los riesgos de seguridad.</a:t>
            </a:r>
          </a:p>
          <a:p>
            <a:pPr lvl="0"/>
            <a:r>
              <a:rPr lang="es-ES" sz="1200" kern="1200" dirty="0">
                <a:solidFill>
                  <a:schemeClr val="tx1"/>
                </a:solidFill>
                <a:effectLst/>
                <a:latin typeface="+mn-lt"/>
                <a:ea typeface="+mn-ea"/>
                <a:cs typeface="+mn-cs"/>
              </a:rPr>
              <a:t>(Seguridad) Ámbito específico de los </a:t>
            </a:r>
            <a:r>
              <a:rPr lang="es-ES" sz="1200" u="sng" kern="1200" dirty="0">
                <a:solidFill>
                  <a:schemeClr val="tx1"/>
                </a:solidFill>
                <a:effectLst/>
                <a:latin typeface="+mn-lt"/>
                <a:ea typeface="+mn-ea"/>
                <a:cs typeface="+mn-cs"/>
                <a:hlinkClick r:id="rId5" action="ppaction://hlinkfile"/>
              </a:rPr>
              <a:t>requisitos en materia de pruebas de exploración de vulnerabilidades mediante datos aleatorios</a:t>
            </a:r>
            <a:r>
              <a:rPr lang="es-ES" sz="1200" kern="1200" dirty="0">
                <a:solidFill>
                  <a:schemeClr val="tx1"/>
                </a:solidFill>
                <a:effectLst/>
                <a:latin typeface="+mn-lt"/>
                <a:ea typeface="+mn-ea"/>
                <a:cs typeface="+mn-cs"/>
              </a:rPr>
              <a:t>.</a:t>
            </a:r>
          </a:p>
          <a:p>
            <a:pPr lvl="0"/>
            <a:r>
              <a:rPr lang="es-ES" sz="1200" kern="1200" dirty="0">
                <a:solidFill>
                  <a:schemeClr val="tx1"/>
                </a:solidFill>
                <a:effectLst/>
                <a:latin typeface="+mn-lt"/>
                <a:ea typeface="+mn-ea"/>
                <a:cs typeface="+mn-cs"/>
              </a:rPr>
              <a:t>(Privacidad) ¿Cuál es el nivel de impacto sobre la privacidad? La respuesta a esta pregunta se basa en las siguientes pautas: </a:t>
            </a:r>
          </a:p>
          <a:p>
            <a:pPr lvl="0"/>
            <a:r>
              <a:rPr lang="es-ES" sz="1200" kern="1200" dirty="0">
                <a:solidFill>
                  <a:schemeClr val="tx1"/>
                </a:solidFill>
                <a:effectLst/>
                <a:latin typeface="+mn-lt"/>
                <a:ea typeface="+mn-ea"/>
                <a:cs typeface="+mn-cs"/>
              </a:rPr>
              <a:t>P1 Alto riesgo para la privacidad. La característica, el producto o el servicio almacena o transfiere datos de identificación personal, cambia la configuración o las asociaciones de los tipos de archivo, o instala software.</a:t>
            </a:r>
          </a:p>
          <a:p>
            <a:pPr lvl="0"/>
            <a:r>
              <a:rPr lang="es-ES" sz="1200" kern="1200" dirty="0">
                <a:solidFill>
                  <a:schemeClr val="tx1"/>
                </a:solidFill>
                <a:effectLst/>
                <a:latin typeface="+mn-lt"/>
                <a:ea typeface="+mn-ea"/>
                <a:cs typeface="+mn-cs"/>
              </a:rPr>
              <a:t>P2 Riesgo moderado para la privacidad. El único comportamiento que afecta a la privacidad en la característica, el producto o el servicio es una transferencia de datos anónimos única e iniciada por el usuario (por ejemplo, el usuario hace clic en un vínculo y el software abre un sitio web).</a:t>
            </a:r>
          </a:p>
          <a:p>
            <a:pPr lvl="0"/>
            <a:r>
              <a:rPr lang="es-ES" sz="1200" kern="1200" dirty="0">
                <a:solidFill>
                  <a:schemeClr val="tx1"/>
                </a:solidFill>
                <a:effectLst/>
                <a:latin typeface="+mn-lt"/>
                <a:ea typeface="+mn-ea"/>
                <a:cs typeface="+mn-cs"/>
              </a:rPr>
              <a:t>P3 Bajo riesgo para la privacidad. La característica, el producto o el servicio no tiene ningún comportamiento que afecte a la privacidad. No hay ninguna transferencia de datos personales ni anónimos, no se almacenan datos de identificación personal en el equipo, no se modifica ninguna configuración en nombre del usuario y no se instala ningún software.</a:t>
            </a:r>
          </a:p>
          <a:p>
            <a:endParaRPr lang="es-ES" dirty="0"/>
          </a:p>
          <a:p>
            <a:endParaRPr lang="es-ES" dirty="0"/>
          </a:p>
          <a:p>
            <a:endParaRPr lang="es-ES" dirty="0"/>
          </a:p>
        </p:txBody>
      </p:sp>
      <p:sp>
        <p:nvSpPr>
          <p:cNvPr id="4" name="3 Marcador de número de diapositiva"/>
          <p:cNvSpPr>
            <a:spLocks noGrp="1"/>
          </p:cNvSpPr>
          <p:nvPr>
            <p:ph type="sldNum" sz="quarter" idx="10"/>
          </p:nvPr>
        </p:nvSpPr>
        <p:spPr/>
        <p:txBody>
          <a:bodyPr/>
          <a:lstStyle/>
          <a:p>
            <a:fld id="{064AA158-4D4D-427B-8540-6E8BBC9EB3DF}" type="slidenum">
              <a:rPr lang="es-ES" smtClean="0"/>
              <a:t>33</a:t>
            </a:fld>
            <a:endParaRPr lang="es-ES"/>
          </a:p>
        </p:txBody>
      </p:sp>
    </p:spTree>
    <p:extLst>
      <p:ext uri="{BB962C8B-B14F-4D97-AF65-F5344CB8AC3E}">
        <p14:creationId xmlns:p14="http://schemas.microsoft.com/office/powerpoint/2010/main" val="945691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6406480" cy="1470025"/>
          </a:xfrm>
        </p:spPr>
        <p:txBody>
          <a:bodyPr/>
          <a:lstStyle>
            <a:lvl1pPr>
              <a:defRPr>
                <a:latin typeface="+mj-lt"/>
              </a:defRPr>
            </a:lvl1pPr>
          </a:lstStyle>
          <a:p>
            <a:r>
              <a:rPr lang="es-ES"/>
              <a:t>Haga clic para modificar el estilo de título del patrón</a:t>
            </a:r>
            <a:endParaRPr lang="es-ES" dirty="0"/>
          </a:p>
        </p:txBody>
      </p:sp>
      <p:sp>
        <p:nvSpPr>
          <p:cNvPr id="3" name="Subtitle 2"/>
          <p:cNvSpPr>
            <a:spLocks noGrp="1"/>
          </p:cNvSpPr>
          <p:nvPr>
            <p:ph type="subTitle" idx="1"/>
          </p:nvPr>
        </p:nvSpPr>
        <p:spPr>
          <a:xfrm>
            <a:off x="1371600" y="3886200"/>
            <a:ext cx="5293982"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ES" dirty="0"/>
          </a:p>
        </p:txBody>
      </p:sp>
      <p:sp>
        <p:nvSpPr>
          <p:cNvPr id="4" name="Date Placeholder 3"/>
          <p:cNvSpPr>
            <a:spLocks noGrp="1"/>
          </p:cNvSpPr>
          <p:nvPr>
            <p:ph type="dt" sz="half" idx="10"/>
          </p:nvPr>
        </p:nvSpPr>
        <p:spPr/>
        <p:txBody>
          <a:bodyPr/>
          <a:lstStyle/>
          <a:p>
            <a:fld id="{349F6A51-D207-48C8-91B6-3E4D214D935B}" type="datetimeFigureOut">
              <a:rPr lang="es-ES" smtClean="0"/>
              <a:t>17/02/2017</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CE51659-FB22-4C34-B8AC-11F5ED9010DC}" type="slidenum">
              <a:rPr lang="es-ES" smtClean="0"/>
              <a:t>‹Nº›</a:t>
            </a:fld>
            <a:endParaRPr lang="es-ES"/>
          </a:p>
        </p:txBody>
      </p:sp>
    </p:spTree>
    <p:extLst>
      <p:ext uri="{BB962C8B-B14F-4D97-AF65-F5344CB8AC3E}">
        <p14:creationId xmlns:p14="http://schemas.microsoft.com/office/powerpoint/2010/main" val="2745103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ítulo y objetos">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342900" indent="-342900">
              <a:buFontTx/>
              <a:buBlip>
                <a:blip r:embed="rId2"/>
              </a:buBlip>
              <a:defRPr/>
            </a:lvl1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7" name="Date Placeholder 6"/>
          <p:cNvSpPr>
            <a:spLocks noGrp="1"/>
          </p:cNvSpPr>
          <p:nvPr>
            <p:ph type="dt" sz="half" idx="10"/>
          </p:nvPr>
        </p:nvSpPr>
        <p:spPr/>
        <p:txBody>
          <a:bodyPr/>
          <a:lstStyle/>
          <a:p>
            <a:fld id="{349F6A51-D207-48C8-91B6-3E4D214D935B}" type="datetimeFigureOut">
              <a:rPr lang="es-ES" smtClean="0"/>
              <a:t>17/02/2017</a:t>
            </a:fld>
            <a:endParaRPr lang="es-ES"/>
          </a:p>
        </p:txBody>
      </p:sp>
      <p:sp>
        <p:nvSpPr>
          <p:cNvPr id="9" name="Slide Number Placeholder 8"/>
          <p:cNvSpPr>
            <a:spLocks noGrp="1"/>
          </p:cNvSpPr>
          <p:nvPr>
            <p:ph type="sldNum" sz="quarter" idx="12"/>
          </p:nvPr>
        </p:nvSpPr>
        <p:spPr/>
        <p:txBody>
          <a:bodyPr/>
          <a:lstStyle/>
          <a:p>
            <a:fld id="{5CE51659-FB22-4C34-B8AC-11F5ED9010DC}" type="slidenum">
              <a:rPr lang="es-ES" smtClean="0"/>
              <a:t>‹Nº›</a:t>
            </a:fld>
            <a:endParaRPr lang="es-ES"/>
          </a:p>
        </p:txBody>
      </p:sp>
      <p:sp>
        <p:nvSpPr>
          <p:cNvPr id="10" name="Title 9"/>
          <p:cNvSpPr>
            <a:spLocks noGrp="1"/>
          </p:cNvSpPr>
          <p:nvPr>
            <p:ph type="title"/>
          </p:nvPr>
        </p:nvSpPr>
        <p:spPr/>
        <p:txBody>
          <a:bodyPr/>
          <a:lstStyle/>
          <a:p>
            <a:r>
              <a:rPr lang="es-ES"/>
              <a:t>Haga clic para modificar el estilo de título del patrón</a:t>
            </a:r>
            <a:endParaRPr lang="es-ES" dirty="0"/>
          </a:p>
        </p:txBody>
      </p:sp>
      <p:sp>
        <p:nvSpPr>
          <p:cNvPr id="8" name="Footer Placeholder 7"/>
          <p:cNvSpPr>
            <a:spLocks noGrp="1"/>
          </p:cNvSpPr>
          <p:nvPr>
            <p:ph type="ftr" sz="quarter" idx="11"/>
          </p:nvPr>
        </p:nvSpPr>
        <p:spPr/>
        <p:txBody>
          <a:bodyPr/>
          <a:lstStyle/>
          <a:p>
            <a:endParaRPr lang="es-ES"/>
          </a:p>
        </p:txBody>
      </p:sp>
    </p:spTree>
    <p:extLst>
      <p:ext uri="{BB962C8B-B14F-4D97-AF65-F5344CB8AC3E}">
        <p14:creationId xmlns:p14="http://schemas.microsoft.com/office/powerpoint/2010/main" val="345121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Date Placeholder 4"/>
          <p:cNvSpPr>
            <a:spLocks noGrp="1"/>
          </p:cNvSpPr>
          <p:nvPr>
            <p:ph type="dt" sz="half" idx="10"/>
          </p:nvPr>
        </p:nvSpPr>
        <p:spPr/>
        <p:txBody>
          <a:bodyPr/>
          <a:lstStyle/>
          <a:p>
            <a:fld id="{349F6A51-D207-48C8-91B6-3E4D214D935B}" type="datetimeFigureOut">
              <a:rPr lang="es-ES" smtClean="0"/>
              <a:t>17/02/2017</a:t>
            </a:fld>
            <a:endParaRPr lang="es-ES"/>
          </a:p>
        </p:txBody>
      </p:sp>
      <p:sp>
        <p:nvSpPr>
          <p:cNvPr id="7" name="Slide Number Placeholder 6"/>
          <p:cNvSpPr>
            <a:spLocks noGrp="1"/>
          </p:cNvSpPr>
          <p:nvPr>
            <p:ph type="sldNum" sz="quarter" idx="12"/>
          </p:nvPr>
        </p:nvSpPr>
        <p:spPr/>
        <p:txBody>
          <a:bodyPr/>
          <a:lstStyle/>
          <a:p>
            <a:fld id="{5CE51659-FB22-4C34-B8AC-11F5ED9010DC}" type="slidenum">
              <a:rPr lang="es-ES" smtClean="0"/>
              <a:t>‹Nº›</a:t>
            </a:fld>
            <a:endParaRPr lang="es-ES"/>
          </a:p>
        </p:txBody>
      </p:sp>
      <p:sp>
        <p:nvSpPr>
          <p:cNvPr id="6" name="Footer Placeholder 5"/>
          <p:cNvSpPr>
            <a:spLocks noGrp="1"/>
          </p:cNvSpPr>
          <p:nvPr>
            <p:ph type="ftr" sz="quarter" idx="11"/>
          </p:nvPr>
        </p:nvSpPr>
        <p:spPr/>
        <p:txBody>
          <a:bodyPr/>
          <a:lstStyle/>
          <a:p>
            <a:endParaRPr lang="es-ES"/>
          </a:p>
        </p:txBody>
      </p:sp>
    </p:spTree>
    <p:extLst>
      <p:ext uri="{BB962C8B-B14F-4D97-AF65-F5344CB8AC3E}">
        <p14:creationId xmlns:p14="http://schemas.microsoft.com/office/powerpoint/2010/main" val="1337132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s-E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Date Placeholder 6"/>
          <p:cNvSpPr>
            <a:spLocks noGrp="1"/>
          </p:cNvSpPr>
          <p:nvPr>
            <p:ph type="dt" sz="half" idx="10"/>
          </p:nvPr>
        </p:nvSpPr>
        <p:spPr/>
        <p:txBody>
          <a:bodyPr/>
          <a:lstStyle/>
          <a:p>
            <a:fld id="{349F6A51-D207-48C8-91B6-3E4D214D935B}" type="datetimeFigureOut">
              <a:rPr lang="es-ES" smtClean="0"/>
              <a:t>17/02/2017</a:t>
            </a:fld>
            <a:endParaRPr lang="es-ES"/>
          </a:p>
        </p:txBody>
      </p:sp>
      <p:sp>
        <p:nvSpPr>
          <p:cNvPr id="9" name="Slide Number Placeholder 8"/>
          <p:cNvSpPr>
            <a:spLocks noGrp="1"/>
          </p:cNvSpPr>
          <p:nvPr>
            <p:ph type="sldNum" sz="quarter" idx="12"/>
          </p:nvPr>
        </p:nvSpPr>
        <p:spPr/>
        <p:txBody>
          <a:bodyPr/>
          <a:lstStyle/>
          <a:p>
            <a:fld id="{5CE51659-FB22-4C34-B8AC-11F5ED9010DC}" type="slidenum">
              <a:rPr lang="es-ES" smtClean="0"/>
              <a:t>‹Nº›</a:t>
            </a:fld>
            <a:endParaRPr lang="es-ES"/>
          </a:p>
        </p:txBody>
      </p:sp>
      <p:sp>
        <p:nvSpPr>
          <p:cNvPr id="8" name="Footer Placeholder 7"/>
          <p:cNvSpPr>
            <a:spLocks noGrp="1"/>
          </p:cNvSpPr>
          <p:nvPr>
            <p:ph type="ftr" sz="quarter" idx="11"/>
          </p:nvPr>
        </p:nvSpPr>
        <p:spPr/>
        <p:txBody>
          <a:bodyPr/>
          <a:lstStyle/>
          <a:p>
            <a:endParaRPr lang="es-ES"/>
          </a:p>
        </p:txBody>
      </p:sp>
    </p:spTree>
    <p:extLst>
      <p:ext uri="{BB962C8B-B14F-4D97-AF65-F5344CB8AC3E}">
        <p14:creationId xmlns:p14="http://schemas.microsoft.com/office/powerpoint/2010/main" val="3500903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reguntas">
    <p:spTree>
      <p:nvGrpSpPr>
        <p:cNvPr id="1" name=""/>
        <p:cNvGrpSpPr/>
        <p:nvPr/>
      </p:nvGrpSpPr>
      <p:grpSpPr>
        <a:xfrm>
          <a:off x="0" y="0"/>
          <a:ext cx="0" cy="0"/>
          <a:chOff x="0" y="0"/>
          <a:chExt cx="0" cy="0"/>
        </a:xfrm>
      </p:grpSpPr>
      <p:pic>
        <p:nvPicPr>
          <p:cNvPr id="2050" name="Picture 2" descr="D:\_SDT\propuestas logo\portada02.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39072" y="1"/>
            <a:ext cx="2504927"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p:txBody>
          <a:bodyPr/>
          <a:lstStyle>
            <a:lvl1pPr marL="342900" indent="-342900">
              <a:buFontTx/>
              <a:buBlip>
                <a:blip r:embed="rId3"/>
              </a:buBlip>
              <a:defRPr/>
            </a:lvl1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7" name="Date Placeholder 6"/>
          <p:cNvSpPr>
            <a:spLocks noGrp="1"/>
          </p:cNvSpPr>
          <p:nvPr>
            <p:ph type="dt" sz="half" idx="10"/>
          </p:nvPr>
        </p:nvSpPr>
        <p:spPr/>
        <p:txBody>
          <a:bodyPr/>
          <a:lstStyle/>
          <a:p>
            <a:fld id="{349F6A51-D207-48C8-91B6-3E4D214D935B}" type="datetimeFigureOut">
              <a:rPr lang="es-ES" smtClean="0"/>
              <a:t>17/02/2017</a:t>
            </a:fld>
            <a:endParaRPr lang="es-ES"/>
          </a:p>
        </p:txBody>
      </p:sp>
      <p:sp>
        <p:nvSpPr>
          <p:cNvPr id="9" name="Slide Number Placeholder 8"/>
          <p:cNvSpPr>
            <a:spLocks noGrp="1"/>
          </p:cNvSpPr>
          <p:nvPr>
            <p:ph type="sldNum" sz="quarter" idx="12"/>
          </p:nvPr>
        </p:nvSpPr>
        <p:spPr/>
        <p:txBody>
          <a:bodyPr/>
          <a:lstStyle/>
          <a:p>
            <a:fld id="{5CE51659-FB22-4C34-B8AC-11F5ED9010DC}" type="slidenum">
              <a:rPr lang="es-ES" smtClean="0"/>
              <a:t>‹Nº›</a:t>
            </a:fld>
            <a:endParaRPr lang="es-ES"/>
          </a:p>
        </p:txBody>
      </p:sp>
      <p:pic>
        <p:nvPicPr>
          <p:cNvPr id="12" name="Picture 3" descr="D:\_SDT\propuestas logo\logo-Firma-Correo.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64288" y="6064601"/>
            <a:ext cx="1879375" cy="532751"/>
          </a:xfrm>
          <a:prstGeom prst="rect">
            <a:avLst/>
          </a:prstGeom>
          <a:noFill/>
          <a:extLst>
            <a:ext uri="{909E8E84-426E-40DD-AFC4-6F175D3DCCD1}">
              <a14:hiddenFill xmlns:a14="http://schemas.microsoft.com/office/drawing/2010/main">
                <a:solidFill>
                  <a:srgbClr val="FFFFFF"/>
                </a:solidFill>
              </a14:hiddenFill>
            </a:ext>
          </a:extLst>
        </p:spPr>
      </p:pic>
      <p:sp>
        <p:nvSpPr>
          <p:cNvPr id="8" name="Footer Placeholder 7"/>
          <p:cNvSpPr>
            <a:spLocks noGrp="1"/>
          </p:cNvSpPr>
          <p:nvPr>
            <p:ph type="ftr" sz="quarter" idx="11"/>
          </p:nvPr>
        </p:nvSpPr>
        <p:spPr/>
        <p:txBody>
          <a:bodyPr/>
          <a:lstStyle/>
          <a:p>
            <a:endParaRPr lang="es-ES"/>
          </a:p>
        </p:txBody>
      </p:sp>
      <p:sp>
        <p:nvSpPr>
          <p:cNvPr id="11" name="Rounded Rectangle 10"/>
          <p:cNvSpPr/>
          <p:nvPr/>
        </p:nvSpPr>
        <p:spPr>
          <a:xfrm>
            <a:off x="7524328" y="260648"/>
            <a:ext cx="1296144" cy="1163761"/>
          </a:xfrm>
          <a:prstGeom prst="round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r>
              <a:rPr lang="es-ES" sz="2800" b="0" dirty="0">
                <a:latin typeface="Arial Black" pitchFamily="34" charset="0"/>
              </a:rPr>
              <a:t>Q&amp;A</a:t>
            </a:r>
            <a:endParaRPr lang="es-ES" sz="1050" b="0" dirty="0">
              <a:latin typeface="Arial Black" pitchFamily="34" charset="0"/>
            </a:endParaRPr>
          </a:p>
        </p:txBody>
      </p:sp>
      <p:sp>
        <p:nvSpPr>
          <p:cNvPr id="2" name="TextBox 1"/>
          <p:cNvSpPr txBox="1"/>
          <p:nvPr/>
        </p:nvSpPr>
        <p:spPr>
          <a:xfrm>
            <a:off x="467544" y="404664"/>
            <a:ext cx="6912768" cy="830997"/>
          </a:xfrm>
          <a:prstGeom prst="rect">
            <a:avLst/>
          </a:prstGeom>
          <a:noFill/>
        </p:spPr>
        <p:txBody>
          <a:bodyPr wrap="square" rtlCol="0">
            <a:spAutoFit/>
          </a:bodyPr>
          <a:lstStyle/>
          <a:p>
            <a:r>
              <a:rPr lang="en-US" sz="4800" dirty="0" err="1">
                <a:solidFill>
                  <a:schemeClr val="bg1">
                    <a:lumMod val="50000"/>
                  </a:schemeClr>
                </a:solidFill>
                <a:latin typeface="Arial Black" pitchFamily="34" charset="0"/>
              </a:rPr>
              <a:t>Preguntas</a:t>
            </a:r>
            <a:endParaRPr lang="es-ES" sz="4800" dirty="0">
              <a:solidFill>
                <a:schemeClr val="bg1">
                  <a:lumMod val="50000"/>
                </a:schemeClr>
              </a:solidFill>
              <a:latin typeface="Arial Black" pitchFamily="34" charset="0"/>
            </a:endParaRPr>
          </a:p>
        </p:txBody>
      </p:sp>
    </p:spTree>
    <p:extLst>
      <p:ext uri="{BB962C8B-B14F-4D97-AF65-F5344CB8AC3E}">
        <p14:creationId xmlns:p14="http://schemas.microsoft.com/office/powerpoint/2010/main" val="2006707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acto">
    <p:spTree>
      <p:nvGrpSpPr>
        <p:cNvPr id="1" name=""/>
        <p:cNvGrpSpPr/>
        <p:nvPr/>
      </p:nvGrpSpPr>
      <p:grpSpPr>
        <a:xfrm>
          <a:off x="0" y="0"/>
          <a:ext cx="0" cy="0"/>
          <a:chOff x="0" y="0"/>
          <a:chExt cx="0" cy="0"/>
        </a:xfrm>
      </p:grpSpPr>
      <p:pic>
        <p:nvPicPr>
          <p:cNvPr id="2050" name="Picture 2" descr="D:\_SDT\propuestas logo\portada02.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39072" y="1"/>
            <a:ext cx="2504927"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457200" y="1600200"/>
            <a:ext cx="8229600" cy="2764903"/>
          </a:xfrm>
        </p:spPr>
        <p:txBody>
          <a:bodyPr/>
          <a:lstStyle>
            <a:lvl1pPr marL="342900" indent="-342900">
              <a:buFontTx/>
              <a:buBlip>
                <a:blip r:embed="rId3"/>
              </a:buBlip>
              <a:defRPr/>
            </a:lvl1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7" name="Date Placeholder 6"/>
          <p:cNvSpPr>
            <a:spLocks noGrp="1"/>
          </p:cNvSpPr>
          <p:nvPr>
            <p:ph type="dt" sz="half" idx="10"/>
          </p:nvPr>
        </p:nvSpPr>
        <p:spPr/>
        <p:txBody>
          <a:bodyPr/>
          <a:lstStyle/>
          <a:p>
            <a:fld id="{349F6A51-D207-48C8-91B6-3E4D214D935B}" type="datetimeFigureOut">
              <a:rPr lang="es-ES" smtClean="0"/>
              <a:t>17/02/2017</a:t>
            </a:fld>
            <a:endParaRPr lang="es-ES"/>
          </a:p>
        </p:txBody>
      </p:sp>
      <p:sp>
        <p:nvSpPr>
          <p:cNvPr id="9" name="Slide Number Placeholder 8"/>
          <p:cNvSpPr>
            <a:spLocks noGrp="1"/>
          </p:cNvSpPr>
          <p:nvPr>
            <p:ph type="sldNum" sz="quarter" idx="12"/>
          </p:nvPr>
        </p:nvSpPr>
        <p:spPr/>
        <p:txBody>
          <a:bodyPr/>
          <a:lstStyle/>
          <a:p>
            <a:fld id="{5CE51659-FB22-4C34-B8AC-11F5ED9010DC}" type="slidenum">
              <a:rPr lang="es-ES" smtClean="0"/>
              <a:t>‹Nº›</a:t>
            </a:fld>
            <a:endParaRPr lang="es-ES"/>
          </a:p>
        </p:txBody>
      </p:sp>
      <p:pic>
        <p:nvPicPr>
          <p:cNvPr id="12" name="Picture 3" descr="D:\_SDT\propuestas logo\logo-Firma-Correo.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64288" y="6064601"/>
            <a:ext cx="1879375" cy="532751"/>
          </a:xfrm>
          <a:prstGeom prst="rect">
            <a:avLst/>
          </a:prstGeom>
          <a:noFill/>
          <a:extLst>
            <a:ext uri="{909E8E84-426E-40DD-AFC4-6F175D3DCCD1}">
              <a14:hiddenFill xmlns:a14="http://schemas.microsoft.com/office/drawing/2010/main">
                <a:solidFill>
                  <a:srgbClr val="FFFFFF"/>
                </a:solidFill>
              </a14:hiddenFill>
            </a:ext>
          </a:extLst>
        </p:spPr>
      </p:pic>
      <p:sp>
        <p:nvSpPr>
          <p:cNvPr id="8" name="Footer Placeholder 7"/>
          <p:cNvSpPr>
            <a:spLocks noGrp="1"/>
          </p:cNvSpPr>
          <p:nvPr>
            <p:ph type="ftr" sz="quarter" idx="11"/>
          </p:nvPr>
        </p:nvSpPr>
        <p:spPr/>
        <p:txBody>
          <a:bodyPr/>
          <a:lstStyle/>
          <a:p>
            <a:endParaRPr lang="es-ES"/>
          </a:p>
        </p:txBody>
      </p:sp>
      <p:sp>
        <p:nvSpPr>
          <p:cNvPr id="11" name="Rounded Rectangle 10"/>
          <p:cNvSpPr/>
          <p:nvPr/>
        </p:nvSpPr>
        <p:spPr>
          <a:xfrm>
            <a:off x="7524328" y="260648"/>
            <a:ext cx="1296144" cy="1163761"/>
          </a:xfrm>
          <a:prstGeom prst="roundRect">
            <a:avLst/>
          </a:prstGeom>
          <a:solidFill>
            <a:schemeClr val="bg1">
              <a:lumMod val="65000"/>
            </a:schemeClr>
          </a:solidFill>
        </p:spPr>
        <p:style>
          <a:lnRef idx="0">
            <a:schemeClr val="dk1"/>
          </a:lnRef>
          <a:fillRef idx="3">
            <a:schemeClr val="dk1"/>
          </a:fillRef>
          <a:effectRef idx="3">
            <a:schemeClr val="dk1"/>
          </a:effectRef>
          <a:fontRef idx="minor">
            <a:schemeClr val="lt1"/>
          </a:fontRef>
        </p:style>
        <p:txBody>
          <a:bodyPr rtlCol="0" anchor="ctr"/>
          <a:lstStyle/>
          <a:p>
            <a:pPr algn="ctr"/>
            <a:r>
              <a:rPr lang="es-ES" sz="2400" b="0" i="0" dirty="0">
                <a:latin typeface="Arial Black" pitchFamily="34" charset="0"/>
              </a:rPr>
              <a:t>http://</a:t>
            </a:r>
            <a:endParaRPr lang="es-ES" sz="1000" b="0" i="0" dirty="0">
              <a:latin typeface="Arial Black" pitchFamily="34" charset="0"/>
            </a:endParaRPr>
          </a:p>
        </p:txBody>
      </p:sp>
      <p:sp>
        <p:nvSpPr>
          <p:cNvPr id="13" name="TextBox 12"/>
          <p:cNvSpPr txBox="1"/>
          <p:nvPr/>
        </p:nvSpPr>
        <p:spPr>
          <a:xfrm>
            <a:off x="467544" y="404664"/>
            <a:ext cx="6912768" cy="830997"/>
          </a:xfrm>
          <a:prstGeom prst="rect">
            <a:avLst/>
          </a:prstGeom>
          <a:noFill/>
        </p:spPr>
        <p:txBody>
          <a:bodyPr wrap="square" rtlCol="0">
            <a:spAutoFit/>
          </a:bodyPr>
          <a:lstStyle/>
          <a:p>
            <a:r>
              <a:rPr lang="en-US" sz="4800" dirty="0" err="1">
                <a:solidFill>
                  <a:schemeClr val="bg1">
                    <a:lumMod val="50000"/>
                  </a:schemeClr>
                </a:solidFill>
                <a:latin typeface="Arial Black" pitchFamily="34" charset="0"/>
              </a:rPr>
              <a:t>Contacto</a:t>
            </a:r>
            <a:endParaRPr lang="es-ES" sz="4800" dirty="0">
              <a:solidFill>
                <a:schemeClr val="bg1">
                  <a:lumMod val="50000"/>
                </a:schemeClr>
              </a:solidFill>
              <a:latin typeface="Arial Black" pitchFamily="34" charset="0"/>
            </a:endParaRPr>
          </a:p>
        </p:txBody>
      </p:sp>
      <p:sp>
        <p:nvSpPr>
          <p:cNvPr id="2" name="Rectangle 1"/>
          <p:cNvSpPr/>
          <p:nvPr/>
        </p:nvSpPr>
        <p:spPr>
          <a:xfrm>
            <a:off x="467544" y="4509120"/>
            <a:ext cx="5976664" cy="954107"/>
          </a:xfrm>
          <a:prstGeom prst="rect">
            <a:avLst/>
          </a:prstGeom>
        </p:spPr>
        <p:txBody>
          <a:bodyPr wrap="square">
            <a:spAutoFit/>
          </a:bodyPr>
          <a:lstStyle/>
          <a:p>
            <a:pPr lvl="0"/>
            <a:r>
              <a:rPr lang="en-US" sz="3200" dirty="0" err="1">
                <a:solidFill>
                  <a:schemeClr val="bg1">
                    <a:lumMod val="50000"/>
                  </a:schemeClr>
                </a:solidFill>
                <a:latin typeface="Arial Black" pitchFamily="34" charset="0"/>
              </a:rPr>
              <a:t>Sidertia</a:t>
            </a:r>
            <a:r>
              <a:rPr lang="en-US" sz="3200" dirty="0">
                <a:solidFill>
                  <a:schemeClr val="bg1">
                    <a:lumMod val="50000"/>
                  </a:schemeClr>
                </a:solidFill>
                <a:latin typeface="Arial Black" pitchFamily="34" charset="0"/>
              </a:rPr>
              <a:t> Solutions</a:t>
            </a:r>
          </a:p>
          <a:p>
            <a:pPr lvl="0"/>
            <a:r>
              <a:rPr lang="en-US" sz="2400" dirty="0">
                <a:solidFill>
                  <a:schemeClr val="bg1">
                    <a:lumMod val="50000"/>
                  </a:schemeClr>
                </a:solidFill>
                <a:latin typeface="+mn-lt"/>
              </a:rPr>
              <a:t>www.sidertia.com -  Info@sidertia.com</a:t>
            </a:r>
          </a:p>
        </p:txBody>
      </p:sp>
      <p:sp>
        <p:nvSpPr>
          <p:cNvPr id="4" name="Rectangle 3"/>
          <p:cNvSpPr/>
          <p:nvPr/>
        </p:nvSpPr>
        <p:spPr>
          <a:xfrm>
            <a:off x="467544" y="5898758"/>
            <a:ext cx="8218729" cy="461665"/>
          </a:xfrm>
          <a:prstGeom prst="rect">
            <a:avLst/>
          </a:prstGeom>
        </p:spPr>
        <p:txBody>
          <a:bodyPr wrap="square">
            <a:spAutoFit/>
          </a:bodyPr>
          <a:lstStyle/>
          <a:p>
            <a:pPr algn="ctr" defTabSz="914099" eaLnBrk="0" hangingPunct="0"/>
            <a:r>
              <a:rPr lang="es-ES" sz="800" noProof="0" dirty="0">
                <a:gradFill>
                  <a:gsLst>
                    <a:gs pos="0">
                      <a:schemeClr val="tx1"/>
                    </a:gs>
                    <a:gs pos="100000">
                      <a:schemeClr val="tx1"/>
                    </a:gs>
                  </a:gsLst>
                  <a:lin ang="5400000" scaled="0"/>
                </a:gradFill>
                <a:cs typeface="Arial" charset="0"/>
              </a:rPr>
              <a:t>© 2012 </a:t>
            </a:r>
            <a:r>
              <a:rPr lang="es-ES" sz="800" noProof="0" dirty="0" err="1">
                <a:gradFill>
                  <a:gsLst>
                    <a:gs pos="0">
                      <a:schemeClr val="tx1"/>
                    </a:gs>
                    <a:gs pos="100000">
                      <a:schemeClr val="tx1"/>
                    </a:gs>
                  </a:gsLst>
                  <a:lin ang="5400000" scaled="0"/>
                </a:gradFill>
                <a:cs typeface="Arial" charset="0"/>
              </a:rPr>
              <a:t>Sidertia</a:t>
            </a:r>
            <a:r>
              <a:rPr lang="es-ES" sz="800" noProof="0" dirty="0">
                <a:gradFill>
                  <a:gsLst>
                    <a:gs pos="0">
                      <a:schemeClr val="tx1"/>
                    </a:gs>
                    <a:gs pos="100000">
                      <a:schemeClr val="tx1"/>
                    </a:gs>
                  </a:gsLst>
                  <a:lin ang="5400000" scaled="0"/>
                </a:gradFill>
                <a:cs typeface="Arial" charset="0"/>
              </a:rPr>
              <a:t> </a:t>
            </a:r>
            <a:r>
              <a:rPr lang="es-ES" sz="800" noProof="0" dirty="0" err="1">
                <a:gradFill>
                  <a:gsLst>
                    <a:gs pos="0">
                      <a:schemeClr val="tx1"/>
                    </a:gs>
                    <a:gs pos="100000">
                      <a:schemeClr val="tx1"/>
                    </a:gs>
                  </a:gsLst>
                  <a:lin ang="5400000" scaled="0"/>
                </a:gradFill>
                <a:cs typeface="Arial" charset="0"/>
              </a:rPr>
              <a:t>Solutions</a:t>
            </a:r>
            <a:r>
              <a:rPr lang="es-ES" sz="800" noProof="0" dirty="0">
                <a:gradFill>
                  <a:gsLst>
                    <a:gs pos="0">
                      <a:schemeClr val="tx1"/>
                    </a:gs>
                    <a:gs pos="100000">
                      <a:schemeClr val="tx1"/>
                    </a:gs>
                  </a:gsLst>
                  <a:lin ang="5400000" scaled="0"/>
                </a:gradFill>
                <a:cs typeface="Arial" charset="0"/>
              </a:rPr>
              <a:t> S.L. Todos los derechos reservados. </a:t>
            </a:r>
            <a:r>
              <a:rPr lang="es-ES" sz="800" noProof="0" dirty="0" err="1">
                <a:gradFill>
                  <a:gsLst>
                    <a:gs pos="0">
                      <a:schemeClr val="tx1"/>
                    </a:gs>
                    <a:gs pos="100000">
                      <a:schemeClr val="tx1"/>
                    </a:gs>
                  </a:gsLst>
                  <a:lin ang="5400000" scaled="0"/>
                </a:gradFill>
                <a:cs typeface="Arial" charset="0"/>
              </a:rPr>
              <a:t>Sidertia</a:t>
            </a:r>
            <a:r>
              <a:rPr lang="es-ES" sz="800" noProof="0" dirty="0">
                <a:gradFill>
                  <a:gsLst>
                    <a:gs pos="0">
                      <a:schemeClr val="tx1"/>
                    </a:gs>
                    <a:gs pos="100000">
                      <a:schemeClr val="tx1"/>
                    </a:gs>
                  </a:gsLst>
                  <a:lin ang="5400000" scaled="0"/>
                </a:gradFill>
                <a:cs typeface="Arial" charset="0"/>
              </a:rPr>
              <a:t> </a:t>
            </a:r>
            <a:r>
              <a:rPr lang="es-ES" sz="800" noProof="0" dirty="0" err="1">
                <a:gradFill>
                  <a:gsLst>
                    <a:gs pos="0">
                      <a:schemeClr val="tx1"/>
                    </a:gs>
                    <a:gs pos="100000">
                      <a:schemeClr val="tx1"/>
                    </a:gs>
                  </a:gsLst>
                  <a:lin ang="5400000" scaled="0"/>
                </a:gradFill>
                <a:cs typeface="Arial" charset="0"/>
              </a:rPr>
              <a:t>Solutions</a:t>
            </a:r>
            <a:r>
              <a:rPr lang="es-ES" sz="800" noProof="0" dirty="0">
                <a:gradFill>
                  <a:gsLst>
                    <a:gs pos="0">
                      <a:schemeClr val="tx1"/>
                    </a:gs>
                    <a:gs pos="100000">
                      <a:schemeClr val="tx1"/>
                    </a:gs>
                  </a:gsLst>
                  <a:lin ang="5400000" scaled="0"/>
                </a:gradFill>
                <a:cs typeface="Arial" charset="0"/>
              </a:rPr>
              <a:t>, _</a:t>
            </a:r>
            <a:r>
              <a:rPr lang="es-ES" sz="800" noProof="0" dirty="0" err="1">
                <a:gradFill>
                  <a:gsLst>
                    <a:gs pos="0">
                      <a:schemeClr val="tx1"/>
                    </a:gs>
                    <a:gs pos="100000">
                      <a:schemeClr val="tx1"/>
                    </a:gs>
                  </a:gsLst>
                  <a:lin ang="5400000" scaled="0"/>
                </a:gradFill>
                <a:cs typeface="Arial" charset="0"/>
              </a:rPr>
              <a:t>Sidertia</a:t>
            </a:r>
            <a:r>
              <a:rPr lang="es-ES" sz="800" noProof="0" dirty="0">
                <a:gradFill>
                  <a:gsLst>
                    <a:gs pos="0">
                      <a:schemeClr val="tx1"/>
                    </a:gs>
                    <a:gs pos="100000">
                      <a:schemeClr val="tx1"/>
                    </a:gs>
                  </a:gsLst>
                  <a:lin ang="5400000" scaled="0"/>
                </a:gradFill>
                <a:cs typeface="Arial" charset="0"/>
              </a:rPr>
              <a:t>, _SDT ,</a:t>
            </a:r>
            <a:r>
              <a:rPr lang="es-ES" sz="800" baseline="0" noProof="0" dirty="0">
                <a:gradFill>
                  <a:gsLst>
                    <a:gs pos="0">
                      <a:schemeClr val="tx1"/>
                    </a:gs>
                    <a:gs pos="100000">
                      <a:schemeClr val="tx1"/>
                    </a:gs>
                  </a:gsLst>
                  <a:lin ang="5400000" scaled="0"/>
                </a:gradFill>
                <a:cs typeface="Arial" charset="0"/>
              </a:rPr>
              <a:t> logotipos e imágenes corporativas </a:t>
            </a:r>
            <a:r>
              <a:rPr lang="es-ES" sz="800" noProof="0" dirty="0">
                <a:gradFill>
                  <a:gsLst>
                    <a:gs pos="0">
                      <a:schemeClr val="tx1"/>
                    </a:gs>
                    <a:gs pos="100000">
                      <a:schemeClr val="tx1"/>
                    </a:gs>
                  </a:gsLst>
                  <a:lin ang="5400000" scaled="0"/>
                </a:gradFill>
                <a:cs typeface="Arial" charset="0"/>
              </a:rPr>
              <a:t>y otros nombres comerciales son o pueden ser marcas registradas en España u otros países.</a:t>
            </a:r>
            <a:r>
              <a:rPr lang="es-ES" sz="800" baseline="0" noProof="0" dirty="0">
                <a:gradFill>
                  <a:gsLst>
                    <a:gs pos="0">
                      <a:schemeClr val="tx1"/>
                    </a:gs>
                    <a:gs pos="100000">
                      <a:schemeClr val="tx1"/>
                    </a:gs>
                  </a:gsLst>
                  <a:lin ang="5400000" scaled="0"/>
                </a:gradFill>
                <a:cs typeface="Arial" charset="0"/>
              </a:rPr>
              <a:t> Esta presentación puede ser confidencial y es exclusivamente informativa. </a:t>
            </a:r>
            <a:r>
              <a:rPr lang="es-ES" sz="800" baseline="0" noProof="0" dirty="0" err="1">
                <a:gradFill>
                  <a:gsLst>
                    <a:gs pos="0">
                      <a:schemeClr val="tx1"/>
                    </a:gs>
                    <a:gs pos="100000">
                      <a:schemeClr val="tx1"/>
                    </a:gs>
                  </a:gsLst>
                  <a:lin ang="5400000" scaled="0"/>
                </a:gradFill>
                <a:cs typeface="Arial" charset="0"/>
              </a:rPr>
              <a:t>Sidertia</a:t>
            </a:r>
            <a:r>
              <a:rPr lang="es-ES" sz="800" baseline="0" noProof="0" dirty="0">
                <a:gradFill>
                  <a:gsLst>
                    <a:gs pos="0">
                      <a:schemeClr val="tx1"/>
                    </a:gs>
                    <a:gs pos="100000">
                      <a:schemeClr val="tx1"/>
                    </a:gs>
                  </a:gsLst>
                  <a:lin ang="5400000" scaled="0"/>
                </a:gradFill>
                <a:cs typeface="Arial" charset="0"/>
              </a:rPr>
              <a:t> </a:t>
            </a:r>
            <a:r>
              <a:rPr lang="es-ES" sz="800" baseline="0" noProof="0" dirty="0" err="1">
                <a:gradFill>
                  <a:gsLst>
                    <a:gs pos="0">
                      <a:schemeClr val="tx1"/>
                    </a:gs>
                    <a:gs pos="100000">
                      <a:schemeClr val="tx1"/>
                    </a:gs>
                  </a:gsLst>
                  <a:lin ang="5400000" scaled="0"/>
                </a:gradFill>
                <a:cs typeface="Arial" charset="0"/>
              </a:rPr>
              <a:t>Solutions</a:t>
            </a:r>
            <a:r>
              <a:rPr lang="es-ES" sz="800" baseline="0" noProof="0" dirty="0">
                <a:gradFill>
                  <a:gsLst>
                    <a:gs pos="0">
                      <a:schemeClr val="tx1"/>
                    </a:gs>
                    <a:gs pos="100000">
                      <a:schemeClr val="tx1"/>
                    </a:gs>
                  </a:gsLst>
                  <a:lin ang="5400000" scaled="0"/>
                </a:gradFill>
                <a:cs typeface="Arial" charset="0"/>
              </a:rPr>
              <a:t> no ofrece ningún tipo de garantía sobre el contenido de esta presentación.</a:t>
            </a:r>
            <a:endParaRPr lang="es-ES" sz="800" noProof="0" dirty="0">
              <a:gradFill>
                <a:gsLst>
                  <a:gs pos="0">
                    <a:schemeClr val="tx1"/>
                  </a:gs>
                  <a:gs pos="100000">
                    <a:schemeClr val="tx1"/>
                  </a:gs>
                </a:gsLst>
                <a:lin ang="5400000" scaled="0"/>
              </a:gradFill>
              <a:cs typeface="Arial" charset="0"/>
            </a:endParaRPr>
          </a:p>
        </p:txBody>
      </p:sp>
    </p:spTree>
    <p:extLst>
      <p:ext uri="{BB962C8B-B14F-4D97-AF65-F5344CB8AC3E}">
        <p14:creationId xmlns:p14="http://schemas.microsoft.com/office/powerpoint/2010/main" val="2889184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685800"/>
          </a:xfrm>
        </p:spPr>
        <p:txBody>
          <a:bodyPr/>
          <a:lstStyle/>
          <a:p>
            <a:r>
              <a:rPr lang="en-US" dirty="0"/>
              <a:t>Click to edit Master title style</a:t>
            </a:r>
          </a:p>
        </p:txBody>
      </p:sp>
      <p:sp>
        <p:nvSpPr>
          <p:cNvPr id="3" name="Content Placeholder 2"/>
          <p:cNvSpPr>
            <a:spLocks noGrp="1"/>
          </p:cNvSpPr>
          <p:nvPr>
            <p:ph idx="1"/>
          </p:nvPr>
        </p:nvSpPr>
        <p:spPr>
          <a:xfrm>
            <a:off x="457200" y="1752600"/>
            <a:ext cx="8229600" cy="43735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1477CCD-C288-40F3-837E-F276AE63157A}" type="datetimeFigureOut">
              <a:rPr lang="en-US" smtClean="0"/>
              <a:pPr/>
              <a:t>2/17/2017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942FD2C-CBFC-47A7-B58C-AC4139D136F9}" type="slidenum">
              <a:rPr lang="en-US" smtClean="0"/>
              <a:pPr/>
              <a:t>‹Nº›</a:t>
            </a:fld>
            <a:endParaRPr lang="en-US" dirty="0"/>
          </a:p>
        </p:txBody>
      </p:sp>
    </p:spTree>
    <p:extLst>
      <p:ext uri="{BB962C8B-B14F-4D97-AF65-F5344CB8AC3E}">
        <p14:creationId xmlns:p14="http://schemas.microsoft.com/office/powerpoint/2010/main" val="518016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2" descr="D:\_SDT\propuestas logo\portada02.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539681" y="1"/>
            <a:ext cx="2504927"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Autofit/>
          </a:bodyPr>
          <a:lstStyle/>
          <a:p>
            <a:r>
              <a:rPr lang="es-ES"/>
              <a:t>Haga clic para modificar el estilo de título del patrón</a:t>
            </a:r>
            <a:endParaRPr lang="es-E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9F6A51-D207-48C8-91B6-3E4D214D935B}" type="datetimeFigureOut">
              <a:rPr lang="es-ES" smtClean="0"/>
              <a:t>17/02/2017</a:t>
            </a:fld>
            <a:endParaRPr lang="es-E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E51659-FB22-4C34-B8AC-11F5ED9010DC}" type="slidenum">
              <a:rPr lang="es-ES" smtClean="0"/>
              <a:t>‹Nº›</a:t>
            </a:fld>
            <a:endParaRPr lang="es-ES"/>
          </a:p>
        </p:txBody>
      </p:sp>
    </p:spTree>
    <p:extLst>
      <p:ext uri="{BB962C8B-B14F-4D97-AF65-F5344CB8AC3E}">
        <p14:creationId xmlns:p14="http://schemas.microsoft.com/office/powerpoint/2010/main" val="23231329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xStyles>
    <p:titleStyle>
      <a:lvl1pPr algn="l" defTabSz="914400" rtl="0" eaLnBrk="1" latinLnBrk="0" hangingPunct="1">
        <a:spcBef>
          <a:spcPct val="0"/>
        </a:spcBef>
        <a:buNone/>
        <a:defRPr sz="4800" b="1" kern="1200">
          <a:solidFill>
            <a:schemeClr val="bg1">
              <a:lumMod val="50000"/>
            </a:schemeClr>
          </a:solidFill>
          <a:effectLst/>
          <a:latin typeface="Arial Black" pitchFamily="3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b="1" kern="1200">
          <a:solidFill>
            <a:schemeClr val="bg1">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10" Type="http://schemas.openxmlformats.org/officeDocument/2006/relationships/image" Target="../media/image12.png"/><Relationship Id="rId4" Type="http://schemas.openxmlformats.org/officeDocument/2006/relationships/image" Target="../media/image7.jpeg"/><Relationship Id="rId9" Type="http://schemas.openxmlformats.org/officeDocument/2006/relationships/hyperlink" Target="http://www.microsoft.com/mspress/books/8753.aspx"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6.emf"/><Relationship Id="rId5" Type="http://schemas.openxmlformats.org/officeDocument/2006/relationships/oleObject" Target="../embeddings/oleObject1.bin"/><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ES" dirty="0"/>
              <a:t>Seguridad en el SDLC</a:t>
            </a:r>
          </a:p>
        </p:txBody>
      </p:sp>
      <p:sp>
        <p:nvSpPr>
          <p:cNvPr id="3" name="2 Subtítulo"/>
          <p:cNvSpPr>
            <a:spLocks noGrp="1"/>
          </p:cNvSpPr>
          <p:nvPr>
            <p:ph type="subTitle" idx="1"/>
          </p:nvPr>
        </p:nvSpPr>
        <p:spPr/>
        <p:txBody>
          <a:bodyPr/>
          <a:lstStyle/>
          <a:p>
            <a:endParaRPr lang="es-ES" dirty="0"/>
          </a:p>
        </p:txBody>
      </p:sp>
    </p:spTree>
    <p:extLst>
      <p:ext uri="{BB962C8B-B14F-4D97-AF65-F5344CB8AC3E}">
        <p14:creationId xmlns:p14="http://schemas.microsoft.com/office/powerpoint/2010/main" val="3440036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p:txBody>
          <a:bodyPr/>
          <a:lstStyle/>
          <a:p>
            <a:r>
              <a:rPr lang="es-ES" dirty="0"/>
              <a:t>Metodologías para la incorporación de la seguridad en el SDLC:</a:t>
            </a:r>
          </a:p>
          <a:p>
            <a:pPr lvl="1"/>
            <a:r>
              <a:rPr lang="es-ES" dirty="0"/>
              <a:t>CLASP: </a:t>
            </a:r>
            <a:r>
              <a:rPr lang="es-ES" dirty="0" err="1"/>
              <a:t>Lightweight</a:t>
            </a:r>
            <a:r>
              <a:rPr lang="es-ES" dirty="0"/>
              <a:t> </a:t>
            </a:r>
            <a:r>
              <a:rPr lang="es-ES" dirty="0" err="1"/>
              <a:t>Application</a:t>
            </a:r>
            <a:r>
              <a:rPr lang="es-ES" dirty="0"/>
              <a:t> Security </a:t>
            </a:r>
            <a:r>
              <a:rPr lang="es-ES" dirty="0" err="1"/>
              <a:t>Process</a:t>
            </a:r>
            <a:r>
              <a:rPr lang="es-ES" dirty="0"/>
              <a:t> </a:t>
            </a:r>
          </a:p>
          <a:p>
            <a:pPr lvl="1"/>
            <a:r>
              <a:rPr lang="en-US" dirty="0"/>
              <a:t>SAMM: Software Assurance Maturity Model</a:t>
            </a:r>
          </a:p>
          <a:p>
            <a:pPr lvl="1"/>
            <a:r>
              <a:rPr lang="en-US" dirty="0"/>
              <a:t>BSIMM: The Building Security In Maturity Model</a:t>
            </a:r>
          </a:p>
          <a:p>
            <a:pPr lvl="1"/>
            <a:r>
              <a:rPr lang="en-US" dirty="0"/>
              <a:t>TOUCHPOINTS: Set of best practices</a:t>
            </a:r>
          </a:p>
          <a:p>
            <a:pPr lvl="1"/>
            <a:r>
              <a:rPr lang="es-ES" dirty="0"/>
              <a:t>SDL: Security </a:t>
            </a:r>
            <a:r>
              <a:rPr lang="es-ES" dirty="0" err="1"/>
              <a:t>Development</a:t>
            </a:r>
            <a:r>
              <a:rPr lang="es-ES" dirty="0"/>
              <a:t> </a:t>
            </a:r>
            <a:r>
              <a:rPr lang="es-ES" dirty="0" err="1"/>
              <a:t>Lifecycle</a:t>
            </a:r>
            <a:endParaRPr lang="es-ES" dirty="0"/>
          </a:p>
        </p:txBody>
      </p:sp>
      <p:sp>
        <p:nvSpPr>
          <p:cNvPr id="3" name="2 Título"/>
          <p:cNvSpPr>
            <a:spLocks noGrp="1"/>
          </p:cNvSpPr>
          <p:nvPr>
            <p:ph type="title"/>
          </p:nvPr>
        </p:nvSpPr>
        <p:spPr/>
        <p:txBody>
          <a:bodyPr/>
          <a:lstStyle/>
          <a:p>
            <a:r>
              <a:rPr lang="es-ES" dirty="0"/>
              <a:t>SDLC	</a:t>
            </a:r>
          </a:p>
        </p:txBody>
      </p:sp>
    </p:spTree>
    <p:extLst>
      <p:ext uri="{BB962C8B-B14F-4D97-AF65-F5344CB8AC3E}">
        <p14:creationId xmlns:p14="http://schemas.microsoft.com/office/powerpoint/2010/main" val="1720420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1600201"/>
            <a:ext cx="8229600" cy="2908919"/>
          </a:xfrm>
        </p:spPr>
        <p:txBody>
          <a:bodyPr>
            <a:normAutofit fontScale="62500" lnSpcReduction="20000"/>
          </a:bodyPr>
          <a:lstStyle/>
          <a:p>
            <a:r>
              <a:rPr lang="es-ES" dirty="0"/>
              <a:t>Conjunto de actividades de seguridad, que se presentan en el orden en que deben llevarse a cabo y se agrupan por cada una de las fases de un ciclo de vida de desarrollo de software tradicional.</a:t>
            </a:r>
          </a:p>
          <a:p>
            <a:r>
              <a:rPr lang="es-ES" dirty="0"/>
              <a:t>El objetivo es el de incrementar la seguridad y privacidad en los productos software desarrollados.</a:t>
            </a:r>
          </a:p>
          <a:p>
            <a:r>
              <a:rPr lang="es-ES" dirty="0"/>
              <a:t>SD3+C: Seguro por Diseño, Seguro por Defecto, Seguro en Despliegue y Comunicaciones</a:t>
            </a:r>
          </a:p>
          <a:p>
            <a:r>
              <a:rPr lang="es-ES" dirty="0"/>
              <a:t>SDL nace en 2001 y se hace obligatorio en Microsoft en 2004.</a:t>
            </a:r>
          </a:p>
          <a:p>
            <a:r>
              <a:rPr lang="es-ES" dirty="0"/>
              <a:t>Windows Vista, liberado en 2006, fue el primer producto en seguir SDL.</a:t>
            </a:r>
          </a:p>
          <a:p>
            <a:endParaRPr lang="es-ES" dirty="0"/>
          </a:p>
          <a:p>
            <a:endParaRPr lang="es-ES" dirty="0"/>
          </a:p>
          <a:p>
            <a:endParaRPr lang="es-ES" dirty="0"/>
          </a:p>
          <a:p>
            <a:endParaRPr lang="es-ES" dirty="0"/>
          </a:p>
          <a:p>
            <a:endParaRPr lang="es-ES" dirty="0"/>
          </a:p>
        </p:txBody>
      </p:sp>
      <p:sp>
        <p:nvSpPr>
          <p:cNvPr id="3" name="2 Título"/>
          <p:cNvSpPr>
            <a:spLocks noGrp="1"/>
          </p:cNvSpPr>
          <p:nvPr>
            <p:ph type="title"/>
          </p:nvPr>
        </p:nvSpPr>
        <p:spPr/>
        <p:txBody>
          <a:bodyPr/>
          <a:lstStyle/>
          <a:p>
            <a:r>
              <a:rPr lang="es-ES" dirty="0"/>
              <a:t>SDL</a:t>
            </a:r>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4221088"/>
            <a:ext cx="7272808" cy="21335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70698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p:txBody>
          <a:bodyPr>
            <a:normAutofit fontScale="92500" lnSpcReduction="20000"/>
          </a:bodyPr>
          <a:lstStyle/>
          <a:p>
            <a:r>
              <a:rPr lang="es-ES" dirty="0"/>
              <a:t>Roles de revisión o asesoramiento:</a:t>
            </a:r>
          </a:p>
          <a:p>
            <a:pPr lvl="1"/>
            <a:r>
              <a:rPr lang="es-ES" dirty="0"/>
              <a:t>Asesor de seguridad/privacidad</a:t>
            </a:r>
          </a:p>
          <a:p>
            <a:pPr lvl="1"/>
            <a:r>
              <a:rPr lang="es-ES" dirty="0"/>
              <a:t>Perfil: Experto en materia de seguridad y auditor con capacidad para supervisar cada fase del proyecto.	</a:t>
            </a:r>
          </a:p>
          <a:p>
            <a:r>
              <a:rPr lang="es-ES" dirty="0"/>
              <a:t>Lideres de equipo:</a:t>
            </a:r>
          </a:p>
          <a:p>
            <a:pPr lvl="1"/>
            <a:r>
              <a:rPr lang="es-ES" dirty="0"/>
              <a:t>Miembro del equipo del proyecto, debe encargarse de la negociación, aceptación y seguimiento de los requisitos de seguridad y privacidad.</a:t>
            </a:r>
          </a:p>
          <a:p>
            <a:pPr lvl="1"/>
            <a:r>
              <a:rPr lang="es-ES" dirty="0"/>
              <a:t>Debe coordinar y realizar un seguimiento de los problemas de seguridad del proyecto.</a:t>
            </a:r>
          </a:p>
          <a:p>
            <a:endParaRPr lang="es-ES" dirty="0"/>
          </a:p>
        </p:txBody>
      </p:sp>
      <p:sp>
        <p:nvSpPr>
          <p:cNvPr id="3" name="2 Título"/>
          <p:cNvSpPr>
            <a:spLocks noGrp="1"/>
          </p:cNvSpPr>
          <p:nvPr>
            <p:ph type="title"/>
          </p:nvPr>
        </p:nvSpPr>
        <p:spPr/>
        <p:txBody>
          <a:bodyPr/>
          <a:lstStyle/>
          <a:p>
            <a:r>
              <a:rPr lang="es-ES" sz="3600" dirty="0"/>
              <a:t>SDL: Roles, responsabilidades y cualificación del personal</a:t>
            </a:r>
          </a:p>
        </p:txBody>
      </p:sp>
    </p:spTree>
    <p:extLst>
      <p:ext uri="{BB962C8B-B14F-4D97-AF65-F5344CB8AC3E}">
        <p14:creationId xmlns:p14="http://schemas.microsoft.com/office/powerpoint/2010/main" val="812746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p:txBody>
          <a:bodyPr/>
          <a:lstStyle/>
          <a:p>
            <a:r>
              <a:rPr lang="es-ES" dirty="0"/>
              <a:t>Actividades simplificadas de seguridad en el SDLC</a:t>
            </a:r>
          </a:p>
          <a:p>
            <a:pPr marL="0" indent="0">
              <a:buNone/>
            </a:pPr>
            <a:endParaRPr lang="es-ES" dirty="0"/>
          </a:p>
        </p:txBody>
      </p:sp>
      <p:sp>
        <p:nvSpPr>
          <p:cNvPr id="3" name="2 Título"/>
          <p:cNvSpPr>
            <a:spLocks noGrp="1"/>
          </p:cNvSpPr>
          <p:nvPr>
            <p:ph type="title"/>
          </p:nvPr>
        </p:nvSpPr>
        <p:spPr/>
        <p:txBody>
          <a:bodyPr/>
          <a:lstStyle/>
          <a:p>
            <a:r>
              <a:rPr lang="es-ES" dirty="0"/>
              <a:t>SDL: Actividades</a:t>
            </a:r>
          </a:p>
        </p:txBody>
      </p:sp>
      <p:pic>
        <p:nvPicPr>
          <p:cNvPr id="1026" name="Picture 2" descr="Page_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8850" y="2780928"/>
            <a:ext cx="8277130" cy="2016224"/>
          </a:xfrm>
          <a:prstGeom prst="rect">
            <a:avLst/>
          </a:prstGeom>
          <a:noFill/>
          <a:extLst>
            <a:ext uri="{909E8E84-426E-40DD-AFC4-6F175D3DCCD1}">
              <a14:hiddenFill xmlns:a14="http://schemas.microsoft.com/office/drawing/2010/main">
                <a:solidFill>
                  <a:srgbClr val="FFFFFF"/>
                </a:solidFill>
              </a14:hiddenFill>
            </a:ext>
          </a:extLst>
        </p:spPr>
      </p:pic>
      <p:grpSp>
        <p:nvGrpSpPr>
          <p:cNvPr id="5" name="Bottom Bracket"/>
          <p:cNvGrpSpPr>
            <a:grpSpLocks/>
          </p:cNvGrpSpPr>
          <p:nvPr/>
        </p:nvGrpSpPr>
        <p:grpSpPr bwMode="auto">
          <a:xfrm>
            <a:off x="827585" y="4893796"/>
            <a:ext cx="8208911" cy="597490"/>
            <a:chOff x="111660" y="4338083"/>
            <a:chExt cx="8208912" cy="671559"/>
          </a:xfrm>
        </p:grpSpPr>
        <p:sp>
          <p:nvSpPr>
            <p:cNvPr id="6" name="Rectangle 15"/>
            <p:cNvSpPr/>
            <p:nvPr/>
          </p:nvSpPr>
          <p:spPr>
            <a:xfrm>
              <a:off x="2271899" y="4594525"/>
              <a:ext cx="2795740" cy="415115"/>
            </a:xfrm>
            <a:prstGeom prst="rect">
              <a:avLst/>
            </a:prstGeom>
            <a:noFill/>
            <a:ln>
              <a:headEnd type="none" w="med" len="med"/>
              <a:tailEnd type="none" w="med" len="med"/>
            </a:ln>
            <a:effectLst/>
            <a:scene3d>
              <a:camera prst="orthographicFront">
                <a:rot lat="0" lon="0" rev="0"/>
              </a:camera>
              <a:lightRig rig="brightRoom" dir="t">
                <a:rot lat="0" lon="0" rev="12000000"/>
              </a:lightRig>
            </a:scene3d>
            <a:sp3d prstMaterial="softEdge">
              <a:bevelT w="127000" h="63500" prst="softRound"/>
            </a:sp3d>
          </p:spPr>
          <p:txBody>
            <a:bodyPr>
              <a:spAutoFit/>
            </a:bodyPr>
            <a:lstStyle/>
            <a:p>
              <a:pPr algn="ctr" fontAlgn="auto">
                <a:spcBef>
                  <a:spcPts val="0"/>
                </a:spcBef>
                <a:spcAft>
                  <a:spcPts val="0"/>
                </a:spcAft>
                <a:buSzPct val="95000"/>
                <a:defRPr/>
              </a:pPr>
              <a:r>
                <a:rPr lang="en-US" dirty="0" err="1">
                  <a:ln w="1905"/>
                  <a:effectLst>
                    <a:outerShdw sx="1000" sy="1000" algn="tl">
                      <a:srgbClr val="000000"/>
                    </a:outerShdw>
                  </a:effectLst>
                  <a:latin typeface="Segoe UI" pitchFamily="34" charset="0"/>
                  <a:ea typeface="ＭＳ Ｐゴシック" charset="-128"/>
                  <a:cs typeface="Segoe UI" pitchFamily="34" charset="0"/>
                </a:rPr>
                <a:t>Proceso</a:t>
              </a:r>
              <a:endParaRPr lang="en-US" dirty="0">
                <a:ln w="1905"/>
                <a:effectLst>
                  <a:outerShdw sx="1000" sy="1000" algn="tl">
                    <a:srgbClr val="000000"/>
                  </a:outerShdw>
                </a:effectLst>
                <a:latin typeface="Segoe UI" pitchFamily="34" charset="0"/>
                <a:ea typeface="ＭＳ Ｐゴシック" charset="-128"/>
                <a:cs typeface="Segoe UI" pitchFamily="34" charset="0"/>
              </a:endParaRPr>
            </a:p>
          </p:txBody>
        </p:sp>
        <p:sp>
          <p:nvSpPr>
            <p:cNvPr id="7" name="Right Brace 16"/>
            <p:cNvSpPr/>
            <p:nvPr/>
          </p:nvSpPr>
          <p:spPr>
            <a:xfrm rot="5400000">
              <a:off x="3551937" y="2117006"/>
              <a:ext cx="171293" cy="461344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8" name="Rectangle 17"/>
            <p:cNvSpPr/>
            <p:nvPr/>
          </p:nvSpPr>
          <p:spPr>
            <a:xfrm>
              <a:off x="137160" y="4594527"/>
              <a:ext cx="1288915" cy="415115"/>
            </a:xfrm>
            <a:prstGeom prst="rect">
              <a:avLst/>
            </a:prstGeom>
            <a:noFill/>
            <a:ln>
              <a:headEnd type="none" w="med" len="med"/>
              <a:tailEnd type="none" w="med" len="med"/>
            </a:ln>
            <a:effectLst/>
            <a:scene3d>
              <a:camera prst="orthographicFront">
                <a:rot lat="0" lon="0" rev="0"/>
              </a:camera>
              <a:lightRig rig="brightRoom" dir="t">
                <a:rot lat="0" lon="0" rev="12000000"/>
              </a:lightRig>
            </a:scene3d>
            <a:sp3d prstMaterial="softEdge">
              <a:bevelT w="127000" h="63500" prst="softRound"/>
            </a:sp3d>
          </p:spPr>
          <p:txBody>
            <a:bodyPr>
              <a:spAutoFit/>
            </a:bodyPr>
            <a:lstStyle/>
            <a:p>
              <a:pPr algn="ctr" fontAlgn="auto">
                <a:spcBef>
                  <a:spcPts val="0"/>
                </a:spcBef>
                <a:spcAft>
                  <a:spcPts val="0"/>
                </a:spcAft>
                <a:buSzPct val="95000"/>
                <a:defRPr/>
              </a:pPr>
              <a:r>
                <a:rPr lang="en-US" dirty="0" err="1">
                  <a:ln w="1905"/>
                  <a:effectLst>
                    <a:outerShdw sx="1000" sy="1000" algn="tl">
                      <a:srgbClr val="000000"/>
                    </a:outerShdw>
                  </a:effectLst>
                  <a:latin typeface="Segoe UI" pitchFamily="34" charset="0"/>
                  <a:ea typeface="ＭＳ Ｐゴシック" charset="-128"/>
                  <a:cs typeface="Segoe UI" pitchFamily="34" charset="0"/>
                </a:rPr>
                <a:t>Educación</a:t>
              </a:r>
              <a:endParaRPr lang="en-US" dirty="0">
                <a:ln w="1905"/>
                <a:effectLst>
                  <a:outerShdw sx="1000" sy="1000" algn="tl">
                    <a:srgbClr val="000000"/>
                  </a:outerShdw>
                </a:effectLst>
                <a:latin typeface="Segoe UI" pitchFamily="34" charset="0"/>
                <a:ea typeface="ＭＳ Ｐゴシック" charset="-128"/>
                <a:cs typeface="Segoe UI" pitchFamily="34" charset="0"/>
              </a:endParaRPr>
            </a:p>
          </p:txBody>
        </p:sp>
        <p:sp>
          <p:nvSpPr>
            <p:cNvPr id="9" name="Right Brace 18"/>
            <p:cNvSpPr/>
            <p:nvPr/>
          </p:nvSpPr>
          <p:spPr>
            <a:xfrm rot="5400000">
              <a:off x="597513" y="3852230"/>
              <a:ext cx="171293" cy="11430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0" name="Rectangle 19"/>
            <p:cNvSpPr/>
            <p:nvPr/>
          </p:nvSpPr>
          <p:spPr>
            <a:xfrm>
              <a:off x="5943042" y="4573145"/>
              <a:ext cx="2203315" cy="415115"/>
            </a:xfrm>
            <a:prstGeom prst="rect">
              <a:avLst/>
            </a:prstGeom>
            <a:noFill/>
            <a:ln>
              <a:headEnd type="none" w="med" len="med"/>
              <a:tailEnd type="none" w="med" len="med"/>
            </a:ln>
            <a:effectLst/>
            <a:scene3d>
              <a:camera prst="orthographicFront">
                <a:rot lat="0" lon="0" rev="0"/>
              </a:camera>
              <a:lightRig rig="brightRoom" dir="t">
                <a:rot lat="0" lon="0" rev="12000000"/>
              </a:lightRig>
            </a:scene3d>
            <a:sp3d prstMaterial="softEdge">
              <a:bevelT w="127000" h="63500" prst="softRound"/>
            </a:sp3d>
          </p:spPr>
          <p:txBody>
            <a:bodyPr>
              <a:spAutoFit/>
            </a:bodyPr>
            <a:lstStyle/>
            <a:p>
              <a:pPr algn="ctr" fontAlgn="auto">
                <a:spcBef>
                  <a:spcPts val="0"/>
                </a:spcBef>
                <a:spcAft>
                  <a:spcPts val="0"/>
                </a:spcAft>
                <a:buSzPct val="95000"/>
                <a:defRPr/>
              </a:pPr>
              <a:r>
                <a:rPr lang="en-US" dirty="0" err="1">
                  <a:ln w="1905"/>
                  <a:effectLst>
                    <a:outerShdw sx="1000" sy="1000" algn="tl">
                      <a:srgbClr val="000000"/>
                    </a:outerShdw>
                  </a:effectLst>
                  <a:latin typeface="Segoe UI" pitchFamily="34" charset="0"/>
                  <a:ea typeface="ＭＳ Ｐゴシック" charset="-128"/>
                  <a:cs typeface="Segoe UI" pitchFamily="34" charset="0"/>
                </a:rPr>
                <a:t>Responsabilidad</a:t>
              </a:r>
              <a:endParaRPr lang="en-US" dirty="0">
                <a:ln w="1905"/>
                <a:effectLst>
                  <a:outerShdw sx="1000" sy="1000" algn="tl">
                    <a:srgbClr val="000000"/>
                  </a:outerShdw>
                </a:effectLst>
                <a:latin typeface="Segoe UI" pitchFamily="34" charset="0"/>
                <a:ea typeface="ＭＳ Ｐゴシック" charset="-128"/>
                <a:cs typeface="Segoe UI" pitchFamily="34" charset="0"/>
              </a:endParaRPr>
            </a:p>
          </p:txBody>
        </p:sp>
        <p:sp>
          <p:nvSpPr>
            <p:cNvPr id="11" name="Right Brace 20"/>
            <p:cNvSpPr/>
            <p:nvPr/>
          </p:nvSpPr>
          <p:spPr>
            <a:xfrm rot="5400000">
              <a:off x="7032520" y="3249873"/>
              <a:ext cx="199839" cy="2376264"/>
            </a:xfrm>
            <a:prstGeom prst="rightBrace">
              <a:avLst>
                <a:gd name="adj1" fmla="val 8333"/>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grpSp>
    </p:spTree>
    <p:extLst>
      <p:ext uri="{BB962C8B-B14F-4D97-AF65-F5344CB8AC3E}">
        <p14:creationId xmlns:p14="http://schemas.microsoft.com/office/powerpoint/2010/main" val="2200803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p:txBody>
          <a:bodyPr>
            <a:normAutofit lnSpcReduction="10000"/>
          </a:bodyPr>
          <a:lstStyle/>
          <a:p>
            <a:r>
              <a:rPr lang="es-ES" dirty="0"/>
              <a:t>Todos los miembros de un equipo de desarrollo de software deben recibir una formación básica en materia de seguridad con conceptos fundamentales como:</a:t>
            </a:r>
          </a:p>
          <a:p>
            <a:pPr lvl="1"/>
            <a:r>
              <a:rPr lang="es-ES" dirty="0"/>
              <a:t>Diseño seguro</a:t>
            </a:r>
          </a:p>
          <a:p>
            <a:pPr lvl="1"/>
            <a:r>
              <a:rPr lang="es-ES" dirty="0"/>
              <a:t>Modelos de riesgos</a:t>
            </a:r>
          </a:p>
          <a:p>
            <a:pPr lvl="1"/>
            <a:r>
              <a:rPr lang="es-ES" dirty="0"/>
              <a:t>Codificación segura</a:t>
            </a:r>
          </a:p>
          <a:p>
            <a:pPr lvl="1"/>
            <a:r>
              <a:rPr lang="es-ES" dirty="0"/>
              <a:t>Pruebas de seguridad</a:t>
            </a:r>
          </a:p>
          <a:p>
            <a:pPr lvl="1"/>
            <a:r>
              <a:rPr lang="es-ES" dirty="0"/>
              <a:t>Privacidad</a:t>
            </a:r>
          </a:p>
          <a:p>
            <a:pPr marL="0" indent="0">
              <a:buNone/>
            </a:pPr>
            <a:endParaRPr lang="es-ES" dirty="0"/>
          </a:p>
        </p:txBody>
      </p:sp>
      <p:sp>
        <p:nvSpPr>
          <p:cNvPr id="3" name="2 Título"/>
          <p:cNvSpPr>
            <a:spLocks noGrp="1"/>
          </p:cNvSpPr>
          <p:nvPr>
            <p:ph type="title"/>
          </p:nvPr>
        </p:nvSpPr>
        <p:spPr/>
        <p:txBody>
          <a:bodyPr/>
          <a:lstStyle/>
          <a:p>
            <a:r>
              <a:rPr lang="es-ES" dirty="0"/>
              <a:t>SDL: Formación</a:t>
            </a:r>
          </a:p>
        </p:txBody>
      </p:sp>
      <p:pic>
        <p:nvPicPr>
          <p:cNvPr id="12" name="Picture 2" descr="Page_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20272" y="5877272"/>
            <a:ext cx="2660506" cy="648072"/>
          </a:xfrm>
          <a:prstGeom prst="rect">
            <a:avLst/>
          </a:prstGeom>
          <a:noFill/>
          <a:extLst>
            <a:ext uri="{909E8E84-426E-40DD-AFC4-6F175D3DCCD1}">
              <a14:hiddenFill xmlns:a14="http://schemas.microsoft.com/office/drawing/2010/main">
                <a:solidFill>
                  <a:srgbClr val="FFFFFF"/>
                </a:solidFill>
              </a14:hiddenFill>
            </a:ext>
          </a:extLst>
        </p:spPr>
      </p:pic>
      <p:sp>
        <p:nvSpPr>
          <p:cNvPr id="13" name="Right Brace 18"/>
          <p:cNvSpPr/>
          <p:nvPr/>
        </p:nvSpPr>
        <p:spPr bwMode="auto">
          <a:xfrm rot="5400000">
            <a:off x="7171270" y="6464509"/>
            <a:ext cx="76200" cy="34188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Tree>
    <p:extLst>
      <p:ext uri="{BB962C8B-B14F-4D97-AF65-F5344CB8AC3E}">
        <p14:creationId xmlns:p14="http://schemas.microsoft.com/office/powerpoint/2010/main" val="2582733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1600200"/>
            <a:ext cx="9223578" cy="4525963"/>
          </a:xfrm>
        </p:spPr>
        <p:txBody>
          <a:bodyPr>
            <a:normAutofit/>
          </a:bodyPr>
          <a:lstStyle/>
          <a:p>
            <a:r>
              <a:rPr lang="es-ES" dirty="0" err="1"/>
              <a:t>Writing</a:t>
            </a:r>
            <a:r>
              <a:rPr lang="es-ES" dirty="0"/>
              <a:t> </a:t>
            </a:r>
            <a:r>
              <a:rPr lang="es-ES" dirty="0" err="1"/>
              <a:t>Secure</a:t>
            </a:r>
            <a:r>
              <a:rPr lang="es-ES" dirty="0"/>
              <a:t> </a:t>
            </a:r>
            <a:r>
              <a:rPr lang="es-ES" dirty="0" err="1"/>
              <a:t>Code</a:t>
            </a:r>
            <a:endParaRPr lang="es-ES" dirty="0"/>
          </a:p>
          <a:p>
            <a:r>
              <a:rPr lang="es-ES" dirty="0"/>
              <a:t>OWASP </a:t>
            </a:r>
            <a:r>
              <a:rPr lang="es-ES" dirty="0" err="1"/>
              <a:t>Development</a:t>
            </a:r>
            <a:r>
              <a:rPr lang="es-ES" dirty="0"/>
              <a:t> </a:t>
            </a:r>
            <a:r>
              <a:rPr lang="es-ES" dirty="0" err="1"/>
              <a:t>Guide</a:t>
            </a:r>
            <a:endParaRPr lang="es-ES" dirty="0"/>
          </a:p>
          <a:p>
            <a:r>
              <a:rPr lang="de-DE" dirty="0"/>
              <a:t>SEI CERT Coding Standard</a:t>
            </a:r>
          </a:p>
          <a:p>
            <a:r>
              <a:rPr lang="en-US" dirty="0"/>
              <a:t>CWE/SANS Top 25 Most Dangerous Software Errors</a:t>
            </a:r>
            <a:endParaRPr lang="es-ES" dirty="0"/>
          </a:p>
          <a:p>
            <a:pPr marL="0" indent="0">
              <a:buNone/>
            </a:pPr>
            <a:endParaRPr lang="es-ES" dirty="0"/>
          </a:p>
        </p:txBody>
      </p:sp>
      <p:sp>
        <p:nvSpPr>
          <p:cNvPr id="3" name="2 Título"/>
          <p:cNvSpPr>
            <a:spLocks noGrp="1"/>
          </p:cNvSpPr>
          <p:nvPr>
            <p:ph type="title"/>
          </p:nvPr>
        </p:nvSpPr>
        <p:spPr/>
        <p:txBody>
          <a:bodyPr/>
          <a:lstStyle/>
          <a:p>
            <a:r>
              <a:rPr lang="es-ES" dirty="0"/>
              <a:t>SDL: Formación</a:t>
            </a:r>
          </a:p>
        </p:txBody>
      </p:sp>
      <p:pic>
        <p:nvPicPr>
          <p:cNvPr id="12" name="Picture 2" descr="Page_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20272" y="5877272"/>
            <a:ext cx="2660506" cy="648072"/>
          </a:xfrm>
          <a:prstGeom prst="rect">
            <a:avLst/>
          </a:prstGeom>
          <a:noFill/>
          <a:extLst>
            <a:ext uri="{909E8E84-426E-40DD-AFC4-6F175D3DCCD1}">
              <a14:hiddenFill xmlns:a14="http://schemas.microsoft.com/office/drawing/2010/main">
                <a:solidFill>
                  <a:srgbClr val="FFFFFF"/>
                </a:solidFill>
              </a14:hiddenFill>
            </a:ext>
          </a:extLst>
        </p:spPr>
      </p:pic>
      <p:sp>
        <p:nvSpPr>
          <p:cNvPr id="13" name="Right Brace 18"/>
          <p:cNvSpPr/>
          <p:nvPr/>
        </p:nvSpPr>
        <p:spPr bwMode="auto">
          <a:xfrm rot="5400000">
            <a:off x="7171270" y="6464509"/>
            <a:ext cx="76200" cy="34188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pic>
        <p:nvPicPr>
          <p:cNvPr id="4" name="3 Image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7544" y="4365104"/>
            <a:ext cx="920154" cy="1122140"/>
          </a:xfrm>
          <a:prstGeom prst="rect">
            <a:avLst/>
          </a:prstGeom>
        </p:spPr>
      </p:pic>
      <p:pic>
        <p:nvPicPr>
          <p:cNvPr id="2050" name="Picture 2" descr="http://ecx.images-amazon.com/images/I/51dr2aw7HGL._SX363_BO1,204,203,200_.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V="1">
            <a:off x="1619673" y="4365104"/>
            <a:ext cx="864095" cy="112214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ecure Coding in C and C++, 2nd Editio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71800" y="4365105"/>
            <a:ext cx="888823" cy="112214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CERT Oracle Secure Coding Standard for Java, Th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23928" y="4377233"/>
            <a:ext cx="845722" cy="1110011"/>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04048" y="4365104"/>
            <a:ext cx="1161172" cy="11221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5">
            <a:hlinkClick r:id="rId9"/>
          </p:cNvPr>
          <p:cNvPicPr>
            <a:picLocks noChangeAspect="1" noChangeArrowheads="1"/>
          </p:cNvPicPr>
          <p:nvPr/>
        </p:nvPicPr>
        <p:blipFill>
          <a:blip r:embed="rId10"/>
          <a:srcRect/>
          <a:stretch>
            <a:fillRect/>
          </a:stretch>
        </p:blipFill>
        <p:spPr>
          <a:xfrm>
            <a:off x="6372200" y="4377233"/>
            <a:ext cx="972982" cy="1110011"/>
          </a:xfrm>
          <a:prstGeom prst="rect">
            <a:avLst/>
          </a:prstGeom>
        </p:spPr>
      </p:pic>
    </p:spTree>
    <p:extLst>
      <p:ext uri="{BB962C8B-B14F-4D97-AF65-F5344CB8AC3E}">
        <p14:creationId xmlns:p14="http://schemas.microsoft.com/office/powerpoint/2010/main" val="2571262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1600200"/>
            <a:ext cx="9223578" cy="4525963"/>
          </a:xfrm>
        </p:spPr>
        <p:txBody>
          <a:bodyPr>
            <a:normAutofit/>
          </a:bodyPr>
          <a:lstStyle/>
          <a:p>
            <a:endParaRPr lang="es-ES" dirty="0"/>
          </a:p>
          <a:p>
            <a:pPr marL="0" indent="0">
              <a:buNone/>
            </a:pPr>
            <a:endParaRPr lang="es-ES" dirty="0"/>
          </a:p>
        </p:txBody>
      </p:sp>
      <p:sp>
        <p:nvSpPr>
          <p:cNvPr id="3" name="2 Título"/>
          <p:cNvSpPr>
            <a:spLocks noGrp="1"/>
          </p:cNvSpPr>
          <p:nvPr>
            <p:ph type="title"/>
          </p:nvPr>
        </p:nvSpPr>
        <p:spPr/>
        <p:txBody>
          <a:bodyPr/>
          <a:lstStyle/>
          <a:p>
            <a:r>
              <a:rPr lang="es-ES" dirty="0"/>
              <a:t>SDL: Requisitos</a:t>
            </a:r>
          </a:p>
        </p:txBody>
      </p:sp>
      <p:pic>
        <p:nvPicPr>
          <p:cNvPr id="12" name="Picture 2" descr="Page_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20272" y="5877272"/>
            <a:ext cx="2660506" cy="648072"/>
          </a:xfrm>
          <a:prstGeom prst="rect">
            <a:avLst/>
          </a:prstGeom>
          <a:noFill/>
          <a:extLst>
            <a:ext uri="{909E8E84-426E-40DD-AFC4-6F175D3DCCD1}">
              <a14:hiddenFill xmlns:a14="http://schemas.microsoft.com/office/drawing/2010/main">
                <a:solidFill>
                  <a:srgbClr val="FFFFFF"/>
                </a:solidFill>
              </a14:hiddenFill>
            </a:ext>
          </a:extLst>
        </p:spPr>
      </p:pic>
      <p:sp>
        <p:nvSpPr>
          <p:cNvPr id="13" name="Right Brace 18"/>
          <p:cNvSpPr/>
          <p:nvPr/>
        </p:nvSpPr>
        <p:spPr bwMode="auto">
          <a:xfrm rot="5400000">
            <a:off x="7513155" y="6418690"/>
            <a:ext cx="76200" cy="34188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9" name="1 Marcador de contenido"/>
          <p:cNvSpPr txBox="1">
            <a:spLocks/>
          </p:cNvSpPr>
          <p:nvPr/>
        </p:nvSpPr>
        <p:spPr>
          <a:xfrm>
            <a:off x="609600" y="1752600"/>
            <a:ext cx="9223578"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Tx/>
              <a:buBlip>
                <a:blip r:embed="rId4"/>
              </a:buBlip>
              <a:defRPr sz="3200" b="1" kern="1200">
                <a:solidFill>
                  <a:schemeClr val="bg1">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dirty="0"/>
              <a:t>Requisitos de seguridad</a:t>
            </a:r>
          </a:p>
          <a:p>
            <a:r>
              <a:rPr lang="es-ES" dirty="0"/>
              <a:t>Umbrales de calidad y limites de errores</a:t>
            </a:r>
          </a:p>
          <a:p>
            <a:r>
              <a:rPr lang="es-ES" dirty="0"/>
              <a:t>Evaluación de los riesgos de seguridad y privacidad</a:t>
            </a:r>
          </a:p>
          <a:p>
            <a:pPr lvl="1"/>
            <a:r>
              <a:rPr lang="es-ES" dirty="0"/>
              <a:t>Partes que necesitan modelos de riesgos/amenazas</a:t>
            </a:r>
          </a:p>
          <a:p>
            <a:pPr lvl="1"/>
            <a:r>
              <a:rPr lang="es-ES" dirty="0"/>
              <a:t>Partes que necesitan revisión de diseño de seguridad</a:t>
            </a:r>
          </a:p>
          <a:p>
            <a:pPr lvl="1"/>
            <a:r>
              <a:rPr lang="es-ES" dirty="0"/>
              <a:t>Partes que necesitan pruebas de penetración de terceros</a:t>
            </a:r>
          </a:p>
          <a:p>
            <a:pPr lvl="1"/>
            <a:r>
              <a:rPr lang="es-ES" dirty="0"/>
              <a:t>Partes que necesitan análisis dinámico</a:t>
            </a:r>
          </a:p>
          <a:p>
            <a:pPr lvl="1"/>
            <a:r>
              <a:rPr lang="es-ES" dirty="0"/>
              <a:t>Nivel de impacto sobre la privacidad</a:t>
            </a:r>
          </a:p>
          <a:p>
            <a:endParaRPr lang="es-ES" dirty="0"/>
          </a:p>
          <a:p>
            <a:pPr lvl="1"/>
            <a:endParaRPr lang="es-ES" dirty="0"/>
          </a:p>
          <a:p>
            <a:endParaRPr lang="es-ES" dirty="0"/>
          </a:p>
          <a:p>
            <a:pPr lvl="1"/>
            <a:endParaRPr lang="es-ES" dirty="0"/>
          </a:p>
          <a:p>
            <a:pPr lvl="1"/>
            <a:endParaRPr lang="es-ES" dirty="0"/>
          </a:p>
          <a:p>
            <a:pPr lvl="1"/>
            <a:endParaRPr lang="es-ES" dirty="0"/>
          </a:p>
          <a:p>
            <a:endParaRPr lang="es-ES" dirty="0"/>
          </a:p>
          <a:p>
            <a:pPr marL="0" indent="0">
              <a:buFontTx/>
              <a:buNone/>
            </a:pPr>
            <a:endParaRPr lang="es-ES" dirty="0"/>
          </a:p>
        </p:txBody>
      </p:sp>
    </p:spTree>
    <p:extLst>
      <p:ext uri="{BB962C8B-B14F-4D97-AF65-F5344CB8AC3E}">
        <p14:creationId xmlns:p14="http://schemas.microsoft.com/office/powerpoint/2010/main" val="1709196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1600200"/>
            <a:ext cx="9223578" cy="4525963"/>
          </a:xfrm>
        </p:spPr>
        <p:txBody>
          <a:bodyPr>
            <a:normAutofit/>
          </a:bodyPr>
          <a:lstStyle/>
          <a:p>
            <a:endParaRPr lang="es-ES" dirty="0"/>
          </a:p>
          <a:p>
            <a:pPr marL="0" indent="0">
              <a:buNone/>
            </a:pPr>
            <a:endParaRPr lang="es-ES" dirty="0"/>
          </a:p>
        </p:txBody>
      </p:sp>
      <p:sp>
        <p:nvSpPr>
          <p:cNvPr id="3" name="2 Título"/>
          <p:cNvSpPr>
            <a:spLocks noGrp="1"/>
          </p:cNvSpPr>
          <p:nvPr>
            <p:ph type="title"/>
          </p:nvPr>
        </p:nvSpPr>
        <p:spPr/>
        <p:txBody>
          <a:bodyPr/>
          <a:lstStyle/>
          <a:p>
            <a:r>
              <a:rPr lang="es-ES" dirty="0"/>
              <a:t>SDL: Diseño</a:t>
            </a:r>
          </a:p>
        </p:txBody>
      </p:sp>
      <p:pic>
        <p:nvPicPr>
          <p:cNvPr id="12" name="Picture 2" descr="Page_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20272" y="5877272"/>
            <a:ext cx="2660506" cy="648072"/>
          </a:xfrm>
          <a:prstGeom prst="rect">
            <a:avLst/>
          </a:prstGeom>
          <a:noFill/>
          <a:extLst>
            <a:ext uri="{909E8E84-426E-40DD-AFC4-6F175D3DCCD1}">
              <a14:hiddenFill xmlns:a14="http://schemas.microsoft.com/office/drawing/2010/main">
                <a:solidFill>
                  <a:srgbClr val="FFFFFF"/>
                </a:solidFill>
              </a14:hiddenFill>
            </a:ext>
          </a:extLst>
        </p:spPr>
      </p:pic>
      <p:sp>
        <p:nvSpPr>
          <p:cNvPr id="13" name="Right Brace 18"/>
          <p:cNvSpPr/>
          <p:nvPr/>
        </p:nvSpPr>
        <p:spPr bwMode="auto">
          <a:xfrm rot="5400000">
            <a:off x="7891349" y="6429048"/>
            <a:ext cx="76200" cy="34188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4" name="1 Marcador de contenido"/>
          <p:cNvSpPr txBox="1">
            <a:spLocks/>
          </p:cNvSpPr>
          <p:nvPr/>
        </p:nvSpPr>
        <p:spPr>
          <a:xfrm>
            <a:off x="609600" y="1752600"/>
            <a:ext cx="9223578" cy="4525963"/>
          </a:xfrm>
          <a:prstGeom prst="rect">
            <a:avLst/>
          </a:prstGeom>
        </p:spPr>
        <p:txBody>
          <a:bodyPr vert="horz" lIns="91440" tIns="45720" rIns="91440" bIns="45720" rtlCol="0">
            <a:normAutofit fontScale="85000" lnSpcReduction="20000"/>
          </a:bodyPr>
          <a:lstStyle>
            <a:lvl1pPr marL="342900" indent="-342900" algn="l" defTabSz="914400" rtl="0" eaLnBrk="1" latinLnBrk="0" hangingPunct="1">
              <a:spcBef>
                <a:spcPct val="20000"/>
              </a:spcBef>
              <a:buFontTx/>
              <a:buBlip>
                <a:blip r:embed="rId4"/>
              </a:buBlip>
              <a:defRPr sz="3200" b="1" kern="1200">
                <a:solidFill>
                  <a:schemeClr val="bg1">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dirty="0"/>
              <a:t>Especificación de las características de diseño</a:t>
            </a:r>
          </a:p>
          <a:p>
            <a:pPr lvl="1"/>
            <a:r>
              <a:rPr lang="es-ES" dirty="0"/>
              <a:t>Documentos de arquitectura</a:t>
            </a:r>
          </a:p>
          <a:p>
            <a:pPr lvl="1"/>
            <a:r>
              <a:rPr lang="es-ES" dirty="0"/>
              <a:t>Apertura de puertos</a:t>
            </a:r>
          </a:p>
          <a:p>
            <a:pPr lvl="1"/>
            <a:r>
              <a:rPr lang="es-ES" dirty="0"/>
              <a:t>Requisitos criptográficos</a:t>
            </a:r>
          </a:p>
          <a:p>
            <a:pPr lvl="1"/>
            <a:r>
              <a:rPr lang="es-ES" dirty="0"/>
              <a:t>Permisos necesarios (UAC)</a:t>
            </a:r>
          </a:p>
          <a:p>
            <a:r>
              <a:rPr lang="es-ES" dirty="0"/>
              <a:t>Minimizar la superficie de ataque</a:t>
            </a:r>
          </a:p>
          <a:p>
            <a:pPr lvl="1"/>
            <a:r>
              <a:rPr lang="es-ES" dirty="0"/>
              <a:t>Principio del menor privilegio</a:t>
            </a:r>
          </a:p>
          <a:p>
            <a:pPr lvl="1"/>
            <a:r>
              <a:rPr lang="es-ES" dirty="0"/>
              <a:t>Instalación segura por defecto</a:t>
            </a:r>
          </a:p>
          <a:p>
            <a:pPr lvl="1"/>
            <a:r>
              <a:rPr lang="es-ES" dirty="0"/>
              <a:t>Defensa en capas</a:t>
            </a:r>
          </a:p>
          <a:p>
            <a:r>
              <a:rPr lang="es-ES" dirty="0"/>
              <a:t>Modelo de amenazas</a:t>
            </a:r>
          </a:p>
          <a:p>
            <a:pPr lvl="1"/>
            <a:r>
              <a:rPr lang="es-ES" dirty="0"/>
              <a:t>SDL </a:t>
            </a:r>
            <a:r>
              <a:rPr lang="es-ES" dirty="0" err="1"/>
              <a:t>Threat</a:t>
            </a:r>
            <a:r>
              <a:rPr lang="es-ES" dirty="0"/>
              <a:t> </a:t>
            </a:r>
            <a:r>
              <a:rPr lang="es-ES" dirty="0" err="1"/>
              <a:t>Modeling</a:t>
            </a:r>
            <a:r>
              <a:rPr lang="es-ES" dirty="0"/>
              <a:t> </a:t>
            </a:r>
            <a:r>
              <a:rPr lang="es-ES" dirty="0" err="1"/>
              <a:t>Tool</a:t>
            </a:r>
            <a:endParaRPr lang="es-ES" dirty="0"/>
          </a:p>
          <a:p>
            <a:pPr marL="0" indent="0">
              <a:buNone/>
            </a:pPr>
            <a:endParaRPr lang="es-ES" dirty="0"/>
          </a:p>
          <a:p>
            <a:pPr lvl="1"/>
            <a:endParaRPr lang="es-ES" dirty="0"/>
          </a:p>
          <a:p>
            <a:pPr lvl="1"/>
            <a:endParaRPr lang="es-ES" dirty="0"/>
          </a:p>
          <a:p>
            <a:pPr lvl="1"/>
            <a:endParaRPr lang="es-ES" dirty="0"/>
          </a:p>
          <a:p>
            <a:endParaRPr lang="es-ES" dirty="0"/>
          </a:p>
          <a:p>
            <a:pPr marL="0" indent="0">
              <a:buFontTx/>
              <a:buNone/>
            </a:pPr>
            <a:endParaRPr lang="es-ES" dirty="0"/>
          </a:p>
        </p:txBody>
      </p:sp>
    </p:spTree>
    <p:extLst>
      <p:ext uri="{BB962C8B-B14F-4D97-AF65-F5344CB8AC3E}">
        <p14:creationId xmlns:p14="http://schemas.microsoft.com/office/powerpoint/2010/main" val="2630570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1600200"/>
            <a:ext cx="9223578" cy="4525963"/>
          </a:xfrm>
        </p:spPr>
        <p:txBody>
          <a:bodyPr>
            <a:normAutofit/>
          </a:bodyPr>
          <a:lstStyle/>
          <a:p>
            <a:endParaRPr lang="es-ES" dirty="0"/>
          </a:p>
          <a:p>
            <a:pPr marL="0" indent="0">
              <a:buNone/>
            </a:pPr>
            <a:endParaRPr lang="es-ES" dirty="0"/>
          </a:p>
        </p:txBody>
      </p:sp>
      <p:sp>
        <p:nvSpPr>
          <p:cNvPr id="3" name="2 Título"/>
          <p:cNvSpPr>
            <a:spLocks noGrp="1"/>
          </p:cNvSpPr>
          <p:nvPr>
            <p:ph type="title"/>
          </p:nvPr>
        </p:nvSpPr>
        <p:spPr/>
        <p:txBody>
          <a:bodyPr/>
          <a:lstStyle/>
          <a:p>
            <a:r>
              <a:rPr lang="es-ES" dirty="0"/>
              <a:t>SDL: </a:t>
            </a:r>
            <a:r>
              <a:rPr lang="es-ES" dirty="0" err="1"/>
              <a:t>Threat</a:t>
            </a:r>
            <a:r>
              <a:rPr lang="es-ES" dirty="0"/>
              <a:t> </a:t>
            </a:r>
            <a:r>
              <a:rPr lang="es-ES" dirty="0" err="1"/>
              <a:t>Modeling</a:t>
            </a:r>
            <a:endParaRPr lang="es-ES" dirty="0"/>
          </a:p>
        </p:txBody>
      </p:sp>
      <p:pic>
        <p:nvPicPr>
          <p:cNvPr id="12" name="Picture 2" descr="Page_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20272" y="5877272"/>
            <a:ext cx="2660506" cy="648072"/>
          </a:xfrm>
          <a:prstGeom prst="rect">
            <a:avLst/>
          </a:prstGeom>
          <a:noFill/>
          <a:extLst>
            <a:ext uri="{909E8E84-426E-40DD-AFC4-6F175D3DCCD1}">
              <a14:hiddenFill xmlns:a14="http://schemas.microsoft.com/office/drawing/2010/main">
                <a:solidFill>
                  <a:srgbClr val="FFFFFF"/>
                </a:solidFill>
              </a14:hiddenFill>
            </a:ext>
          </a:extLst>
        </p:spPr>
      </p:pic>
      <p:sp>
        <p:nvSpPr>
          <p:cNvPr id="13" name="Right Brace 18"/>
          <p:cNvSpPr/>
          <p:nvPr/>
        </p:nvSpPr>
        <p:spPr bwMode="auto">
          <a:xfrm rot="5400000">
            <a:off x="7891349" y="6429048"/>
            <a:ext cx="76200" cy="34188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4" name="1 Marcador de contenido"/>
          <p:cNvSpPr txBox="1">
            <a:spLocks/>
          </p:cNvSpPr>
          <p:nvPr/>
        </p:nvSpPr>
        <p:spPr>
          <a:xfrm>
            <a:off x="609600" y="1752600"/>
            <a:ext cx="9223578" cy="4525963"/>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Tx/>
              <a:buBlip>
                <a:blip r:embed="rId4"/>
              </a:buBlip>
              <a:defRPr sz="3200" b="1" kern="1200">
                <a:solidFill>
                  <a:schemeClr val="bg1">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dirty="0"/>
              <a:t>Modelo de amenazas </a:t>
            </a:r>
          </a:p>
          <a:p>
            <a:pPr lvl="1"/>
            <a:r>
              <a:rPr lang="es-ES" dirty="0"/>
              <a:t>Proceso para entender las amenazas de seguridad de un sistema, determinar los riesgos, y establecer las medidas mitigadoras apropiadas.</a:t>
            </a:r>
          </a:p>
          <a:p>
            <a:r>
              <a:rPr lang="es-ES" dirty="0"/>
              <a:t>Flujo de trabajo</a:t>
            </a:r>
          </a:p>
          <a:p>
            <a:pPr lvl="1"/>
            <a:r>
              <a:rPr lang="es-ES" dirty="0"/>
              <a:t>Generar diagramas</a:t>
            </a:r>
          </a:p>
          <a:p>
            <a:pPr lvl="1"/>
            <a:r>
              <a:rPr lang="es-ES" dirty="0"/>
              <a:t>Enumerar amenazas</a:t>
            </a:r>
          </a:p>
          <a:p>
            <a:pPr lvl="1"/>
            <a:r>
              <a:rPr lang="es-ES" dirty="0"/>
              <a:t>Medidas mitigadoras</a:t>
            </a:r>
          </a:p>
          <a:p>
            <a:pPr lvl="1"/>
            <a:r>
              <a:rPr lang="es-ES" dirty="0"/>
              <a:t>Validación</a:t>
            </a:r>
          </a:p>
          <a:p>
            <a:pPr lvl="1"/>
            <a:endParaRPr lang="es-ES" dirty="0"/>
          </a:p>
          <a:p>
            <a:pPr lvl="1"/>
            <a:endParaRPr lang="es-ES" dirty="0"/>
          </a:p>
          <a:p>
            <a:pPr marL="0" indent="0">
              <a:buNone/>
            </a:pPr>
            <a:endParaRPr lang="es-ES" dirty="0"/>
          </a:p>
          <a:p>
            <a:pPr lvl="1"/>
            <a:endParaRPr lang="es-ES" dirty="0"/>
          </a:p>
          <a:p>
            <a:pPr lvl="1"/>
            <a:endParaRPr lang="es-ES" dirty="0"/>
          </a:p>
          <a:p>
            <a:pPr lvl="1"/>
            <a:endParaRPr lang="es-ES" dirty="0"/>
          </a:p>
          <a:p>
            <a:endParaRPr lang="es-ES" dirty="0"/>
          </a:p>
          <a:p>
            <a:pPr marL="0" indent="0">
              <a:buFontTx/>
              <a:buNone/>
            </a:pPr>
            <a:endParaRPr lang="es-ES" dirty="0"/>
          </a:p>
        </p:txBody>
      </p:sp>
      <p:pic>
        <p:nvPicPr>
          <p:cNvPr id="512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60032" y="4063318"/>
            <a:ext cx="2088232" cy="16753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0754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9" name="Picture 3"/>
          <p:cNvPicPr>
            <a:picLocks noChangeAspect="1" noChangeArrowheads="1"/>
          </p:cNvPicPr>
          <p:nvPr/>
        </p:nvPicPr>
        <p:blipFill>
          <a:blip r:embed="rId3"/>
          <a:srcRect/>
          <a:stretch>
            <a:fillRect/>
          </a:stretch>
        </p:blipFill>
        <p:spPr bwMode="auto">
          <a:xfrm>
            <a:off x="1371600" y="1447800"/>
            <a:ext cx="6134100" cy="46101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pPr>
              <a:defRPr/>
            </a:pPr>
            <a:fld id="{6E6BAAFE-95DD-40FB-B9BE-7EB3BDECE924}" type="slidenum">
              <a:rPr lang="en-US" smtClean="0"/>
              <a:pPr>
                <a:defRPr/>
              </a:pPr>
              <a:t>11</a:t>
            </a:fld>
            <a:endParaRPr lang="en-US" dirty="0"/>
          </a:p>
        </p:txBody>
      </p:sp>
      <p:pic>
        <p:nvPicPr>
          <p:cNvPr id="5" name="Picture 4" descr="C:\Documents and Settings\EclipSec Kevin Lam\Local Settings\Temporary Internet Files\Content.IE5\OVSPOLA5\MCj04326100000[1].png"/>
          <p:cNvPicPr>
            <a:picLocks noChangeAspect="1" noChangeArrowheads="1"/>
          </p:cNvPicPr>
          <p:nvPr/>
        </p:nvPicPr>
        <p:blipFill>
          <a:blip r:embed="rId4"/>
          <a:srcRect/>
          <a:stretch>
            <a:fillRect/>
          </a:stretch>
        </p:blipFill>
        <p:spPr bwMode="auto">
          <a:xfrm>
            <a:off x="838200" y="3505200"/>
            <a:ext cx="1219200" cy="1219200"/>
          </a:xfrm>
          <a:prstGeom prst="rect">
            <a:avLst/>
          </a:prstGeom>
          <a:noFill/>
          <a:ln w="9525">
            <a:noFill/>
            <a:miter lim="800000"/>
            <a:headEnd/>
            <a:tailEnd/>
          </a:ln>
        </p:spPr>
      </p:pic>
      <p:sp>
        <p:nvSpPr>
          <p:cNvPr id="7" name="Rectangle 6"/>
          <p:cNvSpPr/>
          <p:nvPr/>
        </p:nvSpPr>
        <p:spPr>
          <a:xfrm>
            <a:off x="3733800" y="3657600"/>
            <a:ext cx="1524000" cy="9906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Application Service</a:t>
            </a:r>
          </a:p>
        </p:txBody>
      </p:sp>
      <p:sp>
        <p:nvSpPr>
          <p:cNvPr id="10" name="Flowchart: Magnetic Disk 9"/>
          <p:cNvSpPr/>
          <p:nvPr/>
        </p:nvSpPr>
        <p:spPr>
          <a:xfrm>
            <a:off x="6553200" y="3429000"/>
            <a:ext cx="1524000" cy="1295400"/>
          </a:xfrm>
          <a:prstGeom prst="flowChartMagneticDisk">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Database Server</a:t>
            </a:r>
          </a:p>
        </p:txBody>
      </p:sp>
      <p:sp>
        <p:nvSpPr>
          <p:cNvPr id="11" name="Rectangle 10"/>
          <p:cNvSpPr/>
          <p:nvPr/>
        </p:nvSpPr>
        <p:spPr>
          <a:xfrm>
            <a:off x="3733800" y="5410200"/>
            <a:ext cx="1524000" cy="9906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tx1"/>
                </a:solidFill>
              </a:rPr>
              <a:t>Authentication / Authorization</a:t>
            </a:r>
          </a:p>
          <a:p>
            <a:pPr algn="ctr">
              <a:defRPr/>
            </a:pPr>
            <a:r>
              <a:rPr lang="en-US" sz="1600" dirty="0">
                <a:solidFill>
                  <a:schemeClr val="tx1"/>
                </a:solidFill>
              </a:rPr>
              <a:t>Services</a:t>
            </a:r>
          </a:p>
        </p:txBody>
      </p:sp>
      <p:sp>
        <p:nvSpPr>
          <p:cNvPr id="12" name="Rectangle 11"/>
          <p:cNvSpPr/>
          <p:nvPr/>
        </p:nvSpPr>
        <p:spPr>
          <a:xfrm>
            <a:off x="3733800" y="1905000"/>
            <a:ext cx="1524000" cy="9906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Registry</a:t>
            </a:r>
          </a:p>
        </p:txBody>
      </p:sp>
      <p:sp>
        <p:nvSpPr>
          <p:cNvPr id="13" name="Right Arrow 12"/>
          <p:cNvSpPr/>
          <p:nvPr/>
        </p:nvSpPr>
        <p:spPr>
          <a:xfrm>
            <a:off x="2133600" y="3810000"/>
            <a:ext cx="1219200" cy="609600"/>
          </a:xfrm>
          <a:prstGeom prst="rightArrow">
            <a:avLst/>
          </a:prstGeom>
        </p:spPr>
        <p:style>
          <a:lnRef idx="0">
            <a:schemeClr val="accent3"/>
          </a:lnRef>
          <a:fillRef idx="3">
            <a:schemeClr val="accent3"/>
          </a:fillRef>
          <a:effectRef idx="3">
            <a:schemeClr val="accent3"/>
          </a:effectRef>
          <a:fontRef idx="minor">
            <a:schemeClr val="lt1"/>
          </a:fontRef>
        </p:style>
        <p:txBody>
          <a:bodyPr anchor="ctr"/>
          <a:lstStyle/>
          <a:p>
            <a:pPr algn="ctr">
              <a:defRPr/>
            </a:pPr>
            <a:endParaRPr lang="en-US" dirty="0"/>
          </a:p>
        </p:txBody>
      </p:sp>
      <p:sp>
        <p:nvSpPr>
          <p:cNvPr id="15" name="Right Arrow 14"/>
          <p:cNvSpPr/>
          <p:nvPr/>
        </p:nvSpPr>
        <p:spPr>
          <a:xfrm>
            <a:off x="5486400" y="3810000"/>
            <a:ext cx="914400" cy="609600"/>
          </a:xfrm>
          <a:prstGeom prst="rightArrow">
            <a:avLst/>
          </a:prstGeom>
        </p:spPr>
        <p:style>
          <a:lnRef idx="0">
            <a:schemeClr val="accent3"/>
          </a:lnRef>
          <a:fillRef idx="3">
            <a:schemeClr val="accent3"/>
          </a:fillRef>
          <a:effectRef idx="3">
            <a:schemeClr val="accent3"/>
          </a:effectRef>
          <a:fontRef idx="minor">
            <a:schemeClr val="lt1"/>
          </a:fontRef>
        </p:style>
        <p:txBody>
          <a:bodyPr anchor="ctr"/>
          <a:lstStyle/>
          <a:p>
            <a:pPr algn="ctr">
              <a:defRPr/>
            </a:pPr>
            <a:endParaRPr lang="en-US" dirty="0"/>
          </a:p>
        </p:txBody>
      </p:sp>
      <p:sp>
        <p:nvSpPr>
          <p:cNvPr id="16" name="Right Arrow 15"/>
          <p:cNvSpPr/>
          <p:nvPr/>
        </p:nvSpPr>
        <p:spPr>
          <a:xfrm rot="16200000">
            <a:off x="4229100" y="2933701"/>
            <a:ext cx="533400" cy="609600"/>
          </a:xfrm>
          <a:prstGeom prst="rightArrow">
            <a:avLst/>
          </a:prstGeom>
        </p:spPr>
        <p:style>
          <a:lnRef idx="0">
            <a:schemeClr val="accent3"/>
          </a:lnRef>
          <a:fillRef idx="3">
            <a:schemeClr val="accent3"/>
          </a:fillRef>
          <a:effectRef idx="3">
            <a:schemeClr val="accent3"/>
          </a:effectRef>
          <a:fontRef idx="minor">
            <a:schemeClr val="lt1"/>
          </a:fontRef>
        </p:style>
        <p:txBody>
          <a:bodyPr anchor="ctr"/>
          <a:lstStyle/>
          <a:p>
            <a:pPr algn="ctr">
              <a:defRPr/>
            </a:pPr>
            <a:endParaRPr lang="en-US" dirty="0"/>
          </a:p>
        </p:txBody>
      </p:sp>
      <p:sp>
        <p:nvSpPr>
          <p:cNvPr id="17" name="Right Arrow 16"/>
          <p:cNvSpPr/>
          <p:nvPr/>
        </p:nvSpPr>
        <p:spPr>
          <a:xfrm rot="5400000">
            <a:off x="4229100" y="4762500"/>
            <a:ext cx="533400" cy="609600"/>
          </a:xfrm>
          <a:prstGeom prst="rightArrow">
            <a:avLst/>
          </a:prstGeom>
        </p:spPr>
        <p:style>
          <a:lnRef idx="0">
            <a:schemeClr val="accent3"/>
          </a:lnRef>
          <a:fillRef idx="3">
            <a:schemeClr val="accent3"/>
          </a:fillRef>
          <a:effectRef idx="3">
            <a:schemeClr val="accent3"/>
          </a:effectRef>
          <a:fontRef idx="minor">
            <a:schemeClr val="lt1"/>
          </a:fontRef>
        </p:style>
        <p:txBody>
          <a:bodyPr anchor="ctr"/>
          <a:lstStyle/>
          <a:p>
            <a:pPr algn="ctr">
              <a:defRPr/>
            </a:pPr>
            <a:endParaRPr lang="en-US" dirty="0"/>
          </a:p>
        </p:txBody>
      </p:sp>
      <p:sp>
        <p:nvSpPr>
          <p:cNvPr id="22" name="Rectangular Callout 21"/>
          <p:cNvSpPr/>
          <p:nvPr/>
        </p:nvSpPr>
        <p:spPr>
          <a:xfrm>
            <a:off x="1600200" y="2667000"/>
            <a:ext cx="457200" cy="304800"/>
          </a:xfrm>
          <a:prstGeom prst="wedgeRectCallout">
            <a:avLst>
              <a:gd name="adj1" fmla="val 41667"/>
              <a:gd name="adj2" fmla="val 87500"/>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US" dirty="0"/>
              <a:t>S</a:t>
            </a:r>
          </a:p>
        </p:txBody>
      </p:sp>
      <p:sp>
        <p:nvSpPr>
          <p:cNvPr id="23" name="Rectangular Callout 22"/>
          <p:cNvSpPr/>
          <p:nvPr/>
        </p:nvSpPr>
        <p:spPr>
          <a:xfrm>
            <a:off x="2667000" y="2590800"/>
            <a:ext cx="457200" cy="304800"/>
          </a:xfrm>
          <a:prstGeom prst="wedgeRectCallout">
            <a:avLst>
              <a:gd name="adj1" fmla="val 41667"/>
              <a:gd name="adj2" fmla="val 87500"/>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US" dirty="0"/>
              <a:t>T</a:t>
            </a:r>
          </a:p>
        </p:txBody>
      </p:sp>
      <p:sp>
        <p:nvSpPr>
          <p:cNvPr id="25" name="Rectangular Callout 24"/>
          <p:cNvSpPr/>
          <p:nvPr/>
        </p:nvSpPr>
        <p:spPr>
          <a:xfrm>
            <a:off x="6324600" y="2590800"/>
            <a:ext cx="457200" cy="304800"/>
          </a:xfrm>
          <a:prstGeom prst="wedgeRectCallout">
            <a:avLst>
              <a:gd name="adj1" fmla="val -31250"/>
              <a:gd name="adj2" fmla="val 96875"/>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US" dirty="0"/>
              <a:t>D</a:t>
            </a:r>
          </a:p>
        </p:txBody>
      </p:sp>
      <p:sp>
        <p:nvSpPr>
          <p:cNvPr id="26" name="Rectangular Callout 25"/>
          <p:cNvSpPr/>
          <p:nvPr/>
        </p:nvSpPr>
        <p:spPr>
          <a:xfrm>
            <a:off x="5410200" y="2514600"/>
            <a:ext cx="457200" cy="304800"/>
          </a:xfrm>
          <a:prstGeom prst="wedgeRectCallout">
            <a:avLst>
              <a:gd name="adj1" fmla="val 0"/>
              <a:gd name="adj2" fmla="val 128125"/>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US" dirty="0"/>
              <a:t>I</a:t>
            </a:r>
          </a:p>
        </p:txBody>
      </p:sp>
      <p:sp>
        <p:nvSpPr>
          <p:cNvPr id="32" name="Rectangular Callout 31"/>
          <p:cNvSpPr/>
          <p:nvPr/>
        </p:nvSpPr>
        <p:spPr>
          <a:xfrm>
            <a:off x="3962400" y="2514600"/>
            <a:ext cx="457200" cy="304800"/>
          </a:xfrm>
          <a:prstGeom prst="wedgeRectCallout">
            <a:avLst>
              <a:gd name="adj1" fmla="val 77084"/>
              <a:gd name="adj2" fmla="val 103125"/>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US" dirty="0"/>
              <a:t>R</a:t>
            </a:r>
          </a:p>
        </p:txBody>
      </p:sp>
      <p:sp>
        <p:nvSpPr>
          <p:cNvPr id="24" name="Rectangular Callout 23"/>
          <p:cNvSpPr/>
          <p:nvPr/>
        </p:nvSpPr>
        <p:spPr>
          <a:xfrm>
            <a:off x="7772400" y="2590800"/>
            <a:ext cx="457200" cy="304800"/>
          </a:xfrm>
          <a:prstGeom prst="wedgeRectCallout">
            <a:avLst>
              <a:gd name="adj1" fmla="val -595833"/>
              <a:gd name="adj2" fmla="val 784375"/>
            </a:avLst>
          </a:prstGeom>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US" dirty="0"/>
              <a:t>E</a:t>
            </a:r>
          </a:p>
        </p:txBody>
      </p:sp>
      <p:sp>
        <p:nvSpPr>
          <p:cNvPr id="31" name="TextBox 30"/>
          <p:cNvSpPr txBox="1"/>
          <p:nvPr/>
        </p:nvSpPr>
        <p:spPr>
          <a:xfrm>
            <a:off x="7772400" y="2438400"/>
            <a:ext cx="381000" cy="584200"/>
          </a:xfrm>
          <a:prstGeom prst="rect">
            <a:avLst/>
          </a:prstGeom>
          <a:noFill/>
        </p:spPr>
        <p:txBody>
          <a:bodyPr>
            <a:spAutoFit/>
          </a:bodyPr>
          <a:lstStyle/>
          <a:p>
            <a:pPr>
              <a:defRPr/>
            </a:pPr>
            <a:r>
              <a:rPr lang="en-US" sz="3200" b="1" dirty="0">
                <a:solidFill>
                  <a:schemeClr val="accent3"/>
                </a:solidFill>
                <a:latin typeface="Arial" charset="0"/>
                <a:sym typeface="Wingdings"/>
              </a:rPr>
              <a:t></a:t>
            </a:r>
            <a:endParaRPr lang="en-US" sz="3200" b="1" dirty="0">
              <a:solidFill>
                <a:schemeClr val="accent3"/>
              </a:solidFill>
              <a:latin typeface="Arial" charset="0"/>
            </a:endParaRPr>
          </a:p>
        </p:txBody>
      </p:sp>
      <p:sp>
        <p:nvSpPr>
          <p:cNvPr id="2" name="1 Título"/>
          <p:cNvSpPr>
            <a:spLocks noGrp="1"/>
          </p:cNvSpPr>
          <p:nvPr>
            <p:ph type="title"/>
          </p:nvPr>
        </p:nvSpPr>
        <p:spPr>
          <a:xfrm>
            <a:off x="467544" y="476672"/>
            <a:ext cx="8229600" cy="685800"/>
          </a:xfrm>
        </p:spPr>
        <p:txBody>
          <a:bodyPr/>
          <a:lstStyle/>
          <a:p>
            <a:r>
              <a:rPr lang="es-ES" dirty="0"/>
              <a:t>SDL: </a:t>
            </a:r>
            <a:r>
              <a:rPr lang="es-ES" dirty="0" err="1"/>
              <a:t>Threat</a:t>
            </a:r>
            <a:r>
              <a:rPr lang="es-ES" dirty="0"/>
              <a:t> </a:t>
            </a:r>
            <a:r>
              <a:rPr lang="es-ES" dirty="0" err="1"/>
              <a:t>Modeling</a:t>
            </a:r>
            <a:endParaRPr lang="es-ES" dirty="0"/>
          </a:p>
        </p:txBody>
      </p:sp>
    </p:spTree>
    <p:extLst>
      <p:ext uri="{BB962C8B-B14F-4D97-AF65-F5344CB8AC3E}">
        <p14:creationId xmlns:p14="http://schemas.microsoft.com/office/powerpoint/2010/main" val="204358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10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10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10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childTnLst>
                                </p:cTn>
                              </p:par>
                            </p:childTnLst>
                          </p:cTn>
                        </p:par>
                        <p:par>
                          <p:cTn id="20" fill="hold">
                            <p:stCondLst>
                              <p:cond delay="1000"/>
                            </p:stCondLst>
                            <p:childTnLst>
                              <p:par>
                                <p:cTn id="21" presetID="12" presetClass="entr" presetSubtype="8"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slide(fromLeft)">
                                      <p:cBhvr>
                                        <p:cTn id="23" dur="500"/>
                                        <p:tgtEl>
                                          <p:spTgt spid="13"/>
                                        </p:tgtEl>
                                      </p:cBhvr>
                                    </p:animEffect>
                                  </p:childTnLst>
                                </p:cTn>
                              </p:par>
                            </p:childTnLst>
                          </p:cTn>
                        </p:par>
                        <p:par>
                          <p:cTn id="24" fill="hold">
                            <p:stCondLst>
                              <p:cond delay="1500"/>
                            </p:stCondLst>
                            <p:childTnLst>
                              <p:par>
                                <p:cTn id="25" presetID="12" presetClass="entr" presetSubtype="4" fill="hold"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slide(fromBottom)">
                                      <p:cBhvr>
                                        <p:cTn id="27" dur="500"/>
                                        <p:tgtEl>
                                          <p:spTgt spid="16"/>
                                        </p:tgtEl>
                                      </p:cBhvr>
                                    </p:animEffect>
                                  </p:childTnLst>
                                </p:cTn>
                              </p:par>
                            </p:childTnLst>
                          </p:cTn>
                        </p:par>
                        <p:par>
                          <p:cTn id="28" fill="hold">
                            <p:stCondLst>
                              <p:cond delay="2000"/>
                            </p:stCondLst>
                            <p:childTnLst>
                              <p:par>
                                <p:cTn id="29" presetID="12" presetClass="entr" presetSubtype="8" fill="hold"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slide(fromLeft)">
                                      <p:cBhvr>
                                        <p:cTn id="31" dur="500"/>
                                        <p:tgtEl>
                                          <p:spTgt spid="15"/>
                                        </p:tgtEl>
                                      </p:cBhvr>
                                    </p:animEffect>
                                  </p:childTnLst>
                                </p:cTn>
                              </p:par>
                            </p:childTnLst>
                          </p:cTn>
                        </p:par>
                        <p:par>
                          <p:cTn id="32" fill="hold">
                            <p:stCondLst>
                              <p:cond delay="2500"/>
                            </p:stCondLst>
                            <p:childTnLst>
                              <p:par>
                                <p:cTn id="33" presetID="12" presetClass="entr" presetSubtype="1" fill="hold" nodeType="after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slide(fromTop)">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1" nodeType="clickEffect">
                                  <p:stCondLst>
                                    <p:cond delay="0"/>
                                  </p:stCondLst>
                                  <p:childTnLst>
                                    <p:set>
                                      <p:cBhvr>
                                        <p:cTn id="39" dur="1" fill="hold">
                                          <p:stCondLst>
                                            <p:cond delay="0"/>
                                          </p:stCondLst>
                                        </p:cTn>
                                        <p:tgtEl>
                                          <p:spTgt spid="11"/>
                                        </p:tgtEl>
                                        <p:attrNameLst>
                                          <p:attrName>style.visibility</p:attrName>
                                        </p:attrNameLst>
                                      </p:cBhvr>
                                      <p:to>
                                        <p:strVal val="hidden"/>
                                      </p:to>
                                    </p:set>
                                  </p:childTnLst>
                                </p:cTn>
                              </p:par>
                              <p:par>
                                <p:cTn id="40" presetID="1" presetClass="exit" presetSubtype="0" fill="hold" nodeType="withEffect">
                                  <p:stCondLst>
                                    <p:cond delay="0"/>
                                  </p:stCondLst>
                                  <p:childTnLst>
                                    <p:set>
                                      <p:cBhvr>
                                        <p:cTn id="41" dur="1" fill="hold">
                                          <p:stCondLst>
                                            <p:cond delay="0"/>
                                          </p:stCondLst>
                                        </p:cTn>
                                        <p:tgtEl>
                                          <p:spTgt spid="17"/>
                                        </p:tgtEl>
                                        <p:attrNameLst>
                                          <p:attrName>style.visibility</p:attrName>
                                        </p:attrNameLst>
                                      </p:cBhvr>
                                      <p:to>
                                        <p:strVal val="hidden"/>
                                      </p:to>
                                    </p:set>
                                  </p:childTnLst>
                                </p:cTn>
                              </p:par>
                              <p:par>
                                <p:cTn id="42" presetID="1" presetClass="exit" presetSubtype="0" fill="hold" nodeType="withEffect">
                                  <p:stCondLst>
                                    <p:cond delay="0"/>
                                  </p:stCondLst>
                                  <p:childTnLst>
                                    <p:set>
                                      <p:cBhvr>
                                        <p:cTn id="43" dur="1" fill="hold">
                                          <p:stCondLst>
                                            <p:cond delay="0"/>
                                          </p:stCondLst>
                                        </p:cTn>
                                        <p:tgtEl>
                                          <p:spTgt spid="15"/>
                                        </p:tgtEl>
                                        <p:attrNameLst>
                                          <p:attrName>style.visibility</p:attrName>
                                        </p:attrNameLst>
                                      </p:cBhvr>
                                      <p:to>
                                        <p:strVal val="hidden"/>
                                      </p:to>
                                    </p:set>
                                  </p:childTnLst>
                                </p:cTn>
                              </p:par>
                              <p:par>
                                <p:cTn id="44" presetID="1" presetClass="exit" presetSubtype="0" fill="hold" grpId="1" nodeType="withEffect">
                                  <p:stCondLst>
                                    <p:cond delay="0"/>
                                  </p:stCondLst>
                                  <p:childTnLst>
                                    <p:set>
                                      <p:cBhvr>
                                        <p:cTn id="45" dur="1" fill="hold">
                                          <p:stCondLst>
                                            <p:cond delay="0"/>
                                          </p:stCondLst>
                                        </p:cTn>
                                        <p:tgtEl>
                                          <p:spTgt spid="7"/>
                                        </p:tgtEl>
                                        <p:attrNameLst>
                                          <p:attrName>style.visibility</p:attrName>
                                        </p:attrNameLst>
                                      </p:cBhvr>
                                      <p:to>
                                        <p:strVal val="hidden"/>
                                      </p:to>
                                    </p:set>
                                  </p:childTnLst>
                                </p:cTn>
                              </p:par>
                              <p:par>
                                <p:cTn id="46" presetID="1" presetClass="exit" presetSubtype="0" fill="hold" nodeType="withEffect">
                                  <p:stCondLst>
                                    <p:cond delay="0"/>
                                  </p:stCondLst>
                                  <p:childTnLst>
                                    <p:set>
                                      <p:cBhvr>
                                        <p:cTn id="47" dur="1" fill="hold">
                                          <p:stCondLst>
                                            <p:cond delay="0"/>
                                          </p:stCondLst>
                                        </p:cTn>
                                        <p:tgtEl>
                                          <p:spTgt spid="13"/>
                                        </p:tgtEl>
                                        <p:attrNameLst>
                                          <p:attrName>style.visibility</p:attrName>
                                        </p:attrNameLst>
                                      </p:cBhvr>
                                      <p:to>
                                        <p:strVal val="hidden"/>
                                      </p:to>
                                    </p:set>
                                  </p:childTnLst>
                                </p:cTn>
                              </p:par>
                              <p:par>
                                <p:cTn id="48" presetID="1" presetClass="exit" presetSubtype="0" fill="hold" nodeType="withEffect">
                                  <p:stCondLst>
                                    <p:cond delay="0"/>
                                  </p:stCondLst>
                                  <p:childTnLst>
                                    <p:set>
                                      <p:cBhvr>
                                        <p:cTn id="49" dur="1" fill="hold">
                                          <p:stCondLst>
                                            <p:cond delay="0"/>
                                          </p:stCondLst>
                                        </p:cTn>
                                        <p:tgtEl>
                                          <p:spTgt spid="5"/>
                                        </p:tgtEl>
                                        <p:attrNameLst>
                                          <p:attrName>style.visibility</p:attrName>
                                        </p:attrNameLst>
                                      </p:cBhvr>
                                      <p:to>
                                        <p:strVal val="hidden"/>
                                      </p:to>
                                    </p:set>
                                  </p:childTnLst>
                                </p:cTn>
                              </p:par>
                              <p:par>
                                <p:cTn id="50" presetID="1" presetClass="exit" presetSubtype="0" fill="hold" nodeType="withEffect">
                                  <p:stCondLst>
                                    <p:cond delay="0"/>
                                  </p:stCondLst>
                                  <p:childTnLst>
                                    <p:set>
                                      <p:cBhvr>
                                        <p:cTn id="51" dur="1" fill="hold">
                                          <p:stCondLst>
                                            <p:cond delay="0"/>
                                          </p:stCondLst>
                                        </p:cTn>
                                        <p:tgtEl>
                                          <p:spTgt spid="16"/>
                                        </p:tgtEl>
                                        <p:attrNameLst>
                                          <p:attrName>style.visibility</p:attrName>
                                        </p:attrNameLst>
                                      </p:cBhvr>
                                      <p:to>
                                        <p:strVal val="hidden"/>
                                      </p:to>
                                    </p:set>
                                  </p:childTnLst>
                                </p:cTn>
                              </p:par>
                              <p:par>
                                <p:cTn id="52" presetID="1" presetClass="exit" presetSubtype="0" fill="hold" grpId="1" nodeType="withEffect">
                                  <p:stCondLst>
                                    <p:cond delay="0"/>
                                  </p:stCondLst>
                                  <p:childTnLst>
                                    <p:set>
                                      <p:cBhvr>
                                        <p:cTn id="53" dur="1" fill="hold">
                                          <p:stCondLst>
                                            <p:cond delay="0"/>
                                          </p:stCondLst>
                                        </p:cTn>
                                        <p:tgtEl>
                                          <p:spTgt spid="12"/>
                                        </p:tgtEl>
                                        <p:attrNameLst>
                                          <p:attrName>style.visibility</p:attrName>
                                        </p:attrNameLst>
                                      </p:cBhvr>
                                      <p:to>
                                        <p:strVal val="hidden"/>
                                      </p:to>
                                    </p:set>
                                  </p:childTnLst>
                                </p:cTn>
                              </p:par>
                              <p:par>
                                <p:cTn id="54" presetID="1" presetClass="exit" presetSubtype="0" fill="hold" grpId="1" nodeType="withEffect">
                                  <p:stCondLst>
                                    <p:cond delay="0"/>
                                  </p:stCondLst>
                                  <p:childTnLst>
                                    <p:set>
                                      <p:cBhvr>
                                        <p:cTn id="55" dur="1" fill="hold">
                                          <p:stCondLst>
                                            <p:cond delay="0"/>
                                          </p:stCondLst>
                                        </p:cTn>
                                        <p:tgtEl>
                                          <p:spTgt spid="10"/>
                                        </p:tgtEl>
                                        <p:attrNameLst>
                                          <p:attrName>style.visibility</p:attrName>
                                        </p:attrNameLst>
                                      </p:cBhvr>
                                      <p:to>
                                        <p:strVal val="hidden"/>
                                      </p:to>
                                    </p:set>
                                  </p:childTnLst>
                                </p:cTn>
                              </p:par>
                            </p:childTnLst>
                          </p:cTn>
                        </p:par>
                        <p:par>
                          <p:cTn id="56" fill="hold">
                            <p:stCondLst>
                              <p:cond delay="0"/>
                            </p:stCondLst>
                            <p:childTnLst>
                              <p:par>
                                <p:cTn id="57" presetID="10" presetClass="entr" presetSubtype="0" fill="hold" nodeType="afterEffect">
                                  <p:stCondLst>
                                    <p:cond delay="0"/>
                                  </p:stCondLst>
                                  <p:childTnLst>
                                    <p:set>
                                      <p:cBhvr>
                                        <p:cTn id="58" dur="1" fill="hold">
                                          <p:stCondLst>
                                            <p:cond delay="0"/>
                                          </p:stCondLst>
                                        </p:cTn>
                                        <p:tgtEl>
                                          <p:spTgt spid="75779"/>
                                        </p:tgtEl>
                                        <p:attrNameLst>
                                          <p:attrName>style.visibility</p:attrName>
                                        </p:attrNameLst>
                                      </p:cBhvr>
                                      <p:to>
                                        <p:strVal val="visible"/>
                                      </p:to>
                                    </p:set>
                                    <p:animEffect transition="in" filter="fade">
                                      <p:cBhvr>
                                        <p:cTn id="59" dur="1000"/>
                                        <p:tgtEl>
                                          <p:spTgt spid="75779"/>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1000"/>
                                        <p:tgtEl>
                                          <p:spTgt spid="2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1000"/>
                                        <p:tgtEl>
                                          <p:spTgt spid="2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1000"/>
                                        <p:tgtEl>
                                          <p:spTgt spid="2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1000"/>
                                        <p:tgtEl>
                                          <p:spTgt spid="23"/>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1000"/>
                                        <p:tgtEl>
                                          <p:spTgt spid="24"/>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1000"/>
                                        <p:tgtEl>
                                          <p:spTgt spid="32"/>
                                        </p:tgtEl>
                                      </p:cBhvr>
                                    </p:animEffect>
                                  </p:childTnLst>
                                </p:cTn>
                              </p:par>
                            </p:childTnLst>
                          </p:cTn>
                        </p:par>
                        <p:par>
                          <p:cTn id="80" fill="hold">
                            <p:stCondLst>
                              <p:cond delay="1000"/>
                            </p:stCondLst>
                            <p:childTnLst>
                              <p:par>
                                <p:cTn id="81" presetID="10" presetClass="entr" presetSubtype="0" fill="hold" grpId="0" nodeType="after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0" grpId="0" animBg="1"/>
      <p:bldP spid="10" grpId="1" animBg="1"/>
      <p:bldP spid="11" grpId="0" animBg="1"/>
      <p:bldP spid="11" grpId="1" animBg="1"/>
      <p:bldP spid="12" grpId="0" animBg="1"/>
      <p:bldP spid="12" grpId="1" animBg="1"/>
      <p:bldP spid="22" grpId="0" animBg="1"/>
      <p:bldP spid="23" grpId="0" animBg="1"/>
      <p:bldP spid="25" grpId="0" animBg="1"/>
      <p:bldP spid="26" grpId="0" animBg="1"/>
      <p:bldP spid="32" grpId="0" animBg="1"/>
      <p:bldP spid="24" grpId="0" animBg="1"/>
      <p:bldP spid="3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1600200"/>
            <a:ext cx="9223578" cy="4525963"/>
          </a:xfrm>
        </p:spPr>
        <p:txBody>
          <a:bodyPr>
            <a:normAutofit/>
          </a:bodyPr>
          <a:lstStyle/>
          <a:p>
            <a:endParaRPr lang="es-ES" dirty="0"/>
          </a:p>
          <a:p>
            <a:pPr marL="0" indent="0">
              <a:buNone/>
            </a:pPr>
            <a:endParaRPr lang="es-ES" dirty="0"/>
          </a:p>
        </p:txBody>
      </p:sp>
      <p:sp>
        <p:nvSpPr>
          <p:cNvPr id="3" name="2 Título"/>
          <p:cNvSpPr>
            <a:spLocks noGrp="1"/>
          </p:cNvSpPr>
          <p:nvPr>
            <p:ph type="title"/>
          </p:nvPr>
        </p:nvSpPr>
        <p:spPr/>
        <p:txBody>
          <a:bodyPr/>
          <a:lstStyle/>
          <a:p>
            <a:r>
              <a:rPr lang="es-ES" dirty="0"/>
              <a:t>SDL: </a:t>
            </a:r>
            <a:r>
              <a:rPr lang="es-ES" dirty="0" err="1"/>
              <a:t>Threat</a:t>
            </a:r>
            <a:r>
              <a:rPr lang="es-ES" dirty="0"/>
              <a:t> </a:t>
            </a:r>
            <a:r>
              <a:rPr lang="es-ES" dirty="0" err="1"/>
              <a:t>Modeling</a:t>
            </a:r>
            <a:endParaRPr lang="es-ES" dirty="0"/>
          </a:p>
        </p:txBody>
      </p:sp>
      <p:pic>
        <p:nvPicPr>
          <p:cNvPr id="12" name="Picture 2" descr="Page_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20272" y="5877272"/>
            <a:ext cx="2660506" cy="648072"/>
          </a:xfrm>
          <a:prstGeom prst="rect">
            <a:avLst/>
          </a:prstGeom>
          <a:noFill/>
          <a:extLst>
            <a:ext uri="{909E8E84-426E-40DD-AFC4-6F175D3DCCD1}">
              <a14:hiddenFill xmlns:a14="http://schemas.microsoft.com/office/drawing/2010/main">
                <a:solidFill>
                  <a:srgbClr val="FFFFFF"/>
                </a:solidFill>
              </a14:hiddenFill>
            </a:ext>
          </a:extLst>
        </p:spPr>
      </p:pic>
      <p:sp>
        <p:nvSpPr>
          <p:cNvPr id="13" name="Right Brace 18"/>
          <p:cNvSpPr/>
          <p:nvPr/>
        </p:nvSpPr>
        <p:spPr bwMode="auto">
          <a:xfrm rot="5400000">
            <a:off x="7891349" y="6429048"/>
            <a:ext cx="76200" cy="34188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4" name="1 Marcador de contenido"/>
          <p:cNvSpPr txBox="1">
            <a:spLocks/>
          </p:cNvSpPr>
          <p:nvPr/>
        </p:nvSpPr>
        <p:spPr>
          <a:xfrm>
            <a:off x="609600" y="1752600"/>
            <a:ext cx="9223578"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Tx/>
              <a:buBlip>
                <a:blip r:embed="rId4"/>
              </a:buBlip>
              <a:defRPr sz="3200" b="1" kern="1200">
                <a:solidFill>
                  <a:schemeClr val="bg1">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dirty="0"/>
              <a:t>Diagrama </a:t>
            </a:r>
          </a:p>
          <a:p>
            <a:pPr lvl="1"/>
            <a:r>
              <a:rPr lang="es-ES" dirty="0"/>
              <a:t>Modelar la aplicación con un diagrama de flujo de datos para conducir el análisis de amenazas.</a:t>
            </a:r>
          </a:p>
          <a:p>
            <a:r>
              <a:rPr lang="es-ES" dirty="0"/>
              <a:t>Diagramas de flujos de datos (DFD)</a:t>
            </a:r>
          </a:p>
          <a:p>
            <a:pPr lvl="1"/>
            <a:r>
              <a:rPr lang="es-ES" dirty="0"/>
              <a:t>Ampliamente utilizado </a:t>
            </a:r>
            <a:r>
              <a:rPr lang="es-ES"/>
              <a:t>y fácil </a:t>
            </a:r>
            <a:r>
              <a:rPr lang="es-ES" dirty="0"/>
              <a:t>comprensión</a:t>
            </a:r>
          </a:p>
          <a:p>
            <a:pPr lvl="1"/>
            <a:r>
              <a:rPr lang="es-ES" dirty="0"/>
              <a:t>La mayoría de los ataques se basan en los datos que fluyen a través de una aplicación</a:t>
            </a:r>
          </a:p>
          <a:p>
            <a:r>
              <a:rPr lang="es-ES" dirty="0"/>
              <a:t>Identificar los limites de confianza</a:t>
            </a:r>
          </a:p>
          <a:p>
            <a:pPr lvl="1"/>
            <a:endParaRPr lang="es-ES" dirty="0"/>
          </a:p>
          <a:p>
            <a:pPr lvl="1"/>
            <a:endParaRPr lang="es-ES" dirty="0"/>
          </a:p>
          <a:p>
            <a:pPr lvl="1"/>
            <a:endParaRPr lang="es-ES" dirty="0"/>
          </a:p>
          <a:p>
            <a:pPr marL="0" indent="0">
              <a:buNone/>
            </a:pPr>
            <a:endParaRPr lang="es-ES" dirty="0"/>
          </a:p>
          <a:p>
            <a:pPr lvl="1"/>
            <a:endParaRPr lang="es-ES" dirty="0"/>
          </a:p>
          <a:p>
            <a:pPr lvl="1"/>
            <a:endParaRPr lang="es-ES" dirty="0"/>
          </a:p>
          <a:p>
            <a:pPr lvl="1"/>
            <a:endParaRPr lang="es-ES" dirty="0"/>
          </a:p>
          <a:p>
            <a:endParaRPr lang="es-ES" dirty="0"/>
          </a:p>
          <a:p>
            <a:pPr marL="0" indent="0">
              <a:buFontTx/>
              <a:buNone/>
            </a:pPr>
            <a:endParaRPr lang="es-ES" dirty="0"/>
          </a:p>
        </p:txBody>
      </p:sp>
    </p:spTree>
    <p:extLst>
      <p:ext uri="{BB962C8B-B14F-4D97-AF65-F5344CB8AC3E}">
        <p14:creationId xmlns:p14="http://schemas.microsoft.com/office/powerpoint/2010/main" val="2428616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1600200"/>
            <a:ext cx="9223578" cy="4525963"/>
          </a:xfrm>
        </p:spPr>
        <p:txBody>
          <a:bodyPr>
            <a:normAutofit/>
          </a:bodyPr>
          <a:lstStyle/>
          <a:p>
            <a:endParaRPr lang="es-ES" dirty="0"/>
          </a:p>
          <a:p>
            <a:pPr marL="0" indent="0">
              <a:buNone/>
            </a:pPr>
            <a:endParaRPr lang="es-ES" dirty="0"/>
          </a:p>
        </p:txBody>
      </p:sp>
      <p:sp>
        <p:nvSpPr>
          <p:cNvPr id="3" name="2 Título"/>
          <p:cNvSpPr>
            <a:spLocks noGrp="1"/>
          </p:cNvSpPr>
          <p:nvPr>
            <p:ph type="title"/>
          </p:nvPr>
        </p:nvSpPr>
        <p:spPr/>
        <p:txBody>
          <a:bodyPr/>
          <a:lstStyle/>
          <a:p>
            <a:r>
              <a:rPr lang="es-ES" dirty="0"/>
              <a:t>SDL: </a:t>
            </a:r>
            <a:r>
              <a:rPr lang="es-ES" dirty="0" err="1"/>
              <a:t>Threat</a:t>
            </a:r>
            <a:r>
              <a:rPr lang="es-ES" dirty="0"/>
              <a:t> </a:t>
            </a:r>
            <a:r>
              <a:rPr lang="es-ES" dirty="0" err="1"/>
              <a:t>Modeling</a:t>
            </a:r>
            <a:endParaRPr lang="es-ES" dirty="0"/>
          </a:p>
        </p:txBody>
      </p:sp>
      <p:pic>
        <p:nvPicPr>
          <p:cNvPr id="12" name="Picture 2" descr="Page_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20272" y="5877272"/>
            <a:ext cx="2660506" cy="648072"/>
          </a:xfrm>
          <a:prstGeom prst="rect">
            <a:avLst/>
          </a:prstGeom>
          <a:noFill/>
          <a:extLst>
            <a:ext uri="{909E8E84-426E-40DD-AFC4-6F175D3DCCD1}">
              <a14:hiddenFill xmlns:a14="http://schemas.microsoft.com/office/drawing/2010/main">
                <a:solidFill>
                  <a:srgbClr val="FFFFFF"/>
                </a:solidFill>
              </a14:hiddenFill>
            </a:ext>
          </a:extLst>
        </p:spPr>
      </p:pic>
      <p:sp>
        <p:nvSpPr>
          <p:cNvPr id="13" name="Right Brace 18"/>
          <p:cNvSpPr/>
          <p:nvPr/>
        </p:nvSpPr>
        <p:spPr bwMode="auto">
          <a:xfrm rot="5400000">
            <a:off x="7891349" y="6429048"/>
            <a:ext cx="76200" cy="34188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4" name="1 Marcador de contenido"/>
          <p:cNvSpPr txBox="1">
            <a:spLocks/>
          </p:cNvSpPr>
          <p:nvPr/>
        </p:nvSpPr>
        <p:spPr>
          <a:xfrm>
            <a:off x="609600" y="1752600"/>
            <a:ext cx="9223578"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Tx/>
              <a:buBlip>
                <a:blip r:embed="rId4"/>
              </a:buBlip>
              <a:defRPr sz="3200" b="1" kern="1200">
                <a:solidFill>
                  <a:schemeClr val="bg1">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dirty="0"/>
              <a:t>Elementos de un diagrama </a:t>
            </a:r>
          </a:p>
          <a:p>
            <a:pPr marL="457200" lvl="1" indent="0">
              <a:buNone/>
            </a:pPr>
            <a:endParaRPr lang="es-ES" dirty="0"/>
          </a:p>
          <a:p>
            <a:pPr lvl="1"/>
            <a:endParaRPr lang="es-ES" dirty="0"/>
          </a:p>
          <a:p>
            <a:pPr lvl="1"/>
            <a:endParaRPr lang="es-ES" dirty="0"/>
          </a:p>
          <a:p>
            <a:pPr marL="0" indent="0">
              <a:buNone/>
            </a:pPr>
            <a:endParaRPr lang="es-ES" dirty="0"/>
          </a:p>
          <a:p>
            <a:pPr lvl="1"/>
            <a:endParaRPr lang="es-ES" dirty="0"/>
          </a:p>
          <a:p>
            <a:pPr lvl="1"/>
            <a:endParaRPr lang="es-ES" dirty="0"/>
          </a:p>
          <a:p>
            <a:pPr lvl="1"/>
            <a:endParaRPr lang="es-ES" dirty="0"/>
          </a:p>
          <a:p>
            <a:endParaRPr lang="es-ES" dirty="0"/>
          </a:p>
          <a:p>
            <a:pPr marL="0" indent="0">
              <a:buFontTx/>
              <a:buNone/>
            </a:pPr>
            <a:endParaRPr lang="es-ES" dirty="0"/>
          </a:p>
        </p:txBody>
      </p:sp>
      <p:graphicFrame>
        <p:nvGraphicFramePr>
          <p:cNvPr id="7" name="Group 37"/>
          <p:cNvGraphicFramePr>
            <a:graphicFrameLocks noGrp="1"/>
          </p:cNvGraphicFramePr>
          <p:nvPr>
            <p:extLst>
              <p:ext uri="{D42A27DB-BD31-4B8C-83A1-F6EECF244321}">
                <p14:modId xmlns:p14="http://schemas.microsoft.com/office/powerpoint/2010/main" val="531645754"/>
              </p:ext>
            </p:extLst>
          </p:nvPr>
        </p:nvGraphicFramePr>
        <p:xfrm>
          <a:off x="1043608" y="2420888"/>
          <a:ext cx="7848600" cy="3294112"/>
        </p:xfrm>
        <a:graphic>
          <a:graphicData uri="http://schemas.openxmlformats.org/drawingml/2006/table">
            <a:tbl>
              <a:tblPr>
                <a:tableStyleId>{2D5ABB26-0587-4C30-8999-92F81FD0307C}</a:tableStyleId>
              </a:tblPr>
              <a:tblGrid>
                <a:gridCol w="1676400">
                  <a:extLst>
                    <a:ext uri="{9D8B030D-6E8A-4147-A177-3AD203B41FA5}">
                      <a16:colId xmlns:a16="http://schemas.microsoft.com/office/drawing/2014/main" val="20000"/>
                    </a:ext>
                  </a:extLst>
                </a:gridCol>
                <a:gridCol w="1851992">
                  <a:extLst>
                    <a:ext uri="{9D8B030D-6E8A-4147-A177-3AD203B41FA5}">
                      <a16:colId xmlns:a16="http://schemas.microsoft.com/office/drawing/2014/main" val="20001"/>
                    </a:ext>
                  </a:extLst>
                </a:gridCol>
                <a:gridCol w="4320208">
                  <a:extLst>
                    <a:ext uri="{9D8B030D-6E8A-4147-A177-3AD203B41FA5}">
                      <a16:colId xmlns:a16="http://schemas.microsoft.com/office/drawing/2014/main" val="20002"/>
                    </a:ext>
                  </a:extLst>
                </a:gridCol>
              </a:tblGrid>
              <a:tr h="4222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1400" b="1" u="none" strike="noStrike" cap="none" normalizeH="0" baseline="0" noProof="0" dirty="0">
                          <a:ln>
                            <a:noFill/>
                          </a:ln>
                          <a:effectLst/>
                          <a:latin typeface="+mn-lt"/>
                        </a:rPr>
                        <a:t>Elemento</a:t>
                      </a:r>
                      <a:endParaRPr kumimoji="0" lang="es-ES" sz="1400" b="1" i="0" u="none" strike="noStrike" cap="none" normalizeH="0" baseline="0" noProof="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1400" b="1" u="none" strike="noStrike" cap="none" normalizeH="0" baseline="0" noProof="0" dirty="0">
                          <a:ln>
                            <a:noFill/>
                          </a:ln>
                          <a:effectLst/>
                          <a:latin typeface="+mn-lt"/>
                        </a:rPr>
                        <a:t>Figura</a:t>
                      </a:r>
                      <a:endParaRPr kumimoji="0" lang="es-ES" sz="1400" b="1" i="0" u="none" strike="noStrike" cap="none" normalizeH="0" baseline="0" noProof="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1400" b="1" u="none" strike="noStrike" cap="none" normalizeH="0" baseline="0" noProof="0" dirty="0">
                          <a:ln>
                            <a:noFill/>
                          </a:ln>
                          <a:effectLst/>
                          <a:latin typeface="+mn-lt"/>
                        </a:rPr>
                        <a:t>Descripción</a:t>
                      </a:r>
                      <a:endParaRPr kumimoji="0" lang="es-ES" sz="1400" b="1" i="0" u="none" strike="noStrike" cap="none" normalizeH="0" baseline="0" noProof="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8583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400" u="none" strike="noStrike" cap="none" normalizeH="0" baseline="0" noProof="0" dirty="0">
                          <a:ln>
                            <a:noFill/>
                          </a:ln>
                          <a:effectLst/>
                          <a:latin typeface="+mn-lt"/>
                        </a:rPr>
                        <a:t>Entidad externa</a:t>
                      </a:r>
                      <a:endParaRPr kumimoji="0" lang="es-ES" sz="1400" b="0" i="0" u="none" strike="noStrike" cap="none" normalizeH="0" baseline="0" noProof="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400" b="0" i="0" u="none" strike="noStrike" cap="none" normalizeH="0" baseline="0" noProof="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400" u="none" strike="noStrike" cap="none" normalizeH="0" baseline="0" noProof="0" dirty="0">
                          <a:ln>
                            <a:noFill/>
                          </a:ln>
                          <a:effectLst/>
                          <a:latin typeface="+mn-lt"/>
                        </a:rPr>
                        <a:t>Cualquier entidad que no este bajo el control de la aplicación (personas, sistemas externos, ...)</a:t>
                      </a:r>
                      <a:endParaRPr kumimoji="0" lang="es-ES" sz="1400" b="0" i="0" u="none" strike="noStrike" cap="none" normalizeH="0" baseline="0" noProof="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222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400" u="none" strike="noStrike" cap="none" normalizeH="0" baseline="0" noProof="0" dirty="0">
                          <a:ln>
                            <a:noFill/>
                          </a:ln>
                          <a:effectLst/>
                          <a:latin typeface="+mn-lt"/>
                        </a:rPr>
                        <a:t>Proceso</a:t>
                      </a:r>
                      <a:endParaRPr kumimoji="0" lang="es-ES" sz="1400" b="0" i="0" u="none" strike="noStrike" cap="none" normalizeH="0" baseline="0" noProof="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400" b="0" i="0" u="none" strike="noStrike" cap="none" normalizeH="0" baseline="0" noProof="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400" u="none" strike="noStrike" cap="none" normalizeH="0" baseline="0" noProof="0" dirty="0">
                          <a:ln>
                            <a:noFill/>
                          </a:ln>
                          <a:effectLst/>
                          <a:latin typeface="+mn-lt"/>
                        </a:rPr>
                        <a:t>Código, tanto nativo (C/C++) como administrado (JAVA/.NET)</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400" b="0" i="0" u="none" strike="noStrike" cap="none" normalizeH="0" baseline="0" noProof="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222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400" u="none" strike="noStrike" cap="none" normalizeH="0" baseline="0" noProof="0" dirty="0">
                          <a:ln>
                            <a:noFill/>
                          </a:ln>
                          <a:effectLst/>
                          <a:latin typeface="+mn-lt"/>
                        </a:rPr>
                        <a:t>Almacén de datos</a:t>
                      </a:r>
                      <a:endParaRPr kumimoji="0" lang="es-ES" sz="1400" b="0" i="0" u="none" strike="noStrike" cap="none" normalizeH="0" baseline="0" noProof="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400" b="0" i="0" u="none" strike="noStrike" cap="none" normalizeH="0" baseline="0" noProof="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400" u="none" strike="noStrike" cap="none" normalizeH="0" baseline="0" noProof="0" dirty="0">
                          <a:ln>
                            <a:noFill/>
                          </a:ln>
                          <a:effectLst/>
                          <a:latin typeface="+mn-lt"/>
                        </a:rPr>
                        <a:t>Datos en reposo, tales como claves de registro o bases de datos</a:t>
                      </a:r>
                      <a:endParaRPr kumimoji="0" lang="es-ES" sz="1400" b="0" i="0" u="none" strike="noStrike" cap="none" normalizeH="0" baseline="0" noProof="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222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400" u="none" strike="noStrike" cap="none" normalizeH="0" baseline="0" noProof="0" dirty="0">
                          <a:ln>
                            <a:noFill/>
                          </a:ln>
                          <a:effectLst/>
                          <a:latin typeface="+mn-lt"/>
                        </a:rPr>
                        <a:t>Flujo de datos</a:t>
                      </a:r>
                      <a:endParaRPr kumimoji="0" lang="es-ES" sz="1400" b="0" i="0" u="none" strike="noStrike" cap="none" normalizeH="0" baseline="0" noProof="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400" b="0" i="0" u="none" strike="noStrike" cap="none" normalizeH="0" baseline="0" noProof="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400" u="none" strike="noStrike" cap="none" normalizeH="0" baseline="0" noProof="0" dirty="0">
                          <a:ln>
                            <a:noFill/>
                          </a:ln>
                          <a:effectLst/>
                          <a:latin typeface="+mn-lt"/>
                        </a:rPr>
                        <a:t>Como fluyen los datos entre elementos, tales como llamadas a funciones y comunicaciones a través de red</a:t>
                      </a:r>
                      <a:endParaRPr kumimoji="0" lang="es-ES" sz="1400" b="0" i="0" u="none" strike="noStrike" cap="none" normalizeH="0" baseline="0" noProof="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222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400" b="0" i="0" u="none" strike="noStrike" cap="none" normalizeH="0" baseline="0" noProof="0" dirty="0">
                          <a:ln>
                            <a:noFill/>
                          </a:ln>
                          <a:solidFill>
                            <a:schemeClr val="tx1"/>
                          </a:solidFill>
                          <a:effectLst/>
                          <a:latin typeface="+mn-lt"/>
                        </a:rPr>
                        <a:t>Limites de confianza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400" b="0" i="0" u="none" strike="noStrike" cap="none" normalizeH="0" baseline="0" noProof="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400" b="0" i="0" u="none" strike="noStrike" cap="none" normalizeH="0" baseline="0" noProof="0" dirty="0">
                          <a:ln>
                            <a:noFill/>
                          </a:ln>
                          <a:solidFill>
                            <a:schemeClr val="tx1"/>
                          </a:solidFill>
                          <a:effectLst/>
                          <a:latin typeface="+mn-lt"/>
                        </a:rPr>
                        <a:t>Punto dentro de la aplicación en el que los flujos de datos pasan de un nivel de confianza a otro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Rectangle 17"/>
          <p:cNvSpPr/>
          <p:nvPr/>
        </p:nvSpPr>
        <p:spPr>
          <a:xfrm>
            <a:off x="3203848" y="2924944"/>
            <a:ext cx="1066800" cy="36576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9" name="Oval 22"/>
          <p:cNvSpPr/>
          <p:nvPr/>
        </p:nvSpPr>
        <p:spPr>
          <a:xfrm>
            <a:off x="3394348" y="3485399"/>
            <a:ext cx="685800" cy="54864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grpSp>
        <p:nvGrpSpPr>
          <p:cNvPr id="10" name="Group 23"/>
          <p:cNvGrpSpPr>
            <a:grpSpLocks/>
          </p:cNvGrpSpPr>
          <p:nvPr/>
        </p:nvGrpSpPr>
        <p:grpSpPr bwMode="auto">
          <a:xfrm>
            <a:off x="3165748" y="4265930"/>
            <a:ext cx="1143000" cy="243840"/>
            <a:chOff x="2743200" y="3962400"/>
            <a:chExt cx="1143000" cy="304800"/>
          </a:xfrm>
        </p:grpSpPr>
        <p:cxnSp>
          <p:nvCxnSpPr>
            <p:cNvPr id="11" name="Straight Connector 20"/>
            <p:cNvCxnSpPr/>
            <p:nvPr/>
          </p:nvCxnSpPr>
          <p:spPr>
            <a:xfrm>
              <a:off x="2743200" y="3962400"/>
              <a:ext cx="1143000" cy="1588"/>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21"/>
            <p:cNvCxnSpPr/>
            <p:nvPr/>
          </p:nvCxnSpPr>
          <p:spPr>
            <a:xfrm>
              <a:off x="2743200" y="4265613"/>
              <a:ext cx="1143000" cy="158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6" name="Arc 18"/>
          <p:cNvSpPr/>
          <p:nvPr/>
        </p:nvSpPr>
        <p:spPr>
          <a:xfrm rot="19075897">
            <a:off x="2782487" y="4877171"/>
            <a:ext cx="1693863" cy="1543050"/>
          </a:xfrm>
          <a:prstGeom prst="arc">
            <a:avLst/>
          </a:prstGeom>
          <a:ln w="28575">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p>
        </p:txBody>
      </p:sp>
      <p:cxnSp>
        <p:nvCxnSpPr>
          <p:cNvPr id="17" name="Straight Connector 6"/>
          <p:cNvCxnSpPr/>
          <p:nvPr/>
        </p:nvCxnSpPr>
        <p:spPr>
          <a:xfrm>
            <a:off x="3203848" y="5343896"/>
            <a:ext cx="792088" cy="30480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21443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1600200"/>
            <a:ext cx="9223578" cy="4525963"/>
          </a:xfrm>
        </p:spPr>
        <p:txBody>
          <a:bodyPr>
            <a:normAutofit/>
          </a:bodyPr>
          <a:lstStyle/>
          <a:p>
            <a:endParaRPr lang="es-ES" dirty="0"/>
          </a:p>
          <a:p>
            <a:pPr marL="0" indent="0">
              <a:buNone/>
            </a:pPr>
            <a:endParaRPr lang="es-ES" dirty="0"/>
          </a:p>
        </p:txBody>
      </p:sp>
      <p:sp>
        <p:nvSpPr>
          <p:cNvPr id="3" name="2 Título"/>
          <p:cNvSpPr>
            <a:spLocks noGrp="1"/>
          </p:cNvSpPr>
          <p:nvPr>
            <p:ph type="title"/>
          </p:nvPr>
        </p:nvSpPr>
        <p:spPr/>
        <p:txBody>
          <a:bodyPr/>
          <a:lstStyle/>
          <a:p>
            <a:r>
              <a:rPr lang="es-ES" dirty="0"/>
              <a:t>SDL: </a:t>
            </a:r>
            <a:r>
              <a:rPr lang="es-ES" dirty="0" err="1"/>
              <a:t>Threat</a:t>
            </a:r>
            <a:r>
              <a:rPr lang="es-ES" dirty="0"/>
              <a:t> </a:t>
            </a:r>
            <a:r>
              <a:rPr lang="es-ES" dirty="0" err="1"/>
              <a:t>Modeling</a:t>
            </a:r>
            <a:endParaRPr lang="es-ES" dirty="0"/>
          </a:p>
        </p:txBody>
      </p:sp>
      <p:pic>
        <p:nvPicPr>
          <p:cNvPr id="12" name="Picture 2" descr="Page_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20272" y="5877272"/>
            <a:ext cx="2660506" cy="648072"/>
          </a:xfrm>
          <a:prstGeom prst="rect">
            <a:avLst/>
          </a:prstGeom>
          <a:noFill/>
          <a:extLst>
            <a:ext uri="{909E8E84-426E-40DD-AFC4-6F175D3DCCD1}">
              <a14:hiddenFill xmlns:a14="http://schemas.microsoft.com/office/drawing/2010/main">
                <a:solidFill>
                  <a:srgbClr val="FFFFFF"/>
                </a:solidFill>
              </a14:hiddenFill>
            </a:ext>
          </a:extLst>
        </p:spPr>
      </p:pic>
      <p:sp>
        <p:nvSpPr>
          <p:cNvPr id="13" name="Right Brace 18"/>
          <p:cNvSpPr/>
          <p:nvPr/>
        </p:nvSpPr>
        <p:spPr bwMode="auto">
          <a:xfrm rot="5400000">
            <a:off x="7891349" y="6429048"/>
            <a:ext cx="76200" cy="34188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4" name="1 Marcador de contenido"/>
          <p:cNvSpPr txBox="1">
            <a:spLocks/>
          </p:cNvSpPr>
          <p:nvPr/>
        </p:nvSpPr>
        <p:spPr>
          <a:xfrm>
            <a:off x="609600" y="1752600"/>
            <a:ext cx="9223578"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Tx/>
              <a:buBlip>
                <a:blip r:embed="rId4"/>
              </a:buBlip>
              <a:defRPr sz="3200" b="1" kern="1200">
                <a:solidFill>
                  <a:schemeClr val="bg1">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dirty="0"/>
              <a:t>Enumeración de amenazas</a:t>
            </a:r>
          </a:p>
          <a:p>
            <a:pPr lvl="1"/>
            <a:r>
              <a:rPr lang="es-ES" dirty="0"/>
              <a:t>Identificar las amenazas para cada elemento del diagrama de flujo de datos.</a:t>
            </a:r>
          </a:p>
          <a:p>
            <a:r>
              <a:rPr lang="es-ES" dirty="0"/>
              <a:t>Analizar las amenazas</a:t>
            </a:r>
          </a:p>
          <a:p>
            <a:pPr lvl="1"/>
            <a:r>
              <a:rPr lang="es-ES" dirty="0"/>
              <a:t>Usando STRIDE</a:t>
            </a:r>
          </a:p>
          <a:p>
            <a:pPr lvl="1"/>
            <a:r>
              <a:rPr lang="en-US" dirty="0" err="1"/>
              <a:t>Basado</a:t>
            </a:r>
            <a:r>
              <a:rPr lang="en-US" dirty="0"/>
              <a:t> </a:t>
            </a:r>
            <a:r>
              <a:rPr lang="en-US" dirty="0" err="1"/>
              <a:t>en</a:t>
            </a:r>
            <a:r>
              <a:rPr lang="en-US" dirty="0"/>
              <a:t> MSRC (Microsoft Security Response Center) y CVE (Common Vulnerability and Exposures) </a:t>
            </a:r>
            <a:endParaRPr lang="es-ES" dirty="0"/>
          </a:p>
          <a:p>
            <a:pPr lvl="1"/>
            <a:endParaRPr lang="es-ES" dirty="0"/>
          </a:p>
          <a:p>
            <a:pPr lvl="1"/>
            <a:endParaRPr lang="es-ES" dirty="0"/>
          </a:p>
          <a:p>
            <a:pPr lvl="1"/>
            <a:endParaRPr lang="es-ES" dirty="0"/>
          </a:p>
          <a:p>
            <a:pPr marL="0" indent="0">
              <a:buNone/>
            </a:pPr>
            <a:endParaRPr lang="es-ES" dirty="0"/>
          </a:p>
          <a:p>
            <a:pPr lvl="1"/>
            <a:endParaRPr lang="es-ES" dirty="0"/>
          </a:p>
          <a:p>
            <a:pPr lvl="1"/>
            <a:endParaRPr lang="es-ES" dirty="0"/>
          </a:p>
          <a:p>
            <a:pPr lvl="1"/>
            <a:endParaRPr lang="es-ES" dirty="0"/>
          </a:p>
          <a:p>
            <a:endParaRPr lang="es-ES" dirty="0"/>
          </a:p>
          <a:p>
            <a:pPr marL="0" indent="0">
              <a:buFontTx/>
              <a:buNone/>
            </a:pPr>
            <a:endParaRPr lang="es-ES" dirty="0"/>
          </a:p>
        </p:txBody>
      </p:sp>
    </p:spTree>
    <p:extLst>
      <p:ext uri="{BB962C8B-B14F-4D97-AF65-F5344CB8AC3E}">
        <p14:creationId xmlns:p14="http://schemas.microsoft.com/office/powerpoint/2010/main" val="1008026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ES" dirty="0"/>
              <a:t>SDL: </a:t>
            </a:r>
            <a:r>
              <a:rPr lang="es-ES" dirty="0" err="1"/>
              <a:t>Threat</a:t>
            </a:r>
            <a:r>
              <a:rPr lang="es-ES" dirty="0"/>
              <a:t> </a:t>
            </a:r>
            <a:r>
              <a:rPr lang="es-ES" dirty="0" err="1"/>
              <a:t>Modeling</a:t>
            </a:r>
            <a:endParaRPr lang="es-ES" dirty="0"/>
          </a:p>
        </p:txBody>
      </p:sp>
      <p:pic>
        <p:nvPicPr>
          <p:cNvPr id="12" name="Picture 2" descr="Page_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20272" y="5877272"/>
            <a:ext cx="2660506" cy="648072"/>
          </a:xfrm>
          <a:prstGeom prst="rect">
            <a:avLst/>
          </a:prstGeom>
          <a:noFill/>
          <a:extLst>
            <a:ext uri="{909E8E84-426E-40DD-AFC4-6F175D3DCCD1}">
              <a14:hiddenFill xmlns:a14="http://schemas.microsoft.com/office/drawing/2010/main">
                <a:solidFill>
                  <a:srgbClr val="FFFFFF"/>
                </a:solidFill>
              </a14:hiddenFill>
            </a:ext>
          </a:extLst>
        </p:spPr>
      </p:pic>
      <p:sp>
        <p:nvSpPr>
          <p:cNvPr id="13" name="Right Brace 18"/>
          <p:cNvSpPr/>
          <p:nvPr/>
        </p:nvSpPr>
        <p:spPr bwMode="auto">
          <a:xfrm rot="5400000">
            <a:off x="7891349" y="6429048"/>
            <a:ext cx="76200" cy="34188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4" name="1 Marcador de contenido"/>
          <p:cNvSpPr txBox="1">
            <a:spLocks/>
          </p:cNvSpPr>
          <p:nvPr/>
        </p:nvSpPr>
        <p:spPr>
          <a:xfrm>
            <a:off x="609600" y="1752600"/>
            <a:ext cx="9223578"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Tx/>
              <a:buBlip>
                <a:blip r:embed="rId4"/>
              </a:buBlip>
              <a:defRPr sz="3200" b="1" kern="1200">
                <a:solidFill>
                  <a:schemeClr val="bg1">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dirty="0"/>
              <a:t>Tipos de amenazas STRIDE</a:t>
            </a:r>
          </a:p>
          <a:p>
            <a:pPr lvl="1"/>
            <a:endParaRPr lang="es-ES" dirty="0"/>
          </a:p>
          <a:p>
            <a:pPr lvl="1"/>
            <a:endParaRPr lang="es-ES" dirty="0"/>
          </a:p>
          <a:p>
            <a:pPr lvl="1"/>
            <a:endParaRPr lang="es-ES" dirty="0"/>
          </a:p>
          <a:p>
            <a:pPr marL="0" indent="0">
              <a:buNone/>
            </a:pPr>
            <a:endParaRPr lang="es-ES" dirty="0"/>
          </a:p>
          <a:p>
            <a:pPr lvl="1"/>
            <a:endParaRPr lang="es-ES" dirty="0"/>
          </a:p>
          <a:p>
            <a:pPr lvl="1"/>
            <a:endParaRPr lang="es-ES" dirty="0"/>
          </a:p>
          <a:p>
            <a:pPr lvl="1"/>
            <a:endParaRPr lang="es-ES" dirty="0"/>
          </a:p>
          <a:p>
            <a:endParaRPr lang="es-ES" dirty="0"/>
          </a:p>
          <a:p>
            <a:pPr marL="0" indent="0">
              <a:buFontTx/>
              <a:buNone/>
            </a:pPr>
            <a:endParaRPr lang="es-ES" dirty="0"/>
          </a:p>
        </p:txBody>
      </p:sp>
      <p:graphicFrame>
        <p:nvGraphicFramePr>
          <p:cNvPr id="7" name="Content Placeholder 6"/>
          <p:cNvGraphicFramePr>
            <a:graphicFrameLocks/>
          </p:cNvGraphicFramePr>
          <p:nvPr>
            <p:extLst>
              <p:ext uri="{D42A27DB-BD31-4B8C-83A1-F6EECF244321}">
                <p14:modId xmlns:p14="http://schemas.microsoft.com/office/powerpoint/2010/main" val="1918942610"/>
              </p:ext>
            </p:extLst>
          </p:nvPr>
        </p:nvGraphicFramePr>
        <p:xfrm>
          <a:off x="899592" y="2348880"/>
          <a:ext cx="7696199" cy="3254774"/>
        </p:xfrm>
        <a:graphic>
          <a:graphicData uri="http://schemas.openxmlformats.org/drawingml/2006/table">
            <a:tbl>
              <a:tblPr bandRow="1">
                <a:tableStyleId>{5C22544A-7EE6-4342-B048-85BDC9FD1C3A}</a:tableStyleId>
              </a:tblPr>
              <a:tblGrid>
                <a:gridCol w="1964987">
                  <a:extLst>
                    <a:ext uri="{9D8B030D-6E8A-4147-A177-3AD203B41FA5}">
                      <a16:colId xmlns:a16="http://schemas.microsoft.com/office/drawing/2014/main" val="20000"/>
                    </a:ext>
                  </a:extLst>
                </a:gridCol>
                <a:gridCol w="1964987">
                  <a:extLst>
                    <a:ext uri="{9D8B030D-6E8A-4147-A177-3AD203B41FA5}">
                      <a16:colId xmlns:a16="http://schemas.microsoft.com/office/drawing/2014/main" val="20001"/>
                    </a:ext>
                  </a:extLst>
                </a:gridCol>
                <a:gridCol w="3766225">
                  <a:extLst>
                    <a:ext uri="{9D8B030D-6E8A-4147-A177-3AD203B41FA5}">
                      <a16:colId xmlns:a16="http://schemas.microsoft.com/office/drawing/2014/main" val="20002"/>
                    </a:ext>
                  </a:extLst>
                </a:gridCol>
              </a:tblGrid>
              <a:tr h="445806">
                <a:tc>
                  <a:txBody>
                    <a:bodyPr/>
                    <a:lstStyle/>
                    <a:p>
                      <a:pPr marL="0" marR="0" algn="ctr">
                        <a:lnSpc>
                          <a:spcPct val="115000"/>
                        </a:lnSpc>
                        <a:spcBef>
                          <a:spcPts val="0"/>
                        </a:spcBef>
                        <a:spcAft>
                          <a:spcPts val="0"/>
                        </a:spcAft>
                      </a:pPr>
                      <a:r>
                        <a:rPr lang="es-ES" sz="1400" b="1" noProof="0" dirty="0">
                          <a:latin typeface="+mn-lt"/>
                          <a:ea typeface="Times New Roman"/>
                          <a:cs typeface="Times New Roman"/>
                        </a:rPr>
                        <a:t>Propiedad deseada</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s-ES" sz="1400" b="1" noProof="0" dirty="0">
                          <a:latin typeface="+mn-lt"/>
                          <a:ea typeface="Times New Roman"/>
                          <a:cs typeface="Times New Roman"/>
                        </a:rPr>
                        <a:t>Amenaza</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gn="ctr">
                        <a:lnSpc>
                          <a:spcPct val="115000"/>
                        </a:lnSpc>
                        <a:spcBef>
                          <a:spcPts val="0"/>
                        </a:spcBef>
                        <a:spcAft>
                          <a:spcPts val="0"/>
                        </a:spcAft>
                        <a:buFontTx/>
                        <a:buNone/>
                      </a:pPr>
                      <a:r>
                        <a:rPr lang="es-ES" sz="1400" b="1" noProof="0" dirty="0">
                          <a:latin typeface="+mn-lt"/>
                          <a:ea typeface="Times New Roman"/>
                          <a:cs typeface="Times New Roman"/>
                        </a:rPr>
                        <a:t>Definición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18290">
                <a:tc>
                  <a:txBody>
                    <a:bodyPr/>
                    <a:lstStyle/>
                    <a:p>
                      <a:pPr marL="0" marR="0">
                        <a:lnSpc>
                          <a:spcPct val="115000"/>
                        </a:lnSpc>
                        <a:spcBef>
                          <a:spcPts val="0"/>
                        </a:spcBef>
                        <a:spcAft>
                          <a:spcPts val="0"/>
                        </a:spcAft>
                      </a:pPr>
                      <a:r>
                        <a:rPr lang="es-ES" sz="1400" noProof="0" dirty="0">
                          <a:latin typeface="+mn-lt"/>
                          <a:ea typeface="Times New Roman"/>
                          <a:cs typeface="Times New Roman"/>
                        </a:rPr>
                        <a:t>Autenticación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spcBef>
                          <a:spcPts val="0"/>
                        </a:spcBef>
                        <a:spcAft>
                          <a:spcPts val="0"/>
                        </a:spcAft>
                      </a:pPr>
                      <a:r>
                        <a:rPr lang="es-ES" sz="1400" b="1" noProof="0" dirty="0" err="1">
                          <a:solidFill>
                            <a:srgbClr val="C00000"/>
                          </a:solidFill>
                          <a:latin typeface="+mn-lt"/>
                          <a:ea typeface="Times New Roman"/>
                          <a:cs typeface="Times New Roman"/>
                        </a:rPr>
                        <a:t>S</a:t>
                      </a:r>
                      <a:r>
                        <a:rPr lang="es-ES" sz="1400" noProof="0" dirty="0" err="1">
                          <a:latin typeface="+mn-lt"/>
                          <a:ea typeface="Times New Roman"/>
                          <a:cs typeface="Times New Roman"/>
                        </a:rPr>
                        <a:t>poofing</a:t>
                      </a:r>
                      <a:endParaRPr lang="es-ES" sz="1400" noProof="0" dirty="0">
                        <a:latin typeface="+mn-lt"/>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400" u="none" strike="noStrike" kern="1200" cap="none" normalizeH="0" baseline="0" noProof="0" dirty="0">
                          <a:ln>
                            <a:noFill/>
                          </a:ln>
                          <a:solidFill>
                            <a:schemeClr val="tx1"/>
                          </a:solidFill>
                          <a:effectLst/>
                          <a:latin typeface="+mn-lt"/>
                          <a:ea typeface="+mn-ea"/>
                          <a:cs typeface="+mn-cs"/>
                        </a:rPr>
                        <a:t>Hacerse pasarse por alguien o “algo”</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60040">
                <a:tc>
                  <a:txBody>
                    <a:bodyPr/>
                    <a:lstStyle/>
                    <a:p>
                      <a:pPr marL="0" marR="0">
                        <a:lnSpc>
                          <a:spcPct val="115000"/>
                        </a:lnSpc>
                        <a:spcBef>
                          <a:spcPts val="1000"/>
                        </a:spcBef>
                        <a:spcAft>
                          <a:spcPts val="0"/>
                        </a:spcAft>
                      </a:pPr>
                      <a:r>
                        <a:rPr lang="es-ES" sz="1400" noProof="0" dirty="0">
                          <a:latin typeface="+mn-lt"/>
                          <a:ea typeface="Times New Roman"/>
                          <a:cs typeface="Times New Roman"/>
                        </a:rPr>
                        <a:t>Integridad</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spcBef>
                          <a:spcPts val="1000"/>
                        </a:spcBef>
                        <a:spcAft>
                          <a:spcPts val="0"/>
                        </a:spcAft>
                      </a:pPr>
                      <a:r>
                        <a:rPr lang="es-ES" sz="1400" b="1" noProof="0" dirty="0" err="1">
                          <a:solidFill>
                            <a:srgbClr val="C00000"/>
                          </a:solidFill>
                          <a:latin typeface="+mn-lt"/>
                          <a:ea typeface="Times New Roman"/>
                          <a:cs typeface="Times New Roman"/>
                        </a:rPr>
                        <a:t>T</a:t>
                      </a:r>
                      <a:r>
                        <a:rPr lang="es-ES" sz="1400" noProof="0" dirty="0" err="1">
                          <a:latin typeface="+mn-lt"/>
                          <a:ea typeface="Times New Roman"/>
                          <a:cs typeface="Times New Roman"/>
                        </a:rPr>
                        <a:t>ampering</a:t>
                      </a:r>
                      <a:endParaRPr lang="es-ES" sz="1400" noProof="0" dirty="0">
                        <a:latin typeface="+mn-lt"/>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400" u="none" strike="noStrike" kern="1200" cap="none" normalizeH="0" baseline="0" noProof="0" dirty="0">
                          <a:ln>
                            <a:noFill/>
                          </a:ln>
                          <a:solidFill>
                            <a:schemeClr val="tx1"/>
                          </a:solidFill>
                          <a:effectLst/>
                          <a:latin typeface="+mn-lt"/>
                          <a:ea typeface="+mn-ea"/>
                          <a:cs typeface="+mn-cs"/>
                        </a:rPr>
                        <a:t>Modificar código o datos sin autorización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04056">
                <a:tc>
                  <a:txBody>
                    <a:bodyPr/>
                    <a:lstStyle/>
                    <a:p>
                      <a:pPr marL="0" marR="0">
                        <a:lnSpc>
                          <a:spcPct val="115000"/>
                        </a:lnSpc>
                        <a:spcBef>
                          <a:spcPts val="1000"/>
                        </a:spcBef>
                        <a:spcAft>
                          <a:spcPts val="0"/>
                        </a:spcAft>
                      </a:pPr>
                      <a:r>
                        <a:rPr lang="es-ES" sz="1400" noProof="0" dirty="0">
                          <a:latin typeface="+mn-lt"/>
                          <a:ea typeface="Times New Roman"/>
                          <a:cs typeface="Times New Roman"/>
                        </a:rPr>
                        <a:t>No repudio</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spcBef>
                          <a:spcPts val="1000"/>
                        </a:spcBef>
                        <a:spcAft>
                          <a:spcPts val="0"/>
                        </a:spcAft>
                      </a:pPr>
                      <a:r>
                        <a:rPr lang="es-ES" sz="1400" b="1" noProof="0" dirty="0" err="1">
                          <a:solidFill>
                            <a:srgbClr val="C00000"/>
                          </a:solidFill>
                          <a:latin typeface="+mn-lt"/>
                          <a:ea typeface="Times New Roman"/>
                          <a:cs typeface="Times New Roman"/>
                        </a:rPr>
                        <a:t>R</a:t>
                      </a:r>
                      <a:r>
                        <a:rPr lang="es-ES" sz="1400" noProof="0" dirty="0" err="1">
                          <a:latin typeface="+mn-lt"/>
                          <a:ea typeface="Times New Roman"/>
                          <a:cs typeface="Times New Roman"/>
                        </a:rPr>
                        <a:t>epudiation</a:t>
                      </a:r>
                      <a:endParaRPr lang="es-ES" sz="1400" noProof="0" dirty="0">
                        <a:latin typeface="+mn-lt"/>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400" u="none" strike="noStrike" kern="1200" cap="none" normalizeH="0" baseline="0" noProof="0" dirty="0">
                          <a:ln>
                            <a:noFill/>
                          </a:ln>
                          <a:solidFill>
                            <a:schemeClr val="tx1"/>
                          </a:solidFill>
                          <a:effectLst/>
                          <a:latin typeface="+mn-lt"/>
                          <a:ea typeface="+mn-ea"/>
                          <a:cs typeface="+mn-cs"/>
                        </a:rPr>
                        <a:t>Posibilidad de reclamar que no se ha realizado una determinada acción sobre una aplicación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60040">
                <a:tc>
                  <a:txBody>
                    <a:bodyPr/>
                    <a:lstStyle/>
                    <a:p>
                      <a:pPr marL="0" marR="0">
                        <a:lnSpc>
                          <a:spcPct val="115000"/>
                        </a:lnSpc>
                        <a:spcBef>
                          <a:spcPts val="1000"/>
                        </a:spcBef>
                        <a:spcAft>
                          <a:spcPts val="0"/>
                        </a:spcAft>
                      </a:pPr>
                      <a:r>
                        <a:rPr lang="es-ES" sz="1400" noProof="0" dirty="0">
                          <a:latin typeface="+mn-lt"/>
                          <a:ea typeface="Times New Roman"/>
                          <a:cs typeface="Times New Roman"/>
                        </a:rPr>
                        <a:t>Confidencialidad</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spcBef>
                          <a:spcPts val="1000"/>
                        </a:spcBef>
                        <a:spcAft>
                          <a:spcPts val="0"/>
                        </a:spcAft>
                      </a:pPr>
                      <a:r>
                        <a:rPr lang="es-ES" sz="1400" b="1" noProof="0" dirty="0" err="1">
                          <a:solidFill>
                            <a:srgbClr val="C00000"/>
                          </a:solidFill>
                          <a:latin typeface="+mn-lt"/>
                          <a:ea typeface="Times New Roman"/>
                          <a:cs typeface="Times New Roman"/>
                        </a:rPr>
                        <a:t>I</a:t>
                      </a:r>
                      <a:r>
                        <a:rPr lang="es-ES" sz="1400" noProof="0" dirty="0" err="1">
                          <a:latin typeface="+mn-lt"/>
                          <a:ea typeface="Times New Roman"/>
                          <a:cs typeface="Times New Roman"/>
                        </a:rPr>
                        <a:t>nformation</a:t>
                      </a:r>
                      <a:r>
                        <a:rPr lang="es-ES" sz="1400" noProof="0" dirty="0">
                          <a:latin typeface="+mn-lt"/>
                          <a:ea typeface="Times New Roman"/>
                          <a:cs typeface="Times New Roman"/>
                        </a:rPr>
                        <a:t> </a:t>
                      </a:r>
                      <a:r>
                        <a:rPr lang="es-ES" sz="1400" noProof="0" dirty="0" err="1">
                          <a:latin typeface="+mn-lt"/>
                          <a:ea typeface="Times New Roman"/>
                          <a:cs typeface="Times New Roman"/>
                        </a:rPr>
                        <a:t>Disclosure</a:t>
                      </a:r>
                      <a:endParaRPr lang="es-ES" sz="1400" noProof="0" dirty="0">
                        <a:latin typeface="+mn-lt"/>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400" u="none" strike="noStrike" kern="1200" cap="none" normalizeH="0" baseline="0" noProof="0" dirty="0">
                          <a:ln>
                            <a:noFill/>
                          </a:ln>
                          <a:solidFill>
                            <a:schemeClr val="tx1"/>
                          </a:solidFill>
                          <a:effectLst/>
                          <a:latin typeface="+mn-lt"/>
                          <a:ea typeface="+mn-ea"/>
                          <a:cs typeface="+mn-cs"/>
                        </a:rPr>
                        <a:t>Exponer información a usuarios no autorizados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504056">
                <a:tc>
                  <a:txBody>
                    <a:bodyPr/>
                    <a:lstStyle/>
                    <a:p>
                      <a:pPr marL="0" marR="0">
                        <a:lnSpc>
                          <a:spcPct val="115000"/>
                        </a:lnSpc>
                        <a:spcBef>
                          <a:spcPts val="1000"/>
                        </a:spcBef>
                        <a:spcAft>
                          <a:spcPts val="0"/>
                        </a:spcAft>
                      </a:pPr>
                      <a:r>
                        <a:rPr lang="es-ES" sz="1400" noProof="0" dirty="0">
                          <a:latin typeface="+mn-lt"/>
                          <a:ea typeface="Times New Roman"/>
                          <a:cs typeface="Times New Roman"/>
                        </a:rPr>
                        <a:t>Disponibilidad</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spcBef>
                          <a:spcPts val="1000"/>
                        </a:spcBef>
                        <a:spcAft>
                          <a:spcPts val="0"/>
                        </a:spcAft>
                      </a:pPr>
                      <a:r>
                        <a:rPr lang="es-ES" sz="1400" b="1" noProof="0" dirty="0" err="1">
                          <a:solidFill>
                            <a:srgbClr val="C00000"/>
                          </a:solidFill>
                          <a:latin typeface="+mn-lt"/>
                          <a:ea typeface="Times New Roman"/>
                          <a:cs typeface="Times New Roman"/>
                        </a:rPr>
                        <a:t>D</a:t>
                      </a:r>
                      <a:r>
                        <a:rPr lang="es-ES" sz="1400" noProof="0" dirty="0" err="1">
                          <a:latin typeface="+mn-lt"/>
                          <a:ea typeface="Times New Roman"/>
                          <a:cs typeface="Times New Roman"/>
                        </a:rPr>
                        <a:t>enial</a:t>
                      </a:r>
                      <a:r>
                        <a:rPr lang="es-ES" sz="1400" noProof="0" dirty="0">
                          <a:latin typeface="+mn-lt"/>
                          <a:ea typeface="Times New Roman"/>
                          <a:cs typeface="Times New Roman"/>
                        </a:rPr>
                        <a:t> of </a:t>
                      </a:r>
                      <a:r>
                        <a:rPr lang="es-ES" sz="1400" noProof="0" dirty="0" err="1">
                          <a:latin typeface="+mn-lt"/>
                          <a:ea typeface="Times New Roman"/>
                          <a:cs typeface="Times New Roman"/>
                        </a:rPr>
                        <a:t>Service</a:t>
                      </a:r>
                      <a:endParaRPr lang="es-ES" sz="1400" noProof="0" dirty="0">
                        <a:latin typeface="+mn-lt"/>
                        <a:ea typeface="Times New Roman"/>
                        <a:cs typeface="Times New Roman"/>
                      </a:endParaRPr>
                    </a:p>
                    <a:p>
                      <a:pPr marL="0" marR="0">
                        <a:lnSpc>
                          <a:spcPct val="115000"/>
                        </a:lnSpc>
                        <a:spcBef>
                          <a:spcPts val="1000"/>
                        </a:spcBef>
                        <a:spcAft>
                          <a:spcPts val="0"/>
                        </a:spcAft>
                      </a:pPr>
                      <a:endParaRPr lang="es-ES" sz="1400" noProof="0" dirty="0">
                        <a:latin typeface="+mn-lt"/>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400" u="none" strike="noStrike" kern="1200" cap="none" normalizeH="0" baseline="0" noProof="0" dirty="0">
                          <a:ln>
                            <a:noFill/>
                          </a:ln>
                          <a:solidFill>
                            <a:schemeClr val="tx1"/>
                          </a:solidFill>
                          <a:effectLst/>
                          <a:latin typeface="+mn-lt"/>
                          <a:ea typeface="+mn-ea"/>
                          <a:cs typeface="+mn-cs"/>
                        </a:rPr>
                        <a:t>Posibilidad de denegar o degradar un servicio a usuarios legítimos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548814">
                <a:tc>
                  <a:txBody>
                    <a:bodyPr/>
                    <a:lstStyle/>
                    <a:p>
                      <a:pPr marL="0" marR="0">
                        <a:lnSpc>
                          <a:spcPct val="115000"/>
                        </a:lnSpc>
                        <a:spcBef>
                          <a:spcPts val="1000"/>
                        </a:spcBef>
                        <a:spcAft>
                          <a:spcPts val="0"/>
                        </a:spcAft>
                      </a:pPr>
                      <a:r>
                        <a:rPr lang="es-ES" sz="1400" noProof="0" dirty="0">
                          <a:latin typeface="+mn-lt"/>
                          <a:ea typeface="Times New Roman"/>
                          <a:cs typeface="Times New Roman"/>
                        </a:rPr>
                        <a:t>Autorización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15000"/>
                        </a:lnSpc>
                        <a:spcBef>
                          <a:spcPts val="1000"/>
                        </a:spcBef>
                        <a:spcAft>
                          <a:spcPts val="0"/>
                        </a:spcAft>
                      </a:pPr>
                      <a:r>
                        <a:rPr lang="es-ES" sz="1400" b="1" noProof="0" dirty="0" err="1">
                          <a:solidFill>
                            <a:srgbClr val="C00000"/>
                          </a:solidFill>
                          <a:latin typeface="+mn-lt"/>
                          <a:ea typeface="Times New Roman"/>
                          <a:cs typeface="Times New Roman"/>
                        </a:rPr>
                        <a:t>E</a:t>
                      </a:r>
                      <a:r>
                        <a:rPr lang="es-ES" sz="1400" noProof="0" dirty="0" err="1">
                          <a:latin typeface="+mn-lt"/>
                          <a:ea typeface="Times New Roman"/>
                          <a:cs typeface="Times New Roman"/>
                        </a:rPr>
                        <a:t>levation</a:t>
                      </a:r>
                      <a:r>
                        <a:rPr lang="es-ES" sz="1400" noProof="0" dirty="0">
                          <a:latin typeface="+mn-lt"/>
                          <a:ea typeface="Times New Roman"/>
                          <a:cs typeface="Times New Roman"/>
                        </a:rPr>
                        <a:t> of </a:t>
                      </a:r>
                      <a:r>
                        <a:rPr lang="es-ES" sz="1400" noProof="0" dirty="0" err="1">
                          <a:latin typeface="+mn-lt"/>
                          <a:ea typeface="Times New Roman"/>
                          <a:cs typeface="Times New Roman"/>
                        </a:rPr>
                        <a:t>Privilege</a:t>
                      </a:r>
                      <a:endParaRPr lang="es-ES" sz="1400" noProof="0" dirty="0">
                        <a:latin typeface="+mn-lt"/>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400" u="none" strike="noStrike" kern="1200" cap="none" normalizeH="0" baseline="0" noProof="0" dirty="0">
                          <a:ln>
                            <a:noFill/>
                          </a:ln>
                          <a:solidFill>
                            <a:schemeClr val="tx1"/>
                          </a:solidFill>
                          <a:effectLst/>
                          <a:latin typeface="+mn-lt"/>
                          <a:ea typeface="+mn-ea"/>
                          <a:cs typeface="+mn-cs"/>
                        </a:rPr>
                        <a:t>Posibilidad de que un usuario eleve sus privilegios en una aplicación sin autorización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614077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1600200"/>
            <a:ext cx="9223578" cy="4525963"/>
          </a:xfrm>
        </p:spPr>
        <p:txBody>
          <a:bodyPr>
            <a:normAutofit/>
          </a:bodyPr>
          <a:lstStyle/>
          <a:p>
            <a:endParaRPr lang="es-ES" dirty="0"/>
          </a:p>
          <a:p>
            <a:pPr marL="0" indent="0">
              <a:buNone/>
            </a:pPr>
            <a:endParaRPr lang="es-ES" dirty="0"/>
          </a:p>
        </p:txBody>
      </p:sp>
      <p:sp>
        <p:nvSpPr>
          <p:cNvPr id="3" name="2 Título"/>
          <p:cNvSpPr>
            <a:spLocks noGrp="1"/>
          </p:cNvSpPr>
          <p:nvPr>
            <p:ph type="title"/>
          </p:nvPr>
        </p:nvSpPr>
        <p:spPr/>
        <p:txBody>
          <a:bodyPr/>
          <a:lstStyle/>
          <a:p>
            <a:r>
              <a:rPr lang="es-ES" dirty="0"/>
              <a:t>SDL: </a:t>
            </a:r>
            <a:r>
              <a:rPr lang="es-ES" dirty="0" err="1"/>
              <a:t>Threat</a:t>
            </a:r>
            <a:r>
              <a:rPr lang="es-ES" dirty="0"/>
              <a:t> </a:t>
            </a:r>
            <a:r>
              <a:rPr lang="es-ES" dirty="0" err="1"/>
              <a:t>Modeling</a:t>
            </a:r>
            <a:endParaRPr lang="es-ES" dirty="0"/>
          </a:p>
        </p:txBody>
      </p:sp>
      <p:pic>
        <p:nvPicPr>
          <p:cNvPr id="12" name="Picture 2" descr="Page_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20272" y="5877272"/>
            <a:ext cx="2660506" cy="648072"/>
          </a:xfrm>
          <a:prstGeom prst="rect">
            <a:avLst/>
          </a:prstGeom>
          <a:noFill/>
          <a:extLst>
            <a:ext uri="{909E8E84-426E-40DD-AFC4-6F175D3DCCD1}">
              <a14:hiddenFill xmlns:a14="http://schemas.microsoft.com/office/drawing/2010/main">
                <a:solidFill>
                  <a:srgbClr val="FFFFFF"/>
                </a:solidFill>
              </a14:hiddenFill>
            </a:ext>
          </a:extLst>
        </p:spPr>
      </p:pic>
      <p:sp>
        <p:nvSpPr>
          <p:cNvPr id="13" name="Right Brace 18"/>
          <p:cNvSpPr/>
          <p:nvPr/>
        </p:nvSpPr>
        <p:spPr bwMode="auto">
          <a:xfrm rot="5400000">
            <a:off x="7891349" y="6429048"/>
            <a:ext cx="76200" cy="34188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4" name="1 Marcador de contenido"/>
          <p:cNvSpPr txBox="1">
            <a:spLocks/>
          </p:cNvSpPr>
          <p:nvPr/>
        </p:nvSpPr>
        <p:spPr>
          <a:xfrm>
            <a:off x="609600" y="1752600"/>
            <a:ext cx="9223578"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Tx/>
              <a:buBlip>
                <a:blip r:embed="rId4"/>
              </a:buBlip>
              <a:defRPr sz="3200" b="1" kern="1200">
                <a:solidFill>
                  <a:schemeClr val="bg1">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dirty="0"/>
              <a:t>Matriz STRIDE/Diagrama</a:t>
            </a:r>
          </a:p>
          <a:p>
            <a:pPr lvl="1"/>
            <a:endParaRPr lang="es-ES" dirty="0"/>
          </a:p>
          <a:p>
            <a:pPr lvl="1"/>
            <a:endParaRPr lang="es-ES" dirty="0"/>
          </a:p>
          <a:p>
            <a:pPr lvl="1"/>
            <a:endParaRPr lang="es-ES" dirty="0"/>
          </a:p>
          <a:p>
            <a:pPr marL="0" indent="0">
              <a:buNone/>
            </a:pPr>
            <a:endParaRPr lang="es-ES" dirty="0"/>
          </a:p>
          <a:p>
            <a:pPr lvl="1"/>
            <a:endParaRPr lang="es-ES" dirty="0"/>
          </a:p>
          <a:p>
            <a:pPr lvl="1"/>
            <a:endParaRPr lang="es-ES" dirty="0"/>
          </a:p>
          <a:p>
            <a:pPr lvl="1"/>
            <a:endParaRPr lang="es-ES" dirty="0"/>
          </a:p>
          <a:p>
            <a:endParaRPr lang="es-ES" dirty="0"/>
          </a:p>
          <a:p>
            <a:pPr marL="0" indent="0">
              <a:buFontTx/>
              <a:buNone/>
            </a:pPr>
            <a:endParaRPr lang="es-ES" dirty="0"/>
          </a:p>
        </p:txBody>
      </p:sp>
      <p:graphicFrame>
        <p:nvGraphicFramePr>
          <p:cNvPr id="7" name="Table 4"/>
          <p:cNvGraphicFramePr>
            <a:graphicFrameLocks noGrp="1"/>
          </p:cNvGraphicFramePr>
          <p:nvPr>
            <p:extLst>
              <p:ext uri="{D42A27DB-BD31-4B8C-83A1-F6EECF244321}">
                <p14:modId xmlns:p14="http://schemas.microsoft.com/office/powerpoint/2010/main" val="1528351792"/>
              </p:ext>
            </p:extLst>
          </p:nvPr>
        </p:nvGraphicFramePr>
        <p:xfrm>
          <a:off x="937592" y="2399273"/>
          <a:ext cx="7162800" cy="3779520"/>
        </p:xfrm>
        <a:graphic>
          <a:graphicData uri="http://schemas.openxmlformats.org/drawingml/2006/table">
            <a:tbl>
              <a:tblPr firstRow="1" bandRow="1">
                <a:tableStyleId>{5C22544A-7EE6-4342-B048-85BDC9FD1C3A}</a:tableStyleId>
              </a:tblPr>
              <a:tblGrid>
                <a:gridCol w="1790700">
                  <a:extLst>
                    <a:ext uri="{9D8B030D-6E8A-4147-A177-3AD203B41FA5}">
                      <a16:colId xmlns:a16="http://schemas.microsoft.com/office/drawing/2014/main" val="20000"/>
                    </a:ext>
                  </a:extLst>
                </a:gridCol>
                <a:gridCol w="895350">
                  <a:extLst>
                    <a:ext uri="{9D8B030D-6E8A-4147-A177-3AD203B41FA5}">
                      <a16:colId xmlns:a16="http://schemas.microsoft.com/office/drawing/2014/main" val="20001"/>
                    </a:ext>
                  </a:extLst>
                </a:gridCol>
                <a:gridCol w="895350">
                  <a:extLst>
                    <a:ext uri="{9D8B030D-6E8A-4147-A177-3AD203B41FA5}">
                      <a16:colId xmlns:a16="http://schemas.microsoft.com/office/drawing/2014/main" val="20002"/>
                    </a:ext>
                  </a:extLst>
                </a:gridCol>
                <a:gridCol w="895350">
                  <a:extLst>
                    <a:ext uri="{9D8B030D-6E8A-4147-A177-3AD203B41FA5}">
                      <a16:colId xmlns:a16="http://schemas.microsoft.com/office/drawing/2014/main" val="20003"/>
                    </a:ext>
                  </a:extLst>
                </a:gridCol>
                <a:gridCol w="895350">
                  <a:extLst>
                    <a:ext uri="{9D8B030D-6E8A-4147-A177-3AD203B41FA5}">
                      <a16:colId xmlns:a16="http://schemas.microsoft.com/office/drawing/2014/main" val="20004"/>
                    </a:ext>
                  </a:extLst>
                </a:gridCol>
                <a:gridCol w="895350">
                  <a:extLst>
                    <a:ext uri="{9D8B030D-6E8A-4147-A177-3AD203B41FA5}">
                      <a16:colId xmlns:a16="http://schemas.microsoft.com/office/drawing/2014/main" val="20005"/>
                    </a:ext>
                  </a:extLst>
                </a:gridCol>
                <a:gridCol w="895350">
                  <a:extLst>
                    <a:ext uri="{9D8B030D-6E8A-4147-A177-3AD203B41FA5}">
                      <a16:colId xmlns:a16="http://schemas.microsoft.com/office/drawing/2014/main" val="20006"/>
                    </a:ext>
                  </a:extLst>
                </a:gridCol>
              </a:tblGrid>
              <a:tr h="0">
                <a:tc>
                  <a:txBody>
                    <a:bodyPr/>
                    <a:lstStyle/>
                    <a:p>
                      <a:pPr algn="ctr"/>
                      <a:r>
                        <a:rPr lang="en-US" sz="1600" dirty="0">
                          <a:solidFill>
                            <a:schemeClr val="tx1"/>
                          </a:solidFill>
                        </a:rPr>
                        <a:t>Element</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tx1"/>
                          </a:solidFill>
                        </a:rPr>
                        <a:t>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tx1"/>
                          </a:solidFill>
                        </a:rPr>
                        <a:t>T</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tx1"/>
                          </a:solidFill>
                        </a:rPr>
                        <a:t>R</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tx1"/>
                          </a:solidFill>
                        </a:rPr>
                        <a:t>I</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tx1"/>
                          </a:solidFill>
                        </a:rPr>
                        <a:t>D</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tx1"/>
                          </a:solidFill>
                        </a:rPr>
                        <a:t>E</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648072">
                <a:tc>
                  <a:txBody>
                    <a:bodyPr/>
                    <a:lstStyle/>
                    <a:p>
                      <a:pPr algn="l"/>
                      <a:endParaRPr lang="en-US" sz="1600" dirty="0">
                        <a:solidFill>
                          <a:schemeClr val="tx1"/>
                        </a:solidFill>
                      </a:endParaRPr>
                    </a:p>
                    <a:p>
                      <a:pPr algn="l"/>
                      <a:endParaRPr lang="en-US" sz="1600" dirty="0">
                        <a:solidFill>
                          <a:schemeClr val="tx1"/>
                        </a:solidFill>
                      </a:endParaRPr>
                    </a:p>
                    <a:p>
                      <a:pPr algn="l"/>
                      <a:r>
                        <a:rPr lang="en-US" sz="1600" dirty="0">
                          <a:solidFill>
                            <a:schemeClr val="tx1"/>
                          </a:solidFill>
                        </a:rPr>
                        <a:t>External entity</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accent1"/>
                          </a:solidFill>
                          <a:sym typeface="Webdings"/>
                        </a:rPr>
                        <a:t></a:t>
                      </a:r>
                      <a:endParaRPr lang="en-US" sz="1600" dirty="0">
                        <a:solidFill>
                          <a:schemeClr val="accent1"/>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chemeClr val="tx1"/>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accent1"/>
                          </a:solidFill>
                          <a:sym typeface="Webdings"/>
                        </a:rPr>
                        <a:t></a:t>
                      </a:r>
                      <a:endParaRPr lang="en-US" sz="1600" dirty="0">
                        <a:solidFill>
                          <a:schemeClr val="tx1"/>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chemeClr val="tx1"/>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chemeClr val="tx1"/>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chemeClr val="tx1"/>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99160">
                <a:tc>
                  <a:txBody>
                    <a:bodyPr/>
                    <a:lstStyle/>
                    <a:p>
                      <a:pPr algn="l"/>
                      <a:endParaRPr lang="en-US" sz="1600" dirty="0">
                        <a:solidFill>
                          <a:schemeClr val="tx1"/>
                        </a:solidFill>
                      </a:endParaRPr>
                    </a:p>
                    <a:p>
                      <a:pPr algn="l"/>
                      <a:endParaRPr lang="en-US" sz="1600" dirty="0">
                        <a:solidFill>
                          <a:schemeClr val="tx1"/>
                        </a:solidFill>
                      </a:endParaRPr>
                    </a:p>
                    <a:p>
                      <a:pPr algn="l"/>
                      <a:r>
                        <a:rPr lang="en-US" sz="1600" dirty="0">
                          <a:solidFill>
                            <a:schemeClr val="tx1"/>
                          </a:solidFill>
                        </a:rPr>
                        <a:t>Process</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accent1"/>
                          </a:solidFill>
                          <a:sym typeface="Webdings"/>
                        </a:rPr>
                        <a:t></a:t>
                      </a:r>
                      <a:endParaRPr lang="en-US" sz="1600" dirty="0">
                        <a:solidFill>
                          <a:schemeClr val="tx1"/>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accent1"/>
                          </a:solidFill>
                          <a:sym typeface="Webdings"/>
                        </a:rPr>
                        <a:t></a:t>
                      </a:r>
                      <a:endParaRPr lang="en-US" sz="1600" dirty="0">
                        <a:solidFill>
                          <a:schemeClr val="tx1"/>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accent1"/>
                          </a:solidFill>
                          <a:sym typeface="Webdings"/>
                        </a:rPr>
                        <a:t></a:t>
                      </a:r>
                      <a:endParaRPr lang="en-US" sz="1600" dirty="0">
                        <a:solidFill>
                          <a:schemeClr val="tx1"/>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accent1"/>
                          </a:solidFill>
                          <a:sym typeface="Webdings"/>
                        </a:rPr>
                        <a:t></a:t>
                      </a:r>
                      <a:endParaRPr lang="en-US" sz="1600" dirty="0">
                        <a:solidFill>
                          <a:schemeClr val="tx1"/>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accent1"/>
                          </a:solidFill>
                          <a:sym typeface="Webdings"/>
                        </a:rPr>
                        <a:t></a:t>
                      </a:r>
                      <a:endParaRPr lang="en-US" sz="1600" dirty="0">
                        <a:solidFill>
                          <a:schemeClr val="tx1"/>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accent1"/>
                          </a:solidFill>
                          <a:sym typeface="Webdings"/>
                        </a:rPr>
                        <a:t></a:t>
                      </a:r>
                      <a:endParaRPr lang="en-US" sz="1600" dirty="0">
                        <a:solidFill>
                          <a:schemeClr val="tx1"/>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899160">
                <a:tc>
                  <a:txBody>
                    <a:bodyPr/>
                    <a:lstStyle/>
                    <a:p>
                      <a:pPr algn="l"/>
                      <a:endParaRPr lang="en-US" sz="1600" dirty="0">
                        <a:solidFill>
                          <a:schemeClr val="tx1"/>
                        </a:solidFill>
                      </a:endParaRPr>
                    </a:p>
                    <a:p>
                      <a:pPr algn="l"/>
                      <a:endParaRPr lang="en-US" sz="1600" dirty="0">
                        <a:solidFill>
                          <a:schemeClr val="tx1"/>
                        </a:solidFill>
                      </a:endParaRPr>
                    </a:p>
                    <a:p>
                      <a:pPr algn="l"/>
                      <a:r>
                        <a:rPr lang="en-US" sz="1600" dirty="0">
                          <a:solidFill>
                            <a:schemeClr val="tx1"/>
                          </a:solidFill>
                        </a:rPr>
                        <a:t>Data Store</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chemeClr val="tx1"/>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accent1"/>
                          </a:solidFill>
                          <a:sym typeface="Webdings"/>
                        </a:rPr>
                        <a:t></a:t>
                      </a:r>
                      <a:endParaRPr lang="en-US" sz="1600" dirty="0">
                        <a:solidFill>
                          <a:schemeClr val="tx1"/>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rgbClr val="C00000"/>
                          </a:solidFill>
                          <a:sym typeface="Webdings"/>
                        </a:rPr>
                        <a:t></a:t>
                      </a:r>
                      <a:endParaRPr lang="en-US" sz="1600" dirty="0">
                        <a:solidFill>
                          <a:srgbClr val="C00000"/>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accent1"/>
                          </a:solidFill>
                          <a:sym typeface="Webdings"/>
                        </a:rPr>
                        <a:t></a:t>
                      </a:r>
                      <a:endParaRPr lang="en-US" sz="1600" dirty="0">
                        <a:solidFill>
                          <a:schemeClr val="tx1"/>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accent1"/>
                          </a:solidFill>
                          <a:sym typeface="Webdings"/>
                        </a:rPr>
                        <a:t></a:t>
                      </a:r>
                      <a:endParaRPr lang="en-US" sz="1600" dirty="0">
                        <a:solidFill>
                          <a:schemeClr val="tx1"/>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chemeClr val="tx1"/>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676528">
                <a:tc>
                  <a:txBody>
                    <a:bodyPr/>
                    <a:lstStyle/>
                    <a:p>
                      <a:pPr algn="l"/>
                      <a:endParaRPr lang="en-US" sz="1600" dirty="0">
                        <a:solidFill>
                          <a:schemeClr val="tx1"/>
                        </a:solidFill>
                      </a:endParaRPr>
                    </a:p>
                    <a:p>
                      <a:pPr algn="l"/>
                      <a:endParaRPr lang="en-US" sz="1600" dirty="0">
                        <a:solidFill>
                          <a:schemeClr val="tx1"/>
                        </a:solidFill>
                      </a:endParaRPr>
                    </a:p>
                    <a:p>
                      <a:pPr algn="l"/>
                      <a:r>
                        <a:rPr lang="en-US" sz="1600" dirty="0">
                          <a:solidFill>
                            <a:schemeClr val="tx1"/>
                          </a:solidFill>
                        </a:rPr>
                        <a:t>Data Flow</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chemeClr val="tx1"/>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accent1"/>
                          </a:solidFill>
                          <a:sym typeface="Webdings"/>
                        </a:rPr>
                        <a:t></a:t>
                      </a:r>
                      <a:endParaRPr lang="en-US" sz="1600" dirty="0">
                        <a:solidFill>
                          <a:schemeClr val="tx1"/>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chemeClr val="tx1"/>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accent1"/>
                          </a:solidFill>
                          <a:sym typeface="Webdings"/>
                        </a:rPr>
                        <a:t></a:t>
                      </a:r>
                      <a:endParaRPr lang="en-US" sz="1600" dirty="0">
                        <a:solidFill>
                          <a:schemeClr val="tx1"/>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accent1"/>
                          </a:solidFill>
                          <a:sym typeface="Webdings"/>
                        </a:rPr>
                        <a:t></a:t>
                      </a:r>
                      <a:endParaRPr lang="en-US" sz="1600" dirty="0">
                        <a:solidFill>
                          <a:schemeClr val="tx1"/>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chemeClr val="tx1"/>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610840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1600200"/>
            <a:ext cx="9223578" cy="4525963"/>
          </a:xfrm>
        </p:spPr>
        <p:txBody>
          <a:bodyPr>
            <a:normAutofit/>
          </a:bodyPr>
          <a:lstStyle/>
          <a:p>
            <a:endParaRPr lang="es-ES" dirty="0"/>
          </a:p>
          <a:p>
            <a:pPr marL="0" indent="0">
              <a:buNone/>
            </a:pPr>
            <a:endParaRPr lang="es-ES" dirty="0"/>
          </a:p>
        </p:txBody>
      </p:sp>
      <p:sp>
        <p:nvSpPr>
          <p:cNvPr id="3" name="2 Título"/>
          <p:cNvSpPr>
            <a:spLocks noGrp="1"/>
          </p:cNvSpPr>
          <p:nvPr>
            <p:ph type="title"/>
          </p:nvPr>
        </p:nvSpPr>
        <p:spPr/>
        <p:txBody>
          <a:bodyPr/>
          <a:lstStyle/>
          <a:p>
            <a:r>
              <a:rPr lang="es-ES" dirty="0"/>
              <a:t>SDL: </a:t>
            </a:r>
            <a:r>
              <a:rPr lang="es-ES" dirty="0" err="1"/>
              <a:t>Threat</a:t>
            </a:r>
            <a:r>
              <a:rPr lang="es-ES" dirty="0"/>
              <a:t> </a:t>
            </a:r>
            <a:r>
              <a:rPr lang="es-ES" dirty="0" err="1"/>
              <a:t>Modeling</a:t>
            </a:r>
            <a:endParaRPr lang="es-ES" dirty="0"/>
          </a:p>
        </p:txBody>
      </p:sp>
      <p:pic>
        <p:nvPicPr>
          <p:cNvPr id="12" name="Picture 2" descr="Page_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20272" y="5877272"/>
            <a:ext cx="2660506" cy="648072"/>
          </a:xfrm>
          <a:prstGeom prst="rect">
            <a:avLst/>
          </a:prstGeom>
          <a:noFill/>
          <a:extLst>
            <a:ext uri="{909E8E84-426E-40DD-AFC4-6F175D3DCCD1}">
              <a14:hiddenFill xmlns:a14="http://schemas.microsoft.com/office/drawing/2010/main">
                <a:solidFill>
                  <a:srgbClr val="FFFFFF"/>
                </a:solidFill>
              </a14:hiddenFill>
            </a:ext>
          </a:extLst>
        </p:spPr>
      </p:pic>
      <p:sp>
        <p:nvSpPr>
          <p:cNvPr id="13" name="Right Brace 18"/>
          <p:cNvSpPr/>
          <p:nvPr/>
        </p:nvSpPr>
        <p:spPr bwMode="auto">
          <a:xfrm rot="5400000">
            <a:off x="7891349" y="6429048"/>
            <a:ext cx="76200" cy="34188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4" name="1 Marcador de contenido"/>
          <p:cNvSpPr txBox="1">
            <a:spLocks/>
          </p:cNvSpPr>
          <p:nvPr/>
        </p:nvSpPr>
        <p:spPr>
          <a:xfrm>
            <a:off x="609600" y="1752600"/>
            <a:ext cx="9223578"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Tx/>
              <a:buBlip>
                <a:blip r:embed="rId4"/>
              </a:buBlip>
              <a:defRPr sz="3200" b="1" kern="1200">
                <a:solidFill>
                  <a:schemeClr val="bg1">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dirty="0"/>
              <a:t>Mitigación</a:t>
            </a:r>
          </a:p>
          <a:p>
            <a:pPr lvl="1"/>
            <a:r>
              <a:rPr lang="es-ES" dirty="0"/>
              <a:t>Como hacer frente a las amenazas identificadas.</a:t>
            </a:r>
          </a:p>
          <a:p>
            <a:r>
              <a:rPr lang="es-ES" dirty="0"/>
              <a:t>Enfoques</a:t>
            </a:r>
          </a:p>
          <a:p>
            <a:pPr lvl="1"/>
            <a:r>
              <a:rPr lang="es-ES" dirty="0"/>
              <a:t>Rediseñar</a:t>
            </a:r>
          </a:p>
          <a:p>
            <a:pPr lvl="1"/>
            <a:r>
              <a:rPr lang="es-ES" dirty="0"/>
              <a:t>Utilizar mitigaciones estándar</a:t>
            </a:r>
          </a:p>
          <a:p>
            <a:pPr lvl="1"/>
            <a:r>
              <a:rPr lang="es-ES" dirty="0"/>
              <a:t>Utilizar mitigaciones únicas</a:t>
            </a:r>
          </a:p>
          <a:p>
            <a:pPr lvl="1"/>
            <a:r>
              <a:rPr lang="es-ES" dirty="0"/>
              <a:t>Aceptar el riesgo en conformidad con las políticas</a:t>
            </a:r>
          </a:p>
          <a:p>
            <a:pPr lvl="1"/>
            <a:endParaRPr lang="es-ES" dirty="0"/>
          </a:p>
          <a:p>
            <a:pPr lvl="1"/>
            <a:endParaRPr lang="es-ES" dirty="0"/>
          </a:p>
          <a:p>
            <a:pPr lvl="1"/>
            <a:endParaRPr lang="es-ES" dirty="0"/>
          </a:p>
          <a:p>
            <a:pPr marL="0" indent="0">
              <a:buNone/>
            </a:pPr>
            <a:endParaRPr lang="es-ES" dirty="0"/>
          </a:p>
          <a:p>
            <a:pPr lvl="1"/>
            <a:endParaRPr lang="es-ES" dirty="0"/>
          </a:p>
          <a:p>
            <a:pPr lvl="1"/>
            <a:endParaRPr lang="es-ES" dirty="0"/>
          </a:p>
          <a:p>
            <a:pPr lvl="1"/>
            <a:endParaRPr lang="es-ES" dirty="0"/>
          </a:p>
          <a:p>
            <a:endParaRPr lang="es-ES" dirty="0"/>
          </a:p>
          <a:p>
            <a:pPr marL="0" indent="0">
              <a:buFontTx/>
              <a:buNone/>
            </a:pPr>
            <a:endParaRPr lang="es-ES" dirty="0"/>
          </a:p>
        </p:txBody>
      </p:sp>
    </p:spTree>
    <p:extLst>
      <p:ext uri="{BB962C8B-B14F-4D97-AF65-F5344CB8AC3E}">
        <p14:creationId xmlns:p14="http://schemas.microsoft.com/office/powerpoint/2010/main" val="17007307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1600200"/>
            <a:ext cx="9223578" cy="4525963"/>
          </a:xfrm>
        </p:spPr>
        <p:txBody>
          <a:bodyPr>
            <a:normAutofit/>
          </a:bodyPr>
          <a:lstStyle/>
          <a:p>
            <a:endParaRPr lang="es-ES" dirty="0"/>
          </a:p>
          <a:p>
            <a:pPr marL="0" indent="0">
              <a:buNone/>
            </a:pPr>
            <a:endParaRPr lang="es-ES" dirty="0"/>
          </a:p>
        </p:txBody>
      </p:sp>
      <p:sp>
        <p:nvSpPr>
          <p:cNvPr id="3" name="2 Título"/>
          <p:cNvSpPr>
            <a:spLocks noGrp="1"/>
          </p:cNvSpPr>
          <p:nvPr>
            <p:ph type="title"/>
          </p:nvPr>
        </p:nvSpPr>
        <p:spPr/>
        <p:txBody>
          <a:bodyPr/>
          <a:lstStyle/>
          <a:p>
            <a:r>
              <a:rPr lang="es-ES" dirty="0"/>
              <a:t>SDL: </a:t>
            </a:r>
            <a:r>
              <a:rPr lang="es-ES" dirty="0" err="1"/>
              <a:t>Threat</a:t>
            </a:r>
            <a:r>
              <a:rPr lang="es-ES" dirty="0"/>
              <a:t> </a:t>
            </a:r>
            <a:r>
              <a:rPr lang="es-ES" dirty="0" err="1"/>
              <a:t>Modeling</a:t>
            </a:r>
            <a:endParaRPr lang="es-ES" dirty="0"/>
          </a:p>
        </p:txBody>
      </p:sp>
      <p:pic>
        <p:nvPicPr>
          <p:cNvPr id="12" name="Picture 2" descr="Page_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20272" y="5877272"/>
            <a:ext cx="2660506" cy="648072"/>
          </a:xfrm>
          <a:prstGeom prst="rect">
            <a:avLst/>
          </a:prstGeom>
          <a:noFill/>
          <a:extLst>
            <a:ext uri="{909E8E84-426E-40DD-AFC4-6F175D3DCCD1}">
              <a14:hiddenFill xmlns:a14="http://schemas.microsoft.com/office/drawing/2010/main">
                <a:solidFill>
                  <a:srgbClr val="FFFFFF"/>
                </a:solidFill>
              </a14:hiddenFill>
            </a:ext>
          </a:extLst>
        </p:spPr>
      </p:pic>
      <p:sp>
        <p:nvSpPr>
          <p:cNvPr id="13" name="Right Brace 18"/>
          <p:cNvSpPr/>
          <p:nvPr/>
        </p:nvSpPr>
        <p:spPr bwMode="auto">
          <a:xfrm rot="5400000">
            <a:off x="7891349" y="6429048"/>
            <a:ext cx="76200" cy="34188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4" name="1 Marcador de contenido"/>
          <p:cNvSpPr txBox="1">
            <a:spLocks/>
          </p:cNvSpPr>
          <p:nvPr/>
        </p:nvSpPr>
        <p:spPr>
          <a:xfrm>
            <a:off x="609600" y="1752600"/>
            <a:ext cx="9223578"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Tx/>
              <a:buBlip>
                <a:blip r:embed="rId4"/>
              </a:buBlip>
              <a:defRPr sz="3200" b="1" kern="1200">
                <a:solidFill>
                  <a:schemeClr val="bg1">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dirty="0"/>
              <a:t>Ejemplos conocidos</a:t>
            </a:r>
          </a:p>
          <a:p>
            <a:pPr lvl="1"/>
            <a:endParaRPr lang="es-ES" dirty="0"/>
          </a:p>
          <a:p>
            <a:pPr lvl="1"/>
            <a:endParaRPr lang="es-ES" dirty="0"/>
          </a:p>
          <a:p>
            <a:pPr lvl="1"/>
            <a:endParaRPr lang="es-ES" dirty="0"/>
          </a:p>
          <a:p>
            <a:pPr marL="0" indent="0">
              <a:buNone/>
            </a:pPr>
            <a:endParaRPr lang="es-ES" dirty="0"/>
          </a:p>
          <a:p>
            <a:pPr lvl="1"/>
            <a:endParaRPr lang="es-ES" dirty="0"/>
          </a:p>
          <a:p>
            <a:pPr lvl="1"/>
            <a:endParaRPr lang="es-ES" dirty="0"/>
          </a:p>
          <a:p>
            <a:pPr lvl="1"/>
            <a:endParaRPr lang="es-ES" dirty="0"/>
          </a:p>
          <a:p>
            <a:endParaRPr lang="es-ES" dirty="0"/>
          </a:p>
          <a:p>
            <a:pPr marL="0" indent="0">
              <a:buFontTx/>
              <a:buNone/>
            </a:pPr>
            <a:endParaRPr lang="es-ES" dirty="0"/>
          </a:p>
        </p:txBody>
      </p:sp>
      <p:graphicFrame>
        <p:nvGraphicFramePr>
          <p:cNvPr id="7" name="Group 31"/>
          <p:cNvGraphicFramePr>
            <a:graphicFrameLocks/>
          </p:cNvGraphicFramePr>
          <p:nvPr>
            <p:extLst>
              <p:ext uri="{D42A27DB-BD31-4B8C-83A1-F6EECF244321}">
                <p14:modId xmlns:p14="http://schemas.microsoft.com/office/powerpoint/2010/main" val="2988741551"/>
              </p:ext>
            </p:extLst>
          </p:nvPr>
        </p:nvGraphicFramePr>
        <p:xfrm>
          <a:off x="1035496" y="2348881"/>
          <a:ext cx="5840760" cy="3642515"/>
        </p:xfrm>
        <a:graphic>
          <a:graphicData uri="http://schemas.openxmlformats.org/drawingml/2006/table">
            <a:tbl>
              <a:tblPr/>
              <a:tblGrid>
                <a:gridCol w="1952328">
                  <a:extLst>
                    <a:ext uri="{9D8B030D-6E8A-4147-A177-3AD203B41FA5}">
                      <a16:colId xmlns:a16="http://schemas.microsoft.com/office/drawing/2014/main" val="20000"/>
                    </a:ext>
                  </a:extLst>
                </a:gridCol>
                <a:gridCol w="3888432">
                  <a:extLst>
                    <a:ext uri="{9D8B030D-6E8A-4147-A177-3AD203B41FA5}">
                      <a16:colId xmlns:a16="http://schemas.microsoft.com/office/drawing/2014/main" val="20001"/>
                    </a:ext>
                  </a:extLst>
                </a:gridCol>
              </a:tblGrid>
              <a:tr h="212100">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s-ES" sz="1400" b="1" i="0" u="none" strike="noStrike" cap="none" normalizeH="0" baseline="0" noProof="0" dirty="0">
                          <a:ln>
                            <a:noFill/>
                          </a:ln>
                          <a:solidFill>
                            <a:srgbClr val="000000"/>
                          </a:solidFill>
                          <a:effectLst/>
                          <a:latin typeface="Calibri" pitchFamily="34" charset="0"/>
                          <a:cs typeface="Times New Roman" pitchFamily="18" charset="0"/>
                        </a:rPr>
                        <a:t>Amenaza</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15000"/>
                        </a:lnSpc>
                        <a:spcBef>
                          <a:spcPct val="0"/>
                        </a:spcBef>
                        <a:spcAft>
                          <a:spcPct val="0"/>
                        </a:spcAft>
                        <a:buClrTx/>
                        <a:buSzTx/>
                        <a:buFontTx/>
                        <a:buNone/>
                        <a:tabLst/>
                      </a:pPr>
                      <a:r>
                        <a:rPr kumimoji="0" lang="es-ES" sz="1400" b="1" i="0" u="none" strike="noStrike" cap="none" normalizeH="0" baseline="0" noProof="0" dirty="0">
                          <a:ln>
                            <a:noFill/>
                          </a:ln>
                          <a:solidFill>
                            <a:srgbClr val="000000"/>
                          </a:solidFill>
                          <a:effectLst/>
                          <a:latin typeface="Calibri" pitchFamily="34" charset="0"/>
                          <a:cs typeface="Times New Roman" pitchFamily="18" charset="0"/>
                        </a:rPr>
                        <a:t>Ejemplos de mitigaciones estándar</a:t>
                      </a:r>
                      <a:endParaRPr kumimoji="0" lang="es-ES" sz="1400" b="1" i="0" u="none" strike="noStrike" cap="none" normalizeH="0" baseline="0" noProof="0" dirty="0">
                        <a:ln>
                          <a:noFill/>
                        </a:ln>
                        <a:solidFill>
                          <a:schemeClr val="tx1"/>
                        </a:solidFill>
                        <a:effectLst/>
                        <a:latin typeface="Calibri" pitchFamily="34" charset="0"/>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61273">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dirty="0">
                          <a:ln>
                            <a:noFill/>
                          </a:ln>
                          <a:solidFill>
                            <a:srgbClr val="000000"/>
                          </a:solidFill>
                          <a:effectLst/>
                          <a:latin typeface="Calibri" pitchFamily="34" charset="0"/>
                          <a:cs typeface="Times New Roman" pitchFamily="18" charset="0"/>
                        </a:rPr>
                        <a:t>Spoofing</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15000"/>
                        </a:lnSpc>
                        <a:spcBef>
                          <a:spcPct val="0"/>
                        </a:spcBef>
                        <a:spcAft>
                          <a:spcPct val="0"/>
                        </a:spcAft>
                        <a:buClrTx/>
                        <a:buSzTx/>
                        <a:buFontTx/>
                        <a:buNone/>
                        <a:tabLst/>
                      </a:pPr>
                      <a:r>
                        <a:rPr kumimoji="0" lang="en-US" sz="1200" b="0" i="0" u="none" strike="noStrike" kern="1200" cap="none" normalizeH="0" baseline="0" dirty="0">
                          <a:ln>
                            <a:noFill/>
                          </a:ln>
                          <a:solidFill>
                            <a:srgbClr val="000000"/>
                          </a:solidFill>
                          <a:effectLst/>
                          <a:latin typeface="Calibri" pitchFamily="34" charset="0"/>
                          <a:ea typeface="+mn-ea"/>
                          <a:cs typeface="Times New Roman" pitchFamily="18" charset="0"/>
                        </a:rPr>
                        <a:t>Windows authentication (NTLM)</a:t>
                      </a:r>
                    </a:p>
                    <a:p>
                      <a:pPr marL="342900" marR="0" lvl="0" indent="-342900" algn="l"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dirty="0">
                          <a:ln>
                            <a:noFill/>
                          </a:ln>
                          <a:solidFill>
                            <a:srgbClr val="000000"/>
                          </a:solidFill>
                          <a:effectLst/>
                          <a:latin typeface="Calibri" pitchFamily="34" charset="0"/>
                          <a:cs typeface="Times New Roman" pitchFamily="18" charset="0"/>
                        </a:rPr>
                        <a:t>Kerberos authentication</a:t>
                      </a:r>
                    </a:p>
                    <a:p>
                      <a:pPr marL="342900" marR="0" lvl="0" indent="-342900" algn="l"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dirty="0">
                          <a:ln>
                            <a:noFill/>
                          </a:ln>
                          <a:solidFill>
                            <a:srgbClr val="000000"/>
                          </a:solidFill>
                          <a:effectLst/>
                          <a:latin typeface="Calibri" pitchFamily="34" charset="0"/>
                          <a:cs typeface="Times New Roman" pitchFamily="18" charset="0"/>
                        </a:rPr>
                        <a:t>Digitally signed packets</a:t>
                      </a:r>
                    </a:p>
                    <a:p>
                      <a:pPr marL="342900" marR="0" lvl="0" indent="-342900" algn="l"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dirty="0">
                          <a:ln>
                            <a:noFill/>
                          </a:ln>
                          <a:solidFill>
                            <a:srgbClr val="000000"/>
                          </a:solidFill>
                          <a:effectLst/>
                          <a:latin typeface="Calibri" pitchFamily="34" charset="0"/>
                          <a:cs typeface="Times New Roman" pitchFamily="18" charset="0"/>
                        </a:rPr>
                        <a:t>Hashes</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8126">
                <a:tc>
                  <a:txBody>
                    <a:bodyPr/>
                    <a:lstStyle/>
                    <a:p>
                      <a:pPr marL="0" marR="0" lvl="0" indent="0" algn="l" defTabSz="914400" rtl="0" eaLnBrk="1" fontAlgn="base" latinLnBrk="0" hangingPunct="1">
                        <a:lnSpc>
                          <a:spcPct val="115000"/>
                        </a:lnSpc>
                        <a:spcBef>
                          <a:spcPts val="1000"/>
                        </a:spcBef>
                        <a:spcAft>
                          <a:spcPct val="0"/>
                        </a:spcAft>
                        <a:buClrTx/>
                        <a:buSzTx/>
                        <a:buFontTx/>
                        <a:buNone/>
                        <a:tabLst/>
                      </a:pPr>
                      <a:r>
                        <a:rPr kumimoji="0" lang="en-US" sz="1200" b="0" i="0" u="none" strike="noStrike" cap="none" normalizeH="0" baseline="0">
                          <a:ln>
                            <a:noFill/>
                          </a:ln>
                          <a:solidFill>
                            <a:srgbClr val="000000"/>
                          </a:solidFill>
                          <a:effectLst/>
                          <a:latin typeface="Calibri" pitchFamily="34" charset="0"/>
                          <a:cs typeface="Times New Roman" pitchFamily="18" charset="0"/>
                        </a:rPr>
                        <a:t>Tampering</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dirty="0">
                          <a:ln>
                            <a:noFill/>
                          </a:ln>
                          <a:solidFill>
                            <a:srgbClr val="000000"/>
                          </a:solidFill>
                          <a:effectLst/>
                          <a:latin typeface="Calibri" pitchFamily="34" charset="0"/>
                          <a:cs typeface="Times New Roman" pitchFamily="18" charset="0"/>
                        </a:rPr>
                        <a:t>ACLs</a:t>
                      </a:r>
                    </a:p>
                    <a:p>
                      <a:pPr marL="342900" marR="0" lvl="0" indent="-342900" algn="l"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dirty="0">
                          <a:ln>
                            <a:noFill/>
                          </a:ln>
                          <a:solidFill>
                            <a:srgbClr val="000000"/>
                          </a:solidFill>
                          <a:effectLst/>
                          <a:latin typeface="Calibri" pitchFamily="34" charset="0"/>
                          <a:cs typeface="Times New Roman" pitchFamily="18" charset="0"/>
                        </a:rPr>
                        <a:t>Digital signatures</a:t>
                      </a:r>
                    </a:p>
                    <a:p>
                      <a:pPr marL="342900" marR="0" lvl="0" indent="-342900" algn="l"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dirty="0">
                          <a:ln>
                            <a:noFill/>
                          </a:ln>
                          <a:solidFill>
                            <a:srgbClr val="000000"/>
                          </a:solidFill>
                          <a:effectLst/>
                          <a:latin typeface="Calibri" pitchFamily="34" charset="0"/>
                          <a:cs typeface="Times New Roman" pitchFamily="18" charset="0"/>
                        </a:rPr>
                        <a:t>Message Authentication Codes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4980">
                <a:tc>
                  <a:txBody>
                    <a:bodyPr/>
                    <a:lstStyle/>
                    <a:p>
                      <a:pPr marL="0" marR="0" lvl="0" indent="0" algn="l" defTabSz="914400" rtl="0" eaLnBrk="1" fontAlgn="base" latinLnBrk="0" hangingPunct="1">
                        <a:lnSpc>
                          <a:spcPct val="115000"/>
                        </a:lnSpc>
                        <a:spcBef>
                          <a:spcPts val="1000"/>
                        </a:spcBef>
                        <a:spcAft>
                          <a:spcPct val="0"/>
                        </a:spcAft>
                        <a:buClrTx/>
                        <a:buSzTx/>
                        <a:buFontTx/>
                        <a:buNone/>
                        <a:tabLst/>
                      </a:pPr>
                      <a:r>
                        <a:rPr kumimoji="0" lang="en-US" sz="1200" b="0" i="0" u="none" strike="noStrike" cap="none" normalizeH="0" baseline="0" dirty="0">
                          <a:ln>
                            <a:noFill/>
                          </a:ln>
                          <a:solidFill>
                            <a:srgbClr val="000000"/>
                          </a:solidFill>
                          <a:effectLst/>
                          <a:latin typeface="Calibri" pitchFamily="34" charset="0"/>
                          <a:cs typeface="Times New Roman" pitchFamily="18" charset="0"/>
                        </a:rPr>
                        <a:t>Repudiation</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15000"/>
                        </a:lnSpc>
                        <a:spcBef>
                          <a:spcPts val="1000"/>
                        </a:spcBef>
                        <a:spcAft>
                          <a:spcPct val="0"/>
                        </a:spcAft>
                        <a:buClrTx/>
                        <a:buSzTx/>
                        <a:buFontTx/>
                        <a:buNone/>
                        <a:tabLst/>
                      </a:pPr>
                      <a:r>
                        <a:rPr kumimoji="0" lang="en-US" sz="1200" b="0" i="0" u="none" strike="noStrike" cap="none" normalizeH="0" baseline="0" dirty="0">
                          <a:ln>
                            <a:noFill/>
                          </a:ln>
                          <a:solidFill>
                            <a:srgbClr val="000000"/>
                          </a:solidFill>
                          <a:effectLst/>
                          <a:latin typeface="Calibri" pitchFamily="34" charset="0"/>
                          <a:cs typeface="Times New Roman" pitchFamily="18" charset="0"/>
                        </a:rPr>
                        <a:t>Strong Authentication</a:t>
                      </a:r>
                    </a:p>
                    <a:p>
                      <a:pPr marL="342900" marR="0" lvl="0" indent="-342900" algn="l"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dirty="0">
                          <a:ln>
                            <a:noFill/>
                          </a:ln>
                          <a:solidFill>
                            <a:srgbClr val="000000"/>
                          </a:solidFill>
                          <a:effectLst/>
                          <a:latin typeface="Calibri" pitchFamily="34" charset="0"/>
                          <a:cs typeface="Times New Roman" pitchFamily="18" charset="0"/>
                        </a:rPr>
                        <a:t>Secure logging and auditing</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4980">
                <a:tc>
                  <a:txBody>
                    <a:bodyPr/>
                    <a:lstStyle/>
                    <a:p>
                      <a:pPr marL="0" marR="0" lvl="0" indent="0" algn="l" defTabSz="914400" rtl="0" eaLnBrk="1" fontAlgn="base" latinLnBrk="0" hangingPunct="1">
                        <a:lnSpc>
                          <a:spcPct val="115000"/>
                        </a:lnSpc>
                        <a:spcBef>
                          <a:spcPts val="1000"/>
                        </a:spcBef>
                        <a:spcAft>
                          <a:spcPct val="0"/>
                        </a:spcAft>
                        <a:buClrTx/>
                        <a:buSzTx/>
                        <a:buFontTx/>
                        <a:buNone/>
                        <a:tabLst/>
                      </a:pPr>
                      <a:r>
                        <a:rPr kumimoji="0" lang="en-US" sz="1200" b="0" i="0" u="none" strike="noStrike" cap="none" normalizeH="0" baseline="0">
                          <a:ln>
                            <a:noFill/>
                          </a:ln>
                          <a:solidFill>
                            <a:srgbClr val="000000"/>
                          </a:solidFill>
                          <a:effectLst/>
                          <a:latin typeface="Calibri" pitchFamily="34" charset="0"/>
                          <a:cs typeface="Times New Roman" pitchFamily="18" charset="0"/>
                        </a:rPr>
                        <a:t>Information Disclosure</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15000"/>
                        </a:lnSpc>
                        <a:spcBef>
                          <a:spcPts val="1000"/>
                        </a:spcBef>
                        <a:spcAft>
                          <a:spcPct val="0"/>
                        </a:spcAft>
                        <a:buClrTx/>
                        <a:buSzTx/>
                        <a:buFontTx/>
                        <a:buNone/>
                        <a:tabLst/>
                      </a:pPr>
                      <a:r>
                        <a:rPr kumimoji="0" lang="en-US" sz="1200" b="0" i="0" u="none" strike="noStrike" cap="none" normalizeH="0" baseline="0" dirty="0">
                          <a:ln>
                            <a:noFill/>
                          </a:ln>
                          <a:solidFill>
                            <a:srgbClr val="000000"/>
                          </a:solidFill>
                          <a:effectLst/>
                          <a:latin typeface="Calibri" pitchFamily="34" charset="0"/>
                          <a:cs typeface="Times New Roman" pitchFamily="18" charset="0"/>
                        </a:rPr>
                        <a:t>Encryption</a:t>
                      </a:r>
                    </a:p>
                    <a:p>
                      <a:pPr marL="342900" marR="0" lvl="0" indent="-342900" algn="l"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dirty="0">
                          <a:ln>
                            <a:noFill/>
                          </a:ln>
                          <a:solidFill>
                            <a:srgbClr val="000000"/>
                          </a:solidFill>
                          <a:effectLst/>
                          <a:latin typeface="Calibri" pitchFamily="34" charset="0"/>
                          <a:cs typeface="Times New Roman" pitchFamily="18" charset="0"/>
                        </a:rPr>
                        <a:t>ACLs</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68126">
                <a:tc>
                  <a:txBody>
                    <a:bodyPr/>
                    <a:lstStyle/>
                    <a:p>
                      <a:pPr marL="0" marR="0" lvl="0" indent="0" algn="l" defTabSz="914400" rtl="0" eaLnBrk="1" fontAlgn="base" latinLnBrk="0" hangingPunct="1">
                        <a:lnSpc>
                          <a:spcPct val="115000"/>
                        </a:lnSpc>
                        <a:spcBef>
                          <a:spcPts val="1000"/>
                        </a:spcBef>
                        <a:spcAft>
                          <a:spcPct val="0"/>
                        </a:spcAft>
                        <a:buClrTx/>
                        <a:buSzTx/>
                        <a:buFontTx/>
                        <a:buNone/>
                        <a:tabLst/>
                      </a:pPr>
                      <a:r>
                        <a:rPr kumimoji="0" lang="en-US" sz="1200" b="0" i="0" u="none" strike="noStrike" cap="none" normalizeH="0" baseline="0">
                          <a:ln>
                            <a:noFill/>
                          </a:ln>
                          <a:solidFill>
                            <a:srgbClr val="000000"/>
                          </a:solidFill>
                          <a:effectLst/>
                          <a:latin typeface="Calibri" pitchFamily="34" charset="0"/>
                          <a:cs typeface="Times New Roman" pitchFamily="18" charset="0"/>
                        </a:rPr>
                        <a:t>Denial of Service</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15000"/>
                        </a:lnSpc>
                        <a:spcBef>
                          <a:spcPts val="1000"/>
                        </a:spcBef>
                        <a:spcAft>
                          <a:spcPct val="0"/>
                        </a:spcAft>
                        <a:buClrTx/>
                        <a:buSzTx/>
                        <a:buFontTx/>
                        <a:buNone/>
                        <a:tabLst/>
                      </a:pPr>
                      <a:r>
                        <a:rPr kumimoji="0" lang="en-US" sz="1200" b="0" i="0" u="none" strike="noStrike" cap="none" normalizeH="0" baseline="0" dirty="0">
                          <a:ln>
                            <a:noFill/>
                          </a:ln>
                          <a:solidFill>
                            <a:srgbClr val="000000"/>
                          </a:solidFill>
                          <a:effectLst/>
                          <a:latin typeface="Calibri" pitchFamily="34" charset="0"/>
                          <a:cs typeface="Times New Roman" pitchFamily="18" charset="0"/>
                        </a:rPr>
                        <a:t>Filtering</a:t>
                      </a:r>
                    </a:p>
                    <a:p>
                      <a:pPr marL="342900" marR="0" lvl="0" indent="-342900" algn="l"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dirty="0">
                          <a:ln>
                            <a:noFill/>
                          </a:ln>
                          <a:solidFill>
                            <a:srgbClr val="000000"/>
                          </a:solidFill>
                          <a:effectLst/>
                          <a:latin typeface="Calibri" pitchFamily="34" charset="0"/>
                          <a:cs typeface="Times New Roman" pitchFamily="18" charset="0"/>
                        </a:rPr>
                        <a:t>Quotas</a:t>
                      </a:r>
                    </a:p>
                    <a:p>
                      <a:pPr marL="342900" marR="0" lvl="0" indent="-342900" algn="l"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dirty="0">
                          <a:ln>
                            <a:noFill/>
                          </a:ln>
                          <a:solidFill>
                            <a:srgbClr val="000000"/>
                          </a:solidFill>
                          <a:effectLst/>
                          <a:latin typeface="Calibri" pitchFamily="34" charset="0"/>
                          <a:cs typeface="Times New Roman" pitchFamily="18" charset="0"/>
                        </a:rPr>
                        <a:t>High availability designs</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2783">
                <a:tc>
                  <a:txBody>
                    <a:bodyPr/>
                    <a:lstStyle/>
                    <a:p>
                      <a:pPr marL="0" marR="0" lvl="0" indent="0" algn="l" defTabSz="914400" rtl="0" eaLnBrk="1" fontAlgn="base" latinLnBrk="0" hangingPunct="1">
                        <a:lnSpc>
                          <a:spcPct val="115000"/>
                        </a:lnSpc>
                        <a:spcBef>
                          <a:spcPts val="1000"/>
                        </a:spcBef>
                        <a:spcAft>
                          <a:spcPct val="0"/>
                        </a:spcAft>
                        <a:buClrTx/>
                        <a:buSzTx/>
                        <a:buFontTx/>
                        <a:buNone/>
                        <a:tabLst/>
                      </a:pPr>
                      <a:r>
                        <a:rPr kumimoji="0" lang="en-US" sz="1200" b="0" i="0" u="none" strike="noStrike" cap="none" normalizeH="0" baseline="0">
                          <a:ln>
                            <a:noFill/>
                          </a:ln>
                          <a:solidFill>
                            <a:srgbClr val="000000"/>
                          </a:solidFill>
                          <a:effectLst/>
                          <a:latin typeface="Calibri" pitchFamily="34" charset="0"/>
                          <a:cs typeface="Times New Roman" pitchFamily="18" charset="0"/>
                        </a:rPr>
                        <a:t>Elevation of Privilege</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dirty="0">
                          <a:ln>
                            <a:noFill/>
                          </a:ln>
                          <a:solidFill>
                            <a:srgbClr val="000000"/>
                          </a:solidFill>
                          <a:effectLst/>
                          <a:latin typeface="Calibri" pitchFamily="34" charset="0"/>
                          <a:cs typeface="Times New Roman" pitchFamily="18" charset="0"/>
                        </a:rPr>
                        <a:t>Group or role membership</a:t>
                      </a:r>
                    </a:p>
                    <a:p>
                      <a:pPr marL="342900" marR="0" lvl="0" indent="-342900" algn="l" defTabSz="914400" rtl="0" eaLnBrk="1" fontAlgn="base" latinLnBrk="0" hangingPunct="1">
                        <a:lnSpc>
                          <a:spcPct val="115000"/>
                        </a:lnSpc>
                        <a:spcBef>
                          <a:spcPct val="0"/>
                        </a:spcBef>
                        <a:spcAft>
                          <a:spcPct val="0"/>
                        </a:spcAft>
                        <a:buClrTx/>
                        <a:buSzTx/>
                        <a:buFontTx/>
                        <a:buNone/>
                        <a:tabLst/>
                      </a:pPr>
                      <a:r>
                        <a:rPr kumimoji="0" lang="en-US" sz="1200" b="0" i="0" u="none" strike="noStrike" cap="none" normalizeH="0" baseline="0" dirty="0">
                          <a:ln>
                            <a:noFill/>
                          </a:ln>
                          <a:solidFill>
                            <a:srgbClr val="000000"/>
                          </a:solidFill>
                          <a:effectLst/>
                          <a:latin typeface="Calibri" pitchFamily="34" charset="0"/>
                          <a:cs typeface="Times New Roman" pitchFamily="18" charset="0"/>
                        </a:rPr>
                        <a:t>Input validation</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1364541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1600200"/>
            <a:ext cx="9223578" cy="4525963"/>
          </a:xfrm>
        </p:spPr>
        <p:txBody>
          <a:bodyPr>
            <a:normAutofit/>
          </a:bodyPr>
          <a:lstStyle/>
          <a:p>
            <a:endParaRPr lang="es-ES" dirty="0"/>
          </a:p>
          <a:p>
            <a:pPr marL="0" indent="0">
              <a:buNone/>
            </a:pPr>
            <a:endParaRPr lang="es-ES" dirty="0"/>
          </a:p>
        </p:txBody>
      </p:sp>
      <p:sp>
        <p:nvSpPr>
          <p:cNvPr id="3" name="2 Título"/>
          <p:cNvSpPr>
            <a:spLocks noGrp="1"/>
          </p:cNvSpPr>
          <p:nvPr>
            <p:ph type="title"/>
          </p:nvPr>
        </p:nvSpPr>
        <p:spPr/>
        <p:txBody>
          <a:bodyPr/>
          <a:lstStyle/>
          <a:p>
            <a:r>
              <a:rPr lang="es-ES" dirty="0"/>
              <a:t>SDL: </a:t>
            </a:r>
            <a:r>
              <a:rPr lang="es-ES" dirty="0" err="1"/>
              <a:t>Threat</a:t>
            </a:r>
            <a:r>
              <a:rPr lang="es-ES" dirty="0"/>
              <a:t> </a:t>
            </a:r>
            <a:r>
              <a:rPr lang="es-ES" dirty="0" err="1"/>
              <a:t>Modeling</a:t>
            </a:r>
            <a:endParaRPr lang="es-ES" dirty="0"/>
          </a:p>
        </p:txBody>
      </p:sp>
      <p:pic>
        <p:nvPicPr>
          <p:cNvPr id="12" name="Picture 2" descr="Page_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20272" y="5877272"/>
            <a:ext cx="2660506" cy="648072"/>
          </a:xfrm>
          <a:prstGeom prst="rect">
            <a:avLst/>
          </a:prstGeom>
          <a:noFill/>
          <a:extLst>
            <a:ext uri="{909E8E84-426E-40DD-AFC4-6F175D3DCCD1}">
              <a14:hiddenFill xmlns:a14="http://schemas.microsoft.com/office/drawing/2010/main">
                <a:solidFill>
                  <a:srgbClr val="FFFFFF"/>
                </a:solidFill>
              </a14:hiddenFill>
            </a:ext>
          </a:extLst>
        </p:spPr>
      </p:pic>
      <p:sp>
        <p:nvSpPr>
          <p:cNvPr id="13" name="Right Brace 18"/>
          <p:cNvSpPr/>
          <p:nvPr/>
        </p:nvSpPr>
        <p:spPr bwMode="auto">
          <a:xfrm rot="5400000">
            <a:off x="7891349" y="6429048"/>
            <a:ext cx="76200" cy="34188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4" name="1 Marcador de contenido"/>
          <p:cNvSpPr txBox="1">
            <a:spLocks/>
          </p:cNvSpPr>
          <p:nvPr/>
        </p:nvSpPr>
        <p:spPr>
          <a:xfrm>
            <a:off x="609600" y="1752600"/>
            <a:ext cx="9223578"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Tx/>
              <a:buBlip>
                <a:blip r:embed="rId4"/>
              </a:buBlip>
              <a:defRPr sz="3200" b="1" kern="1200">
                <a:solidFill>
                  <a:schemeClr val="bg1">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dirty="0"/>
              <a:t>Validación</a:t>
            </a:r>
          </a:p>
          <a:p>
            <a:pPr lvl="1"/>
            <a:r>
              <a:rPr lang="es-ES" dirty="0"/>
              <a:t>Asegurar que el modelo de amenazas refleja con precisión el diseño de la aplicación.</a:t>
            </a:r>
          </a:p>
          <a:p>
            <a:r>
              <a:rPr lang="es-ES" dirty="0"/>
              <a:t>Validar</a:t>
            </a:r>
          </a:p>
          <a:p>
            <a:pPr lvl="1"/>
            <a:r>
              <a:rPr lang="es-ES" dirty="0"/>
              <a:t>El modelo</a:t>
            </a:r>
          </a:p>
          <a:p>
            <a:pPr lvl="1"/>
            <a:r>
              <a:rPr lang="es-ES" dirty="0"/>
              <a:t>La enumeración de amenazas</a:t>
            </a:r>
          </a:p>
          <a:p>
            <a:pPr lvl="1"/>
            <a:r>
              <a:rPr lang="es-ES" dirty="0"/>
              <a:t>Las mitigaciones</a:t>
            </a:r>
          </a:p>
          <a:p>
            <a:pPr lvl="1"/>
            <a:r>
              <a:rPr lang="es-ES" dirty="0"/>
              <a:t>Los supuestos</a:t>
            </a:r>
          </a:p>
          <a:p>
            <a:pPr lvl="1"/>
            <a:endParaRPr lang="es-ES" dirty="0"/>
          </a:p>
          <a:p>
            <a:pPr lvl="1"/>
            <a:endParaRPr lang="es-ES" dirty="0"/>
          </a:p>
          <a:p>
            <a:pPr lvl="1"/>
            <a:endParaRPr lang="es-ES" dirty="0"/>
          </a:p>
          <a:p>
            <a:pPr marL="0" indent="0">
              <a:buNone/>
            </a:pPr>
            <a:endParaRPr lang="es-ES" dirty="0"/>
          </a:p>
          <a:p>
            <a:pPr lvl="1"/>
            <a:endParaRPr lang="es-ES" dirty="0"/>
          </a:p>
          <a:p>
            <a:pPr lvl="1"/>
            <a:endParaRPr lang="es-ES" dirty="0"/>
          </a:p>
          <a:p>
            <a:pPr lvl="1"/>
            <a:endParaRPr lang="es-ES" dirty="0"/>
          </a:p>
          <a:p>
            <a:endParaRPr lang="es-ES" dirty="0"/>
          </a:p>
          <a:p>
            <a:pPr marL="0" indent="0">
              <a:buFontTx/>
              <a:buNone/>
            </a:pPr>
            <a:endParaRPr lang="es-ES" dirty="0"/>
          </a:p>
        </p:txBody>
      </p:sp>
    </p:spTree>
    <p:extLst>
      <p:ext uri="{BB962C8B-B14F-4D97-AF65-F5344CB8AC3E}">
        <p14:creationId xmlns:p14="http://schemas.microsoft.com/office/powerpoint/2010/main" val="2983922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1600200"/>
            <a:ext cx="9223578" cy="4525963"/>
          </a:xfrm>
        </p:spPr>
        <p:txBody>
          <a:bodyPr>
            <a:normAutofit/>
          </a:bodyPr>
          <a:lstStyle/>
          <a:p>
            <a:endParaRPr lang="es-ES" dirty="0"/>
          </a:p>
          <a:p>
            <a:pPr marL="0" indent="0">
              <a:buNone/>
            </a:pPr>
            <a:endParaRPr lang="es-ES" dirty="0"/>
          </a:p>
        </p:txBody>
      </p:sp>
      <p:sp>
        <p:nvSpPr>
          <p:cNvPr id="3" name="2 Título"/>
          <p:cNvSpPr>
            <a:spLocks noGrp="1"/>
          </p:cNvSpPr>
          <p:nvPr>
            <p:ph type="title"/>
          </p:nvPr>
        </p:nvSpPr>
        <p:spPr/>
        <p:txBody>
          <a:bodyPr/>
          <a:lstStyle/>
          <a:p>
            <a:r>
              <a:rPr lang="es-ES" dirty="0"/>
              <a:t>SDL: Implementación</a:t>
            </a:r>
          </a:p>
        </p:txBody>
      </p:sp>
      <p:pic>
        <p:nvPicPr>
          <p:cNvPr id="12" name="Picture 2" descr="Page_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20272" y="5877272"/>
            <a:ext cx="2660506" cy="648072"/>
          </a:xfrm>
          <a:prstGeom prst="rect">
            <a:avLst/>
          </a:prstGeom>
          <a:noFill/>
          <a:extLst>
            <a:ext uri="{909E8E84-426E-40DD-AFC4-6F175D3DCCD1}">
              <a14:hiddenFill xmlns:a14="http://schemas.microsoft.com/office/drawing/2010/main">
                <a:solidFill>
                  <a:srgbClr val="FFFFFF"/>
                </a:solidFill>
              </a14:hiddenFill>
            </a:ext>
          </a:extLst>
        </p:spPr>
      </p:pic>
      <p:sp>
        <p:nvSpPr>
          <p:cNvPr id="13" name="Right Brace 18"/>
          <p:cNvSpPr/>
          <p:nvPr/>
        </p:nvSpPr>
        <p:spPr bwMode="auto">
          <a:xfrm rot="5400000">
            <a:off x="8251389" y="6429048"/>
            <a:ext cx="76200" cy="34188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7" name="1 Marcador de contenido"/>
          <p:cNvSpPr txBox="1">
            <a:spLocks/>
          </p:cNvSpPr>
          <p:nvPr/>
        </p:nvSpPr>
        <p:spPr>
          <a:xfrm>
            <a:off x="609600" y="1752600"/>
            <a:ext cx="9223578"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Tx/>
              <a:buBlip>
                <a:blip r:embed="rId4"/>
              </a:buBlip>
              <a:defRPr sz="3200" b="1" kern="1200">
                <a:solidFill>
                  <a:schemeClr val="bg1">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dirty="0"/>
              <a:t>Usar herramientas aprobadas</a:t>
            </a:r>
          </a:p>
          <a:p>
            <a:pPr lvl="1"/>
            <a:r>
              <a:rPr lang="es-ES" dirty="0"/>
              <a:t>IDE, compiladores, opciones de compilación, librerías, etc...</a:t>
            </a:r>
          </a:p>
          <a:p>
            <a:r>
              <a:rPr lang="es-ES" dirty="0"/>
              <a:t>Prohibir funciones no seguras</a:t>
            </a:r>
          </a:p>
          <a:p>
            <a:pPr lvl="1"/>
            <a:r>
              <a:rPr lang="es-ES" dirty="0"/>
              <a:t>Definir funciones, </a:t>
            </a:r>
            <a:r>
              <a:rPr lang="es-ES" dirty="0" err="1"/>
              <a:t>APIs</a:t>
            </a:r>
            <a:r>
              <a:rPr lang="es-ES" dirty="0"/>
              <a:t>, clases, etc. que no deben usarse</a:t>
            </a:r>
          </a:p>
          <a:p>
            <a:r>
              <a:rPr lang="es-ES" dirty="0"/>
              <a:t>Análisis de código</a:t>
            </a:r>
          </a:p>
          <a:p>
            <a:pPr lvl="1"/>
            <a:r>
              <a:rPr lang="es-ES" dirty="0"/>
              <a:t>Utilizar herramientas de análisis estático de código</a:t>
            </a:r>
          </a:p>
          <a:p>
            <a:pPr lvl="1"/>
            <a:r>
              <a:rPr lang="es-ES" dirty="0"/>
              <a:t>Posibles revisiones manuales</a:t>
            </a:r>
          </a:p>
          <a:p>
            <a:pPr lvl="1"/>
            <a:endParaRPr lang="es-ES" dirty="0"/>
          </a:p>
          <a:p>
            <a:pPr lvl="1"/>
            <a:endParaRPr lang="es-ES" dirty="0"/>
          </a:p>
          <a:p>
            <a:pPr lvl="1"/>
            <a:endParaRPr lang="es-ES" dirty="0"/>
          </a:p>
          <a:p>
            <a:pPr marL="0" indent="0">
              <a:buNone/>
            </a:pPr>
            <a:endParaRPr lang="es-ES" dirty="0"/>
          </a:p>
          <a:p>
            <a:pPr lvl="1"/>
            <a:endParaRPr lang="es-ES" dirty="0"/>
          </a:p>
          <a:p>
            <a:pPr lvl="1"/>
            <a:endParaRPr lang="es-ES" dirty="0"/>
          </a:p>
          <a:p>
            <a:pPr lvl="1"/>
            <a:endParaRPr lang="es-ES" dirty="0"/>
          </a:p>
          <a:p>
            <a:endParaRPr lang="es-ES" dirty="0"/>
          </a:p>
          <a:p>
            <a:pPr marL="0" indent="0">
              <a:buFontTx/>
              <a:buNone/>
            </a:pPr>
            <a:endParaRPr lang="es-ES" dirty="0"/>
          </a:p>
        </p:txBody>
      </p:sp>
    </p:spTree>
    <p:extLst>
      <p:ext uri="{BB962C8B-B14F-4D97-AF65-F5344CB8AC3E}">
        <p14:creationId xmlns:p14="http://schemas.microsoft.com/office/powerpoint/2010/main" val="25884219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1600200"/>
            <a:ext cx="9223578" cy="4525963"/>
          </a:xfrm>
        </p:spPr>
        <p:txBody>
          <a:bodyPr>
            <a:normAutofit/>
          </a:bodyPr>
          <a:lstStyle/>
          <a:p>
            <a:endParaRPr lang="es-ES" dirty="0"/>
          </a:p>
          <a:p>
            <a:pPr marL="0" indent="0">
              <a:buNone/>
            </a:pPr>
            <a:endParaRPr lang="es-ES" dirty="0"/>
          </a:p>
        </p:txBody>
      </p:sp>
      <p:sp>
        <p:nvSpPr>
          <p:cNvPr id="3" name="2 Título"/>
          <p:cNvSpPr>
            <a:spLocks noGrp="1"/>
          </p:cNvSpPr>
          <p:nvPr>
            <p:ph type="title"/>
          </p:nvPr>
        </p:nvSpPr>
        <p:spPr/>
        <p:txBody>
          <a:bodyPr/>
          <a:lstStyle/>
          <a:p>
            <a:r>
              <a:rPr lang="es-ES" dirty="0"/>
              <a:t>SDL: Comprobación</a:t>
            </a:r>
          </a:p>
        </p:txBody>
      </p:sp>
      <p:pic>
        <p:nvPicPr>
          <p:cNvPr id="12" name="Picture 2" descr="Page_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20272" y="5877272"/>
            <a:ext cx="2660506" cy="648072"/>
          </a:xfrm>
          <a:prstGeom prst="rect">
            <a:avLst/>
          </a:prstGeom>
          <a:noFill/>
          <a:extLst>
            <a:ext uri="{909E8E84-426E-40DD-AFC4-6F175D3DCCD1}">
              <a14:hiddenFill xmlns:a14="http://schemas.microsoft.com/office/drawing/2010/main">
                <a:solidFill>
                  <a:srgbClr val="FFFFFF"/>
                </a:solidFill>
              </a14:hiddenFill>
            </a:ext>
          </a:extLst>
        </p:spPr>
      </p:pic>
      <p:sp>
        <p:nvSpPr>
          <p:cNvPr id="13" name="Right Brace 18"/>
          <p:cNvSpPr/>
          <p:nvPr/>
        </p:nvSpPr>
        <p:spPr bwMode="auto">
          <a:xfrm rot="5400000">
            <a:off x="8665283" y="6429048"/>
            <a:ext cx="76200" cy="34188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8" name="1 Marcador de contenido"/>
          <p:cNvSpPr txBox="1">
            <a:spLocks/>
          </p:cNvSpPr>
          <p:nvPr/>
        </p:nvSpPr>
        <p:spPr>
          <a:xfrm>
            <a:off x="609600" y="1752600"/>
            <a:ext cx="9223578"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Tx/>
              <a:buBlip>
                <a:blip r:embed="rId4"/>
              </a:buBlip>
              <a:defRPr sz="3200" b="1" kern="1200">
                <a:solidFill>
                  <a:schemeClr val="bg1">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dirty="0"/>
              <a:t>Revisar modelo de riesgos</a:t>
            </a:r>
          </a:p>
          <a:p>
            <a:r>
              <a:rPr lang="es-ES" dirty="0"/>
              <a:t>Análisis dinámico de aplicación</a:t>
            </a:r>
          </a:p>
          <a:p>
            <a:pPr lvl="1"/>
            <a:r>
              <a:rPr lang="es-ES" dirty="0"/>
              <a:t>Uso de pruebas mediante datos aleatorios (</a:t>
            </a:r>
            <a:r>
              <a:rPr lang="es-ES" dirty="0" err="1"/>
              <a:t>fuzzing</a:t>
            </a:r>
            <a:r>
              <a:rPr lang="es-ES" dirty="0"/>
              <a:t>)</a:t>
            </a:r>
          </a:p>
          <a:p>
            <a:r>
              <a:rPr lang="es-ES" dirty="0" err="1"/>
              <a:t>Tests</a:t>
            </a:r>
            <a:r>
              <a:rPr lang="es-ES" dirty="0"/>
              <a:t> de penetración</a:t>
            </a:r>
          </a:p>
          <a:p>
            <a:r>
              <a:rPr lang="es-ES" dirty="0"/>
              <a:t>Análisis de binarios (</a:t>
            </a:r>
            <a:r>
              <a:rPr lang="es-ES" dirty="0" err="1"/>
              <a:t>desofuscación</a:t>
            </a:r>
            <a:r>
              <a:rPr lang="es-ES" dirty="0"/>
              <a:t>/</a:t>
            </a:r>
            <a:r>
              <a:rPr lang="es-ES" dirty="0" err="1"/>
              <a:t>decompilacion</a:t>
            </a:r>
            <a:r>
              <a:rPr lang="es-ES" dirty="0"/>
              <a:t>)</a:t>
            </a:r>
          </a:p>
          <a:p>
            <a:r>
              <a:rPr lang="es-ES" dirty="0"/>
              <a:t>Revisión de código</a:t>
            </a:r>
          </a:p>
          <a:p>
            <a:pPr lvl="1"/>
            <a:endParaRPr lang="es-ES" dirty="0"/>
          </a:p>
          <a:p>
            <a:pPr lvl="1"/>
            <a:endParaRPr lang="es-ES" dirty="0"/>
          </a:p>
          <a:p>
            <a:pPr lvl="1"/>
            <a:endParaRPr lang="es-ES" dirty="0"/>
          </a:p>
          <a:p>
            <a:pPr marL="0" indent="0">
              <a:buNone/>
            </a:pPr>
            <a:endParaRPr lang="es-ES" dirty="0"/>
          </a:p>
          <a:p>
            <a:pPr lvl="1"/>
            <a:endParaRPr lang="es-ES" dirty="0"/>
          </a:p>
          <a:p>
            <a:pPr lvl="1"/>
            <a:endParaRPr lang="es-ES" dirty="0"/>
          </a:p>
          <a:p>
            <a:pPr lvl="1"/>
            <a:endParaRPr lang="es-ES" dirty="0"/>
          </a:p>
          <a:p>
            <a:endParaRPr lang="es-ES" dirty="0"/>
          </a:p>
          <a:p>
            <a:pPr marL="0" indent="0">
              <a:buFontTx/>
              <a:buNone/>
            </a:pPr>
            <a:endParaRPr lang="es-ES" dirty="0"/>
          </a:p>
        </p:txBody>
      </p:sp>
    </p:spTree>
    <p:extLst>
      <p:ext uri="{BB962C8B-B14F-4D97-AF65-F5344CB8AC3E}">
        <p14:creationId xmlns:p14="http://schemas.microsoft.com/office/powerpoint/2010/main" val="25318919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1600200"/>
            <a:ext cx="9223578" cy="4525963"/>
          </a:xfrm>
        </p:spPr>
        <p:txBody>
          <a:bodyPr>
            <a:normAutofit/>
          </a:bodyPr>
          <a:lstStyle/>
          <a:p>
            <a:endParaRPr lang="es-ES" dirty="0"/>
          </a:p>
          <a:p>
            <a:pPr marL="0" indent="0">
              <a:buNone/>
            </a:pPr>
            <a:endParaRPr lang="es-ES" dirty="0"/>
          </a:p>
        </p:txBody>
      </p:sp>
      <p:sp>
        <p:nvSpPr>
          <p:cNvPr id="3" name="2 Título"/>
          <p:cNvSpPr>
            <a:spLocks noGrp="1"/>
          </p:cNvSpPr>
          <p:nvPr>
            <p:ph type="title"/>
          </p:nvPr>
        </p:nvSpPr>
        <p:spPr/>
        <p:txBody>
          <a:bodyPr/>
          <a:lstStyle/>
          <a:p>
            <a:r>
              <a:rPr lang="es-ES" dirty="0"/>
              <a:t>SDL: Lanzamiento</a:t>
            </a:r>
          </a:p>
        </p:txBody>
      </p:sp>
      <p:pic>
        <p:nvPicPr>
          <p:cNvPr id="12" name="Picture 2" descr="Page_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20272" y="5877272"/>
            <a:ext cx="2660506" cy="648072"/>
          </a:xfrm>
          <a:prstGeom prst="rect">
            <a:avLst/>
          </a:prstGeom>
          <a:noFill/>
          <a:extLst>
            <a:ext uri="{909E8E84-426E-40DD-AFC4-6F175D3DCCD1}">
              <a14:hiddenFill xmlns:a14="http://schemas.microsoft.com/office/drawing/2010/main">
                <a:solidFill>
                  <a:srgbClr val="FFFFFF"/>
                </a:solidFill>
              </a14:hiddenFill>
            </a:ext>
          </a:extLst>
        </p:spPr>
      </p:pic>
      <p:sp>
        <p:nvSpPr>
          <p:cNvPr id="13" name="Right Brace 18"/>
          <p:cNvSpPr/>
          <p:nvPr/>
        </p:nvSpPr>
        <p:spPr bwMode="auto">
          <a:xfrm rot="5400000">
            <a:off x="9214418" y="6239953"/>
            <a:ext cx="76202" cy="72008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8" name="1 Marcador de contenido"/>
          <p:cNvSpPr txBox="1">
            <a:spLocks/>
          </p:cNvSpPr>
          <p:nvPr/>
        </p:nvSpPr>
        <p:spPr>
          <a:xfrm>
            <a:off x="609600" y="1752600"/>
            <a:ext cx="9223578" cy="4525963"/>
          </a:xfrm>
          <a:prstGeom prst="rect">
            <a:avLst/>
          </a:prstGeom>
        </p:spPr>
        <p:txBody>
          <a:bodyPr vert="horz" lIns="91440" tIns="45720" rIns="91440" bIns="45720" rtlCol="0">
            <a:normAutofit fontScale="77500" lnSpcReduction="20000"/>
          </a:bodyPr>
          <a:lstStyle>
            <a:lvl1pPr marL="342900" indent="-342900" algn="l" defTabSz="914400" rtl="0" eaLnBrk="1" latinLnBrk="0" hangingPunct="1">
              <a:spcBef>
                <a:spcPct val="20000"/>
              </a:spcBef>
              <a:buFontTx/>
              <a:buBlip>
                <a:blip r:embed="rId4"/>
              </a:buBlip>
              <a:defRPr sz="3200" b="1" kern="1200">
                <a:solidFill>
                  <a:schemeClr val="bg1">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dirty="0"/>
              <a:t>Plan de respuesta frente a incidentes</a:t>
            </a:r>
          </a:p>
          <a:p>
            <a:pPr lvl="1"/>
            <a:r>
              <a:rPr lang="es-ES" dirty="0"/>
              <a:t>Equipo identificado</a:t>
            </a:r>
          </a:p>
          <a:p>
            <a:pPr lvl="1"/>
            <a:r>
              <a:rPr lang="es-ES" dirty="0"/>
              <a:t>Contacto para la toma de decisiones</a:t>
            </a:r>
          </a:p>
          <a:p>
            <a:pPr lvl="1"/>
            <a:r>
              <a:rPr lang="es-ES" dirty="0"/>
              <a:t>Planes de servicio de seguridad para código heredado o de terceros</a:t>
            </a:r>
          </a:p>
          <a:p>
            <a:r>
              <a:rPr lang="es-ES" dirty="0"/>
              <a:t>Revisión final de seguridad</a:t>
            </a:r>
          </a:p>
          <a:p>
            <a:pPr lvl="1"/>
            <a:r>
              <a:rPr lang="es-ES" dirty="0"/>
              <a:t>Revisar todas las actividades de seguridad realizadas, con tres posibles resultados:</a:t>
            </a:r>
          </a:p>
          <a:p>
            <a:pPr lvl="2"/>
            <a:r>
              <a:rPr lang="es-ES" dirty="0"/>
              <a:t>Revisión de seguridad final superada</a:t>
            </a:r>
          </a:p>
          <a:p>
            <a:pPr lvl="2"/>
            <a:r>
              <a:rPr lang="es-ES" dirty="0"/>
              <a:t>Revisión de seguridad final superada con excepciones</a:t>
            </a:r>
          </a:p>
          <a:p>
            <a:pPr lvl="2"/>
            <a:r>
              <a:rPr lang="es-ES" dirty="0"/>
              <a:t>Revisión de seguridad final con remisión a una instancia superior.</a:t>
            </a:r>
          </a:p>
          <a:p>
            <a:r>
              <a:rPr lang="es-ES" dirty="0"/>
              <a:t>Archivado</a:t>
            </a:r>
          </a:p>
          <a:p>
            <a:pPr lvl="1"/>
            <a:r>
              <a:rPr lang="es-ES" dirty="0"/>
              <a:t>Especificaciones, código fuente, binarios, modelos de riesgo, documentación, planes de respuesta, términos de licencia, etc.</a:t>
            </a:r>
          </a:p>
          <a:p>
            <a:pPr lvl="1"/>
            <a:endParaRPr lang="es-ES" dirty="0"/>
          </a:p>
          <a:p>
            <a:pPr lvl="1"/>
            <a:endParaRPr lang="es-ES" dirty="0"/>
          </a:p>
          <a:p>
            <a:pPr lvl="1"/>
            <a:endParaRPr lang="es-ES" dirty="0"/>
          </a:p>
          <a:p>
            <a:pPr marL="0" indent="0">
              <a:buNone/>
            </a:pPr>
            <a:endParaRPr lang="es-ES" dirty="0"/>
          </a:p>
          <a:p>
            <a:pPr lvl="1"/>
            <a:endParaRPr lang="es-ES" dirty="0"/>
          </a:p>
          <a:p>
            <a:pPr lvl="1"/>
            <a:endParaRPr lang="es-ES" dirty="0"/>
          </a:p>
          <a:p>
            <a:pPr lvl="1"/>
            <a:endParaRPr lang="es-ES" dirty="0"/>
          </a:p>
          <a:p>
            <a:endParaRPr lang="es-ES" dirty="0"/>
          </a:p>
          <a:p>
            <a:pPr marL="0" indent="0">
              <a:buFontTx/>
              <a:buNone/>
            </a:pPr>
            <a:endParaRPr lang="es-ES" dirty="0"/>
          </a:p>
        </p:txBody>
      </p:sp>
    </p:spTree>
    <p:extLst>
      <p:ext uri="{BB962C8B-B14F-4D97-AF65-F5344CB8AC3E}">
        <p14:creationId xmlns:p14="http://schemas.microsoft.com/office/powerpoint/2010/main" val="28651224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1600200"/>
            <a:ext cx="9223578" cy="4525963"/>
          </a:xfrm>
        </p:spPr>
        <p:txBody>
          <a:bodyPr>
            <a:normAutofit/>
          </a:bodyPr>
          <a:lstStyle/>
          <a:p>
            <a:endParaRPr lang="es-ES" dirty="0"/>
          </a:p>
          <a:p>
            <a:pPr marL="0" indent="0">
              <a:buNone/>
            </a:pPr>
            <a:endParaRPr lang="es-ES" dirty="0"/>
          </a:p>
        </p:txBody>
      </p:sp>
      <p:sp>
        <p:nvSpPr>
          <p:cNvPr id="3" name="2 Título"/>
          <p:cNvSpPr>
            <a:spLocks noGrp="1"/>
          </p:cNvSpPr>
          <p:nvPr>
            <p:ph type="title"/>
          </p:nvPr>
        </p:nvSpPr>
        <p:spPr/>
        <p:txBody>
          <a:bodyPr/>
          <a:lstStyle/>
          <a:p>
            <a:r>
              <a:rPr lang="es-ES" dirty="0"/>
              <a:t>SDL: Actividades</a:t>
            </a:r>
          </a:p>
        </p:txBody>
      </p:sp>
      <p:pic>
        <p:nvPicPr>
          <p:cNvPr id="12" name="Picture 2" descr="Page_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20272" y="5877272"/>
            <a:ext cx="2660506" cy="648072"/>
          </a:xfrm>
          <a:prstGeom prst="rect">
            <a:avLst/>
          </a:prstGeom>
          <a:noFill/>
          <a:extLst>
            <a:ext uri="{909E8E84-426E-40DD-AFC4-6F175D3DCCD1}">
              <a14:hiddenFill xmlns:a14="http://schemas.microsoft.com/office/drawing/2010/main">
                <a:solidFill>
                  <a:srgbClr val="FFFFFF"/>
                </a:solidFill>
              </a14:hiddenFill>
            </a:ext>
          </a:extLst>
        </p:spPr>
      </p:pic>
      <p:sp>
        <p:nvSpPr>
          <p:cNvPr id="13" name="Right Brace 18"/>
          <p:cNvSpPr/>
          <p:nvPr/>
        </p:nvSpPr>
        <p:spPr bwMode="auto">
          <a:xfrm rot="5400000">
            <a:off x="8278314" y="5303850"/>
            <a:ext cx="76204" cy="259228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graphicFrame>
        <p:nvGraphicFramePr>
          <p:cNvPr id="5" name="4 Objeto"/>
          <p:cNvGraphicFramePr>
            <a:graphicFrameLocks noChangeAspect="1"/>
          </p:cNvGraphicFramePr>
          <p:nvPr>
            <p:extLst>
              <p:ext uri="{D42A27DB-BD31-4B8C-83A1-F6EECF244321}">
                <p14:modId xmlns:p14="http://schemas.microsoft.com/office/powerpoint/2010/main" val="833935867"/>
              </p:ext>
            </p:extLst>
          </p:nvPr>
        </p:nvGraphicFramePr>
        <p:xfrm>
          <a:off x="899592" y="1484784"/>
          <a:ext cx="8134350" cy="4305300"/>
        </p:xfrm>
        <a:graphic>
          <a:graphicData uri="http://schemas.openxmlformats.org/presentationml/2006/ole">
            <mc:AlternateContent xmlns:mc="http://schemas.openxmlformats.org/markup-compatibility/2006">
              <mc:Choice xmlns:v="urn:schemas-microsoft-com:vml" Requires="v">
                <p:oleObj spid="_x0000_s21516" name="Visio" r:id="rId5" imgW="9875520" imgH="5222443" progId="Visio.Drawing.11">
                  <p:embed/>
                </p:oleObj>
              </mc:Choice>
              <mc:Fallback>
                <p:oleObj name="Visio" r:id="rId5" imgW="9875520" imgH="5222443" progId="Visio.Drawing.11">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9592" y="1484784"/>
                        <a:ext cx="8134350" cy="430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674143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1600200"/>
            <a:ext cx="9223578" cy="4525963"/>
          </a:xfrm>
        </p:spPr>
        <p:txBody>
          <a:bodyPr>
            <a:normAutofit/>
          </a:bodyPr>
          <a:lstStyle/>
          <a:p>
            <a:endParaRPr lang="es-ES" dirty="0"/>
          </a:p>
          <a:p>
            <a:pPr marL="0" indent="0">
              <a:buNone/>
            </a:pPr>
            <a:endParaRPr lang="es-ES" dirty="0"/>
          </a:p>
        </p:txBody>
      </p:sp>
      <p:sp>
        <p:nvSpPr>
          <p:cNvPr id="3" name="2 Título"/>
          <p:cNvSpPr>
            <a:spLocks noGrp="1"/>
          </p:cNvSpPr>
          <p:nvPr>
            <p:ph type="title"/>
          </p:nvPr>
        </p:nvSpPr>
        <p:spPr/>
        <p:txBody>
          <a:bodyPr/>
          <a:lstStyle/>
          <a:p>
            <a:r>
              <a:rPr lang="es-ES" dirty="0"/>
              <a:t>SDL: Proceso ágil</a:t>
            </a:r>
          </a:p>
        </p:txBody>
      </p:sp>
      <p:sp>
        <p:nvSpPr>
          <p:cNvPr id="7" name="1 Marcador de contenido"/>
          <p:cNvSpPr txBox="1">
            <a:spLocks/>
          </p:cNvSpPr>
          <p:nvPr/>
        </p:nvSpPr>
        <p:spPr>
          <a:xfrm>
            <a:off x="609600" y="1752600"/>
            <a:ext cx="9223578"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Tx/>
              <a:buBlip>
                <a:blip r:embed="rId3"/>
              </a:buBlip>
              <a:defRPr sz="3200" b="1" kern="1200">
                <a:solidFill>
                  <a:schemeClr val="bg1">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sz="2000" dirty="0"/>
              <a:t>En 2008 Microsoft presenta una versión de SDL para el proceso de desarrollo ágil.</a:t>
            </a:r>
          </a:p>
          <a:p>
            <a:r>
              <a:rPr lang="es-ES" sz="2000" dirty="0"/>
              <a:t>El enfoque SDL clásico tiene un enfoque gradual que se adapta a desarrollo en cascada o espiral, pero el desarrollo ágil no tiene “fases”.</a:t>
            </a:r>
          </a:p>
          <a:p>
            <a:r>
              <a:rPr lang="es-ES" sz="2000" dirty="0"/>
              <a:t>Visión general de </a:t>
            </a:r>
            <a:r>
              <a:rPr lang="es-ES" sz="2000" dirty="0" err="1"/>
              <a:t>Scrum</a:t>
            </a:r>
            <a:r>
              <a:rPr lang="es-ES" sz="2000" dirty="0"/>
              <a:t>:</a:t>
            </a:r>
          </a:p>
          <a:p>
            <a:endParaRPr lang="es-ES" sz="2000" dirty="0"/>
          </a:p>
          <a:p>
            <a:pPr lvl="1"/>
            <a:endParaRPr lang="es-ES" sz="1800" dirty="0"/>
          </a:p>
          <a:p>
            <a:pPr lvl="1"/>
            <a:endParaRPr lang="es-ES" sz="1800" dirty="0"/>
          </a:p>
          <a:p>
            <a:pPr lvl="1"/>
            <a:endParaRPr lang="es-ES" sz="1800" dirty="0"/>
          </a:p>
          <a:p>
            <a:pPr marL="0" indent="0">
              <a:buNone/>
            </a:pPr>
            <a:endParaRPr lang="es-ES" sz="2000" dirty="0"/>
          </a:p>
          <a:p>
            <a:pPr lvl="1"/>
            <a:endParaRPr lang="es-ES" sz="1800" dirty="0"/>
          </a:p>
          <a:p>
            <a:pPr lvl="1"/>
            <a:endParaRPr lang="es-ES" sz="1800" dirty="0"/>
          </a:p>
          <a:p>
            <a:pPr lvl="1"/>
            <a:endParaRPr lang="es-ES" sz="1800" dirty="0"/>
          </a:p>
          <a:p>
            <a:endParaRPr lang="es-ES" sz="2000" dirty="0"/>
          </a:p>
          <a:p>
            <a:pPr marL="0" indent="0">
              <a:buFontTx/>
              <a:buNone/>
            </a:pPr>
            <a:endParaRPr lang="es-ES" sz="2000" dirty="0"/>
          </a:p>
        </p:txBody>
      </p:sp>
      <p:pic>
        <p:nvPicPr>
          <p:cNvPr id="23555" name="Picture 3"/>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1619672" y="3212976"/>
            <a:ext cx="6809209" cy="30703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29076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p:txBody>
          <a:bodyPr/>
          <a:lstStyle/>
          <a:p>
            <a:r>
              <a:rPr lang="es-ES" dirty="0"/>
              <a:t>Aplicar SDL sobre el </a:t>
            </a:r>
            <a:r>
              <a:rPr lang="es-ES" dirty="0" err="1"/>
              <a:t>backlog</a:t>
            </a:r>
            <a:r>
              <a:rPr lang="es-ES" dirty="0"/>
              <a:t> de producto</a:t>
            </a:r>
          </a:p>
          <a:p>
            <a:pPr lvl="2"/>
            <a:r>
              <a:rPr lang="es-ES" dirty="0"/>
              <a:t>Muy ágil</a:t>
            </a:r>
          </a:p>
          <a:p>
            <a:pPr lvl="2"/>
            <a:r>
              <a:rPr lang="es-ES" dirty="0"/>
              <a:t>Poco seguro</a:t>
            </a:r>
          </a:p>
          <a:p>
            <a:pPr lvl="2"/>
            <a:endParaRPr lang="es-ES" dirty="0"/>
          </a:p>
        </p:txBody>
      </p:sp>
      <p:sp>
        <p:nvSpPr>
          <p:cNvPr id="3" name="2 Título"/>
          <p:cNvSpPr>
            <a:spLocks noGrp="1"/>
          </p:cNvSpPr>
          <p:nvPr>
            <p:ph type="title"/>
          </p:nvPr>
        </p:nvSpPr>
        <p:spPr/>
        <p:txBody>
          <a:bodyPr/>
          <a:lstStyle/>
          <a:p>
            <a:r>
              <a:rPr lang="es-ES" dirty="0"/>
              <a:t>SDL: Proceso ágil</a:t>
            </a:r>
          </a:p>
        </p:txBody>
      </p:sp>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3285289"/>
            <a:ext cx="5203329" cy="28369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337104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p:txBody>
          <a:bodyPr/>
          <a:lstStyle/>
          <a:p>
            <a:r>
              <a:rPr lang="es-ES" dirty="0"/>
              <a:t>Aplicar SDL sobre el Sprint/iteración</a:t>
            </a:r>
          </a:p>
          <a:p>
            <a:pPr lvl="2"/>
            <a:r>
              <a:rPr lang="es-ES" dirty="0"/>
              <a:t>Muy seguro</a:t>
            </a:r>
          </a:p>
          <a:p>
            <a:pPr lvl="2"/>
            <a:r>
              <a:rPr lang="es-ES" dirty="0"/>
              <a:t>Poco ágil</a:t>
            </a:r>
          </a:p>
          <a:p>
            <a:pPr lvl="2"/>
            <a:endParaRPr lang="es-ES" dirty="0"/>
          </a:p>
        </p:txBody>
      </p:sp>
      <p:sp>
        <p:nvSpPr>
          <p:cNvPr id="3" name="2 Título"/>
          <p:cNvSpPr>
            <a:spLocks noGrp="1"/>
          </p:cNvSpPr>
          <p:nvPr>
            <p:ph type="title"/>
          </p:nvPr>
        </p:nvSpPr>
        <p:spPr/>
        <p:txBody>
          <a:bodyPr/>
          <a:lstStyle/>
          <a:p>
            <a:r>
              <a:rPr lang="es-ES" dirty="0"/>
              <a:t>SDL: Proceso ágil</a:t>
            </a:r>
          </a:p>
        </p:txBody>
      </p:sp>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8536" y="3173473"/>
            <a:ext cx="4298057" cy="29198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102855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0"/>
          <p:cNvPicPr>
            <a:picLocks noChangeAspect="1" noChangeArrowheads="1"/>
          </p:cNvPicPr>
          <p:nvPr/>
        </p:nvPicPr>
        <p:blipFill>
          <a:blip r:embed="rId3">
            <a:extLst/>
          </a:blip>
          <a:srcRect/>
          <a:stretch>
            <a:fillRect/>
          </a:stretch>
        </p:blipFill>
        <p:spPr bwMode="auto">
          <a:xfrm>
            <a:off x="446087" y="2552700"/>
            <a:ext cx="8164513" cy="1828800"/>
          </a:xfrm>
          <a:prstGeom prst="rect">
            <a:avLst/>
          </a:prstGeom>
          <a:extLst/>
        </p:spPr>
      </p:pic>
      <p:sp>
        <p:nvSpPr>
          <p:cNvPr id="10" name="2 Título"/>
          <p:cNvSpPr txBox="1">
            <a:spLocks/>
          </p:cNvSpPr>
          <p:nvPr/>
        </p:nvSpPr>
        <p:spPr>
          <a:xfrm>
            <a:off x="457200" y="274638"/>
            <a:ext cx="8229600" cy="1143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800" b="1" kern="1200">
                <a:solidFill>
                  <a:schemeClr val="bg1">
                    <a:lumMod val="50000"/>
                  </a:schemeClr>
                </a:solidFill>
                <a:effectLst/>
                <a:latin typeface="Arial Black" pitchFamily="34" charset="0"/>
                <a:ea typeface="+mj-ea"/>
                <a:cs typeface="+mj-cs"/>
              </a:defRPr>
            </a:lvl1pPr>
          </a:lstStyle>
          <a:p>
            <a:r>
              <a:rPr lang="es-ES" dirty="0"/>
              <a:t>SDL: Proceso ágil</a:t>
            </a:r>
          </a:p>
        </p:txBody>
      </p:sp>
    </p:spTree>
    <p:extLst>
      <p:ext uri="{BB962C8B-B14F-4D97-AF65-F5344CB8AC3E}">
        <p14:creationId xmlns:p14="http://schemas.microsoft.com/office/powerpoint/2010/main" val="8751762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blip>
          <a:stretch>
            <a:fillRect/>
          </a:stretch>
        </p:blipFill>
        <p:spPr>
          <a:xfrm>
            <a:off x="2391511" y="1337172"/>
            <a:ext cx="4431323" cy="4505856"/>
          </a:xfrm>
          <a:prstGeom prst="rect">
            <a:avLst/>
          </a:prstGeom>
        </p:spPr>
      </p:pic>
      <p:sp>
        <p:nvSpPr>
          <p:cNvPr id="10" name="2 Título"/>
          <p:cNvSpPr txBox="1">
            <a:spLocks/>
          </p:cNvSpPr>
          <p:nvPr/>
        </p:nvSpPr>
        <p:spPr>
          <a:xfrm>
            <a:off x="457200" y="274638"/>
            <a:ext cx="8229600" cy="1143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800" b="1" kern="1200">
                <a:solidFill>
                  <a:schemeClr val="bg1">
                    <a:lumMod val="50000"/>
                  </a:schemeClr>
                </a:solidFill>
                <a:effectLst/>
                <a:latin typeface="Arial Black" pitchFamily="34" charset="0"/>
                <a:ea typeface="+mj-ea"/>
                <a:cs typeface="+mj-cs"/>
              </a:defRPr>
            </a:lvl1pPr>
          </a:lstStyle>
          <a:p>
            <a:r>
              <a:rPr lang="es-ES" dirty="0"/>
              <a:t>SDL: Proceso ágil</a:t>
            </a:r>
          </a:p>
        </p:txBody>
      </p:sp>
    </p:spTree>
    <p:extLst>
      <p:ext uri="{BB962C8B-B14F-4D97-AF65-F5344CB8AC3E}">
        <p14:creationId xmlns:p14="http://schemas.microsoft.com/office/powerpoint/2010/main" val="4108369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1600200"/>
            <a:ext cx="9223578" cy="4525963"/>
          </a:xfrm>
        </p:spPr>
        <p:txBody>
          <a:bodyPr>
            <a:normAutofit/>
          </a:bodyPr>
          <a:lstStyle/>
          <a:p>
            <a:endParaRPr lang="es-ES" dirty="0"/>
          </a:p>
          <a:p>
            <a:pPr marL="0" indent="0">
              <a:buNone/>
            </a:pPr>
            <a:endParaRPr lang="es-ES" dirty="0"/>
          </a:p>
        </p:txBody>
      </p:sp>
      <p:sp>
        <p:nvSpPr>
          <p:cNvPr id="3" name="2 Título"/>
          <p:cNvSpPr>
            <a:spLocks noGrp="1"/>
          </p:cNvSpPr>
          <p:nvPr>
            <p:ph type="title"/>
          </p:nvPr>
        </p:nvSpPr>
        <p:spPr/>
        <p:txBody>
          <a:bodyPr/>
          <a:lstStyle/>
          <a:p>
            <a:r>
              <a:rPr lang="es-ES" dirty="0"/>
              <a:t>SDL: Proceso ágil</a:t>
            </a:r>
          </a:p>
        </p:txBody>
      </p:sp>
      <p:graphicFrame>
        <p:nvGraphicFramePr>
          <p:cNvPr id="9" name="Content Placeholder 3"/>
          <p:cNvGraphicFramePr>
            <a:graphicFrameLocks/>
          </p:cNvGraphicFramePr>
          <p:nvPr>
            <p:extLst/>
          </p:nvPr>
        </p:nvGraphicFramePr>
        <p:xfrm>
          <a:off x="457200" y="1600200"/>
          <a:ext cx="7467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588892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1600200"/>
            <a:ext cx="9223578" cy="4525963"/>
          </a:xfrm>
        </p:spPr>
        <p:txBody>
          <a:bodyPr>
            <a:normAutofit/>
          </a:bodyPr>
          <a:lstStyle/>
          <a:p>
            <a:endParaRPr lang="es-ES" dirty="0"/>
          </a:p>
          <a:p>
            <a:pPr marL="0" indent="0">
              <a:buNone/>
            </a:pPr>
            <a:endParaRPr lang="es-ES" dirty="0"/>
          </a:p>
        </p:txBody>
      </p:sp>
      <p:sp>
        <p:nvSpPr>
          <p:cNvPr id="3" name="2 Título"/>
          <p:cNvSpPr>
            <a:spLocks noGrp="1"/>
          </p:cNvSpPr>
          <p:nvPr>
            <p:ph type="title"/>
          </p:nvPr>
        </p:nvSpPr>
        <p:spPr/>
        <p:txBody>
          <a:bodyPr/>
          <a:lstStyle/>
          <a:p>
            <a:r>
              <a:rPr lang="es-ES" dirty="0"/>
              <a:t>SDL: Proceso ágil</a:t>
            </a:r>
          </a:p>
        </p:txBody>
      </p:sp>
      <p:sp>
        <p:nvSpPr>
          <p:cNvPr id="7" name="1 Marcador de contenido"/>
          <p:cNvSpPr txBox="1">
            <a:spLocks/>
          </p:cNvSpPr>
          <p:nvPr/>
        </p:nvSpPr>
        <p:spPr>
          <a:xfrm>
            <a:off x="609600" y="1752600"/>
            <a:ext cx="9223578"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Tx/>
              <a:buBlip>
                <a:blip r:embed="rId3"/>
              </a:buBlip>
              <a:defRPr sz="3200" b="1" kern="1200">
                <a:solidFill>
                  <a:schemeClr val="bg1">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dirty="0"/>
              <a:t>Requisitos por cada Sprint</a:t>
            </a:r>
          </a:p>
          <a:p>
            <a:pPr lvl="1"/>
            <a:r>
              <a:rPr lang="es-ES" dirty="0"/>
              <a:t>Ejecución diaria o por </a:t>
            </a:r>
            <a:r>
              <a:rPr lang="es-ES" dirty="0" err="1"/>
              <a:t>build</a:t>
            </a:r>
            <a:r>
              <a:rPr lang="es-ES" dirty="0"/>
              <a:t> de herramientas de análisis estático de código.</a:t>
            </a:r>
          </a:p>
          <a:p>
            <a:pPr lvl="1"/>
            <a:r>
              <a:rPr lang="es-ES" dirty="0"/>
              <a:t>Modelo de amenazas por característica nueva.</a:t>
            </a:r>
          </a:p>
          <a:p>
            <a:pPr lvl="1"/>
            <a:r>
              <a:rPr lang="es-ES" dirty="0"/>
              <a:t>Asegurarse de que cada miembro del proyecto esta correctamente formado.</a:t>
            </a:r>
          </a:p>
          <a:p>
            <a:pPr lvl="1"/>
            <a:r>
              <a:rPr lang="es-ES" dirty="0"/>
              <a:t>Asegurarse que solo se utilizan las librerías aprobadas</a:t>
            </a:r>
          </a:p>
          <a:p>
            <a:pPr lvl="1"/>
            <a:r>
              <a:rPr lang="es-ES" dirty="0"/>
              <a:t>Uso de algoritmos criptográficos seguros</a:t>
            </a:r>
          </a:p>
          <a:p>
            <a:pPr lvl="1"/>
            <a:r>
              <a:rPr lang="es-ES" dirty="0"/>
              <a:t>Etc.</a:t>
            </a:r>
          </a:p>
          <a:p>
            <a:pPr lvl="1"/>
            <a:endParaRPr lang="es-ES" dirty="0"/>
          </a:p>
          <a:p>
            <a:pPr lvl="1"/>
            <a:endParaRPr lang="es-ES" dirty="0"/>
          </a:p>
          <a:p>
            <a:pPr lvl="1"/>
            <a:endParaRPr lang="es-ES" dirty="0"/>
          </a:p>
          <a:p>
            <a:pPr marL="0" indent="0">
              <a:buNone/>
            </a:pPr>
            <a:endParaRPr lang="es-ES" dirty="0"/>
          </a:p>
          <a:p>
            <a:pPr lvl="1"/>
            <a:endParaRPr lang="es-ES" dirty="0"/>
          </a:p>
          <a:p>
            <a:pPr lvl="1"/>
            <a:endParaRPr lang="es-ES" dirty="0"/>
          </a:p>
          <a:p>
            <a:pPr lvl="1"/>
            <a:endParaRPr lang="es-ES" dirty="0"/>
          </a:p>
          <a:p>
            <a:endParaRPr lang="es-ES" dirty="0"/>
          </a:p>
          <a:p>
            <a:pPr marL="0" indent="0">
              <a:buFontTx/>
              <a:buNone/>
            </a:pPr>
            <a:endParaRPr lang="es-ES" dirty="0"/>
          </a:p>
        </p:txBody>
      </p:sp>
    </p:spTree>
    <p:extLst>
      <p:ext uri="{BB962C8B-B14F-4D97-AF65-F5344CB8AC3E}">
        <p14:creationId xmlns:p14="http://schemas.microsoft.com/office/powerpoint/2010/main" val="36889867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1600200"/>
            <a:ext cx="9223578" cy="4525963"/>
          </a:xfrm>
        </p:spPr>
        <p:txBody>
          <a:bodyPr>
            <a:normAutofit/>
          </a:bodyPr>
          <a:lstStyle/>
          <a:p>
            <a:endParaRPr lang="es-ES" dirty="0"/>
          </a:p>
          <a:p>
            <a:pPr marL="0" indent="0">
              <a:buNone/>
            </a:pPr>
            <a:endParaRPr lang="es-ES" dirty="0"/>
          </a:p>
        </p:txBody>
      </p:sp>
      <p:sp>
        <p:nvSpPr>
          <p:cNvPr id="3" name="2 Título"/>
          <p:cNvSpPr>
            <a:spLocks noGrp="1"/>
          </p:cNvSpPr>
          <p:nvPr>
            <p:ph type="title"/>
          </p:nvPr>
        </p:nvSpPr>
        <p:spPr/>
        <p:txBody>
          <a:bodyPr/>
          <a:lstStyle/>
          <a:p>
            <a:r>
              <a:rPr lang="es-ES" dirty="0"/>
              <a:t>SDL: Proceso ágil</a:t>
            </a:r>
          </a:p>
        </p:txBody>
      </p:sp>
      <p:sp>
        <p:nvSpPr>
          <p:cNvPr id="7" name="1 Marcador de contenido"/>
          <p:cNvSpPr txBox="1">
            <a:spLocks/>
          </p:cNvSpPr>
          <p:nvPr/>
        </p:nvSpPr>
        <p:spPr>
          <a:xfrm>
            <a:off x="609600" y="1752600"/>
            <a:ext cx="9223578"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Tx/>
              <a:buBlip>
                <a:blip r:embed="rId3"/>
              </a:buBlip>
              <a:defRPr sz="3200" b="1" kern="1200">
                <a:solidFill>
                  <a:schemeClr val="bg1">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dirty="0"/>
              <a:t>Requisitos </a:t>
            </a:r>
            <a:r>
              <a:rPr lang="es-ES" dirty="0" err="1"/>
              <a:t>bucket</a:t>
            </a:r>
            <a:endParaRPr lang="es-ES" dirty="0"/>
          </a:p>
          <a:p>
            <a:pPr lvl="1"/>
            <a:r>
              <a:rPr lang="es-ES" dirty="0"/>
              <a:t>Requisitos que deben realizarse a lo largo de la vida del proyecto, pero que no es necesario realizar en cada sprint</a:t>
            </a:r>
          </a:p>
          <a:p>
            <a:pPr lvl="1"/>
            <a:r>
              <a:rPr lang="es-ES" dirty="0"/>
              <a:t>Validación de las entradas</a:t>
            </a:r>
          </a:p>
          <a:p>
            <a:pPr lvl="1"/>
            <a:r>
              <a:rPr lang="es-ES" dirty="0"/>
              <a:t>Pruebas de </a:t>
            </a:r>
            <a:r>
              <a:rPr lang="es-ES" dirty="0" err="1"/>
              <a:t>fuzzing</a:t>
            </a:r>
            <a:r>
              <a:rPr lang="es-ES" dirty="0"/>
              <a:t> sobre la aplicación</a:t>
            </a:r>
          </a:p>
          <a:p>
            <a:pPr lvl="1"/>
            <a:r>
              <a:rPr lang="es-ES" dirty="0"/>
              <a:t>Revisar el uso de algoritmos criptográficos seguros</a:t>
            </a:r>
          </a:p>
          <a:p>
            <a:pPr lvl="1"/>
            <a:r>
              <a:rPr lang="es-ES" dirty="0"/>
              <a:t>Etc.</a:t>
            </a:r>
          </a:p>
          <a:p>
            <a:pPr lvl="1"/>
            <a:endParaRPr lang="es-ES" dirty="0"/>
          </a:p>
          <a:p>
            <a:pPr lvl="1"/>
            <a:endParaRPr lang="es-ES" dirty="0"/>
          </a:p>
          <a:p>
            <a:pPr lvl="1"/>
            <a:endParaRPr lang="es-ES" dirty="0"/>
          </a:p>
          <a:p>
            <a:pPr marL="0" indent="0">
              <a:buNone/>
            </a:pPr>
            <a:endParaRPr lang="es-ES" dirty="0"/>
          </a:p>
          <a:p>
            <a:pPr lvl="1"/>
            <a:endParaRPr lang="es-ES" dirty="0"/>
          </a:p>
          <a:p>
            <a:pPr lvl="1"/>
            <a:endParaRPr lang="es-ES" dirty="0"/>
          </a:p>
          <a:p>
            <a:pPr lvl="1"/>
            <a:endParaRPr lang="es-ES" dirty="0"/>
          </a:p>
          <a:p>
            <a:endParaRPr lang="es-ES" dirty="0"/>
          </a:p>
          <a:p>
            <a:pPr marL="0" indent="0">
              <a:buFontTx/>
              <a:buNone/>
            </a:pPr>
            <a:endParaRPr lang="es-ES" dirty="0"/>
          </a:p>
        </p:txBody>
      </p:sp>
    </p:spTree>
    <p:extLst>
      <p:ext uri="{BB962C8B-B14F-4D97-AF65-F5344CB8AC3E}">
        <p14:creationId xmlns:p14="http://schemas.microsoft.com/office/powerpoint/2010/main" val="37933047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1600200"/>
            <a:ext cx="9223578" cy="4525963"/>
          </a:xfrm>
        </p:spPr>
        <p:txBody>
          <a:bodyPr>
            <a:normAutofit/>
          </a:bodyPr>
          <a:lstStyle/>
          <a:p>
            <a:endParaRPr lang="es-ES" dirty="0"/>
          </a:p>
          <a:p>
            <a:pPr marL="0" indent="0">
              <a:buNone/>
            </a:pPr>
            <a:endParaRPr lang="es-ES" dirty="0"/>
          </a:p>
        </p:txBody>
      </p:sp>
      <p:sp>
        <p:nvSpPr>
          <p:cNvPr id="3" name="2 Título"/>
          <p:cNvSpPr>
            <a:spLocks noGrp="1"/>
          </p:cNvSpPr>
          <p:nvPr>
            <p:ph type="title"/>
          </p:nvPr>
        </p:nvSpPr>
        <p:spPr/>
        <p:txBody>
          <a:bodyPr/>
          <a:lstStyle/>
          <a:p>
            <a:r>
              <a:rPr lang="es-ES" dirty="0"/>
              <a:t>SDL: Proceso ágil</a:t>
            </a:r>
          </a:p>
        </p:txBody>
      </p:sp>
      <p:sp>
        <p:nvSpPr>
          <p:cNvPr id="7" name="1 Marcador de contenido"/>
          <p:cNvSpPr txBox="1">
            <a:spLocks/>
          </p:cNvSpPr>
          <p:nvPr/>
        </p:nvSpPr>
        <p:spPr>
          <a:xfrm>
            <a:off x="609600" y="1752600"/>
            <a:ext cx="9223578"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Tx/>
              <a:buBlip>
                <a:blip r:embed="rId3"/>
              </a:buBlip>
              <a:defRPr sz="3200" b="1" kern="1200">
                <a:solidFill>
                  <a:schemeClr val="bg1">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dirty="0"/>
              <a:t>Requisitos </a:t>
            </a:r>
            <a:r>
              <a:rPr lang="es-ES" dirty="0" err="1"/>
              <a:t>one</a:t>
            </a:r>
            <a:r>
              <a:rPr lang="es-ES" dirty="0"/>
              <a:t>-time</a:t>
            </a:r>
          </a:p>
          <a:p>
            <a:pPr lvl="1"/>
            <a:r>
              <a:rPr lang="es-ES" dirty="0"/>
              <a:t>Requisitos que se realizan una única vez.</a:t>
            </a:r>
          </a:p>
          <a:p>
            <a:pPr lvl="1"/>
            <a:r>
              <a:rPr lang="es-ES" dirty="0"/>
              <a:t>Trabajo intenso cuando una compañía va a adoptar por primera vez SDL en sus desarrollos</a:t>
            </a:r>
          </a:p>
          <a:p>
            <a:pPr lvl="1"/>
            <a:r>
              <a:rPr lang="es-ES" dirty="0"/>
              <a:t>Identificación de los equipos de trabajo y seguridad</a:t>
            </a:r>
          </a:p>
          <a:p>
            <a:pPr lvl="1"/>
            <a:r>
              <a:rPr lang="es-ES" dirty="0"/>
              <a:t>Establecer el responsable de seguridad</a:t>
            </a:r>
          </a:p>
          <a:p>
            <a:pPr lvl="1"/>
            <a:r>
              <a:rPr lang="es-ES" dirty="0"/>
              <a:t>Base para la generación de los modelos de amenazas</a:t>
            </a:r>
          </a:p>
          <a:p>
            <a:pPr lvl="1"/>
            <a:r>
              <a:rPr lang="es-ES" dirty="0"/>
              <a:t>Etc.</a:t>
            </a:r>
          </a:p>
          <a:p>
            <a:pPr lvl="1"/>
            <a:endParaRPr lang="es-ES" dirty="0"/>
          </a:p>
          <a:p>
            <a:pPr lvl="1"/>
            <a:endParaRPr lang="es-ES" dirty="0"/>
          </a:p>
          <a:p>
            <a:pPr lvl="1"/>
            <a:endParaRPr lang="es-ES" dirty="0"/>
          </a:p>
          <a:p>
            <a:pPr lvl="1"/>
            <a:endParaRPr lang="es-ES" dirty="0"/>
          </a:p>
          <a:p>
            <a:pPr lvl="1"/>
            <a:endParaRPr lang="es-ES" dirty="0"/>
          </a:p>
          <a:p>
            <a:pPr marL="0" indent="0">
              <a:buNone/>
            </a:pPr>
            <a:endParaRPr lang="es-ES" dirty="0"/>
          </a:p>
          <a:p>
            <a:pPr lvl="1"/>
            <a:endParaRPr lang="es-ES" dirty="0"/>
          </a:p>
          <a:p>
            <a:pPr lvl="1"/>
            <a:endParaRPr lang="es-ES" dirty="0"/>
          </a:p>
          <a:p>
            <a:pPr lvl="1"/>
            <a:endParaRPr lang="es-ES" dirty="0"/>
          </a:p>
          <a:p>
            <a:endParaRPr lang="es-ES" dirty="0"/>
          </a:p>
          <a:p>
            <a:pPr marL="0" indent="0">
              <a:buFontTx/>
              <a:buNone/>
            </a:pPr>
            <a:endParaRPr lang="es-ES" dirty="0"/>
          </a:p>
        </p:txBody>
      </p:sp>
    </p:spTree>
    <p:extLst>
      <p:ext uri="{BB962C8B-B14F-4D97-AF65-F5344CB8AC3E}">
        <p14:creationId xmlns:p14="http://schemas.microsoft.com/office/powerpoint/2010/main" val="35418021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1600200"/>
            <a:ext cx="9223578" cy="4525963"/>
          </a:xfrm>
        </p:spPr>
        <p:txBody>
          <a:bodyPr>
            <a:normAutofit/>
          </a:bodyPr>
          <a:lstStyle/>
          <a:p>
            <a:endParaRPr lang="es-ES" dirty="0"/>
          </a:p>
          <a:p>
            <a:pPr marL="0" indent="0">
              <a:buNone/>
            </a:pPr>
            <a:endParaRPr lang="es-ES" dirty="0"/>
          </a:p>
        </p:txBody>
      </p:sp>
      <p:sp>
        <p:nvSpPr>
          <p:cNvPr id="3" name="2 Título"/>
          <p:cNvSpPr>
            <a:spLocks noGrp="1"/>
          </p:cNvSpPr>
          <p:nvPr>
            <p:ph type="title"/>
          </p:nvPr>
        </p:nvSpPr>
        <p:spPr/>
        <p:txBody>
          <a:bodyPr/>
          <a:lstStyle/>
          <a:p>
            <a:r>
              <a:rPr lang="es-ES" dirty="0"/>
              <a:t>SDL: Proceso ágil</a:t>
            </a:r>
          </a:p>
        </p:txBody>
      </p:sp>
      <p:sp>
        <p:nvSpPr>
          <p:cNvPr id="7" name="1 Marcador de contenido"/>
          <p:cNvSpPr txBox="1">
            <a:spLocks/>
          </p:cNvSpPr>
          <p:nvPr/>
        </p:nvSpPr>
        <p:spPr>
          <a:xfrm>
            <a:off x="609600" y="1752600"/>
            <a:ext cx="9223578"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Tx/>
              <a:buBlip>
                <a:blip r:embed="rId3"/>
              </a:buBlip>
              <a:defRPr sz="3200" b="1" kern="1200">
                <a:solidFill>
                  <a:schemeClr val="bg1">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lumMod val="50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dirty="0"/>
              <a:t>Aplicación de tareas SDL al Sprint</a:t>
            </a:r>
          </a:p>
          <a:p>
            <a:pPr lvl="1"/>
            <a:r>
              <a:rPr lang="es-ES" dirty="0"/>
              <a:t>Educación en seguridad.</a:t>
            </a:r>
          </a:p>
          <a:p>
            <a:pPr lvl="1"/>
            <a:r>
              <a:rPr lang="es-ES" dirty="0"/>
              <a:t>Herramientas y automatización</a:t>
            </a:r>
          </a:p>
          <a:p>
            <a:pPr lvl="1"/>
            <a:r>
              <a:rPr lang="es-ES" dirty="0"/>
              <a:t>Modelo de amenazas</a:t>
            </a:r>
          </a:p>
          <a:p>
            <a:pPr lvl="1"/>
            <a:r>
              <a:rPr lang="es-ES" dirty="0"/>
              <a:t>Revisión de código con herramientas especializadas</a:t>
            </a:r>
          </a:p>
          <a:p>
            <a:pPr lvl="1"/>
            <a:r>
              <a:rPr lang="es-ES" dirty="0"/>
              <a:t>Excepciones</a:t>
            </a:r>
          </a:p>
          <a:p>
            <a:pPr lvl="1"/>
            <a:r>
              <a:rPr lang="es-ES" dirty="0"/>
              <a:t>Revisión final de seguridad</a:t>
            </a:r>
          </a:p>
          <a:p>
            <a:pPr lvl="1"/>
            <a:endParaRPr lang="es-ES" dirty="0"/>
          </a:p>
          <a:p>
            <a:pPr lvl="1"/>
            <a:endParaRPr lang="es-ES" dirty="0"/>
          </a:p>
          <a:p>
            <a:pPr lvl="1"/>
            <a:endParaRPr lang="es-ES" dirty="0"/>
          </a:p>
          <a:p>
            <a:pPr lvl="1"/>
            <a:endParaRPr lang="es-ES" dirty="0"/>
          </a:p>
          <a:p>
            <a:pPr lvl="1"/>
            <a:endParaRPr lang="es-ES" dirty="0"/>
          </a:p>
          <a:p>
            <a:pPr marL="0" indent="0">
              <a:buNone/>
            </a:pPr>
            <a:endParaRPr lang="es-ES" dirty="0"/>
          </a:p>
          <a:p>
            <a:pPr lvl="1"/>
            <a:endParaRPr lang="es-ES" dirty="0"/>
          </a:p>
          <a:p>
            <a:pPr lvl="1"/>
            <a:endParaRPr lang="es-ES" dirty="0"/>
          </a:p>
          <a:p>
            <a:pPr lvl="1"/>
            <a:endParaRPr lang="es-ES" dirty="0"/>
          </a:p>
          <a:p>
            <a:endParaRPr lang="es-ES" dirty="0"/>
          </a:p>
          <a:p>
            <a:pPr marL="0" indent="0">
              <a:buFontTx/>
              <a:buNone/>
            </a:pPr>
            <a:endParaRPr lang="es-ES" dirty="0"/>
          </a:p>
        </p:txBody>
      </p:sp>
    </p:spTree>
    <p:extLst>
      <p:ext uri="{BB962C8B-B14F-4D97-AF65-F5344CB8AC3E}">
        <p14:creationId xmlns:p14="http://schemas.microsoft.com/office/powerpoint/2010/main" val="3508499877"/>
      </p:ext>
    </p:extLst>
  </p:cSld>
  <p:clrMapOvr>
    <a:masterClrMapping/>
  </p:clrMapOvr>
</p:sld>
</file>

<file path=ppt/theme/theme1.xml><?xml version="1.0" encoding="utf-8"?>
<a:theme xmlns:a="http://schemas.openxmlformats.org/drawingml/2006/main" name="Sidertia Corporat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 Pentesting Intro</Template>
  <TotalTime>0</TotalTime>
  <Words>3983</Words>
  <Application>Microsoft Office PowerPoint</Application>
  <PresentationFormat>Presentación en pantalla (4:3)</PresentationFormat>
  <Paragraphs>905</Paragraphs>
  <Slides>33</Slides>
  <Notes>26</Notes>
  <HiddenSlides>0</HiddenSlides>
  <MMClips>0</MMClips>
  <ScaleCrop>false</ScaleCrop>
  <HeadingPairs>
    <vt:vector size="8" baseType="variant">
      <vt:variant>
        <vt:lpstr>Fuentes usadas</vt:lpstr>
      </vt:variant>
      <vt:variant>
        <vt:i4>8</vt:i4>
      </vt:variant>
      <vt:variant>
        <vt:lpstr>Tema</vt:lpstr>
      </vt:variant>
      <vt:variant>
        <vt:i4>1</vt:i4>
      </vt:variant>
      <vt:variant>
        <vt:lpstr>Servidores OLE incrustados</vt:lpstr>
      </vt:variant>
      <vt:variant>
        <vt:i4>1</vt:i4>
      </vt:variant>
      <vt:variant>
        <vt:lpstr>Títulos de diapositiva</vt:lpstr>
      </vt:variant>
      <vt:variant>
        <vt:i4>33</vt:i4>
      </vt:variant>
    </vt:vector>
  </HeadingPairs>
  <TitlesOfParts>
    <vt:vector size="43" baseType="lpstr">
      <vt:lpstr>ＭＳ Ｐゴシック</vt:lpstr>
      <vt:lpstr>Arial</vt:lpstr>
      <vt:lpstr>Arial Black</vt:lpstr>
      <vt:lpstr>Calibri</vt:lpstr>
      <vt:lpstr>Segoe UI</vt:lpstr>
      <vt:lpstr>Times New Roman</vt:lpstr>
      <vt:lpstr>Webdings</vt:lpstr>
      <vt:lpstr>Wingdings</vt:lpstr>
      <vt:lpstr>Sidertia Corporate Theme</vt:lpstr>
      <vt:lpstr>Visio</vt:lpstr>
      <vt:lpstr>Seguridad en el SDLC</vt:lpstr>
      <vt:lpstr>SDLC </vt:lpstr>
      <vt:lpstr>SDL</vt:lpstr>
      <vt:lpstr>SDL: Roles, responsabilidades y cualificación del personal</vt:lpstr>
      <vt:lpstr>SDL: Actividades</vt:lpstr>
      <vt:lpstr>SDL: Formación</vt:lpstr>
      <vt:lpstr>SDL: Formación</vt:lpstr>
      <vt:lpstr>SDL: Requisitos</vt:lpstr>
      <vt:lpstr>SDL: Diseño</vt:lpstr>
      <vt:lpstr>SDL: Threat Modeling</vt:lpstr>
      <vt:lpstr>SDL: Threat Modeling</vt:lpstr>
      <vt:lpstr>SDL: Threat Modeling</vt:lpstr>
      <vt:lpstr>SDL: Threat Modeling</vt:lpstr>
      <vt:lpstr>SDL: Threat Modeling</vt:lpstr>
      <vt:lpstr>SDL: Threat Modeling</vt:lpstr>
      <vt:lpstr>SDL: Threat Modeling</vt:lpstr>
      <vt:lpstr>SDL: Threat Modeling</vt:lpstr>
      <vt:lpstr>SDL: Threat Modeling</vt:lpstr>
      <vt:lpstr>SDL: Threat Modeling</vt:lpstr>
      <vt:lpstr>SDL: Implementación</vt:lpstr>
      <vt:lpstr>SDL: Comprobación</vt:lpstr>
      <vt:lpstr>SDL: Lanzamiento</vt:lpstr>
      <vt:lpstr>SDL: Actividades</vt:lpstr>
      <vt:lpstr>SDL: Proceso ágil</vt:lpstr>
      <vt:lpstr>SDL: Proceso ágil</vt:lpstr>
      <vt:lpstr>SDL: Proceso ágil</vt:lpstr>
      <vt:lpstr>Presentación de PowerPoint</vt:lpstr>
      <vt:lpstr>Presentación de PowerPoint</vt:lpstr>
      <vt:lpstr>SDL: Proceso ágil</vt:lpstr>
      <vt:lpstr>SDL: Proceso ágil</vt:lpstr>
      <vt:lpstr>SDL: Proceso ágil</vt:lpstr>
      <vt:lpstr>SDL: Proceso ágil</vt:lpstr>
      <vt:lpstr>SDL: Proceso ágil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2015-09-30T14:45:50Z</dcterms:created>
  <dcterms:modified xsi:type="dcterms:W3CDTF">2017-02-17T13:16:19Z</dcterms:modified>
</cp:coreProperties>
</file>